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Actual time (min)</c:v>
                </c:pt>
              </c:strCache>
            </c:strRef>
          </c:tx>
          <c:spPr>
            <a:solidFill>
              <a:srgbClr val="7B3FE4"/>
            </a:solidFill>
            <a:effectLst/>
          </c:spPr>
          <c:invertIfNegative val="0"/>
          <c:dLbls>
            <c:numFmt formatCode="0.0" sourceLinked="0"/>
            <c:txPr>
              <a:bodyPr/>
              <a:lstStyle/>
              <a:p>
                <a:pPr>
                  <a:defRPr b="0" i="0" strike="noStrike" sz="1300" u="none">
                    <a:solidFill>
                      <a:srgbClr val="1F2328"/>
                    </a:solidFill>
                    <a:latin typeface="Arial"/>
                  </a:defRPr>
                </a:pPr>
              </a:p>
            </c:txPr>
            <c:showLegendKey val="0"/>
            <c:showVal val="1"/>
            <c:showCatName val="0"/>
            <c:showSerName val="0"/>
            <c:showPercent val="0"/>
            <c:showBubbleSize val="0"/>
            <c:showLeaderLines val="0"/>
          </c:dLbls>
          <c:cat>
            <c:multiLvlStrRef>
              <c:f>Sheet1!$A$2:$A$8</c:f>
              <c:multiLvlStrCache>
                <c:ptCount val="7"/>
                <c:lvl>
                  <c:pt idx="0">
                    <c:v>1 Analyze</c:v>
                  </c:pt>
                  <c:pt idx="1">
                    <c:v>2 Design</c:v>
                  </c:pt>
                  <c:pt idx="2">
                    <c:v>3 Build</c:v>
                  </c:pt>
                  <c:pt idx="3">
                    <c:v>4 Test</c:v>
                  </c:pt>
                  <c:pt idx="4">
                    <c:v>5 Review</c:v>
                  </c:pt>
                  <c:pt idx="5">
                    <c:v>6 Deploy</c:v>
                  </c:pt>
                  <c:pt idx="6">
                    <c:v>7 Operate</c:v>
                  </c:pt>
                </c:lvl>
              </c:multiLvlStrCache>
            </c:multiLvlStrRef>
          </c:cat>
          <c:val>
            <c:numRef>
              <c:f>Sheet1!$B$2:$B$8</c:f>
              <c:numCache>
                <c:formatCode>General</c:formatCode>
                <c:ptCount val="7"/>
                <c:pt idx="0">
                  <c:v>2.7</c:v>
                </c:pt>
                <c:pt idx="1">
                  <c:v>3.4</c:v>
                </c:pt>
                <c:pt idx="2">
                  <c:v>7</c:v>
                </c:pt>
                <c:pt idx="3">
                  <c:v>8.2</c:v>
                </c:pt>
                <c:pt idx="4">
                  <c:v>4.1</c:v>
                </c:pt>
                <c:pt idx="5">
                  <c:v>4.2</c:v>
                </c:pt>
                <c:pt idx="6">
                  <c:v>8.4</c:v>
                </c:pt>
              </c:numCache>
            </c:numRef>
          </c:val>
        </c:ser>
        <c:dLbls>
          <c:numFmt formatCode="0.0" sourceLinked="0"/>
          <c:txPr>
            <a:bodyPr/>
            <a:lstStyle/>
            <a:p>
              <a:pPr>
                <a:defRPr b="0" i="0" strike="noStrike" sz="1300" u="none">
                  <a:solidFill>
                    <a:srgbClr val="1F232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I'll show you a fast and safe development and operations workflow, built with GitHub Copilot CLI and Custom Agents. In one sentence: AI works, and people decide.</a:t>
            </a:r>
          </a:p>
          <a:p>
            <a:endParaRPr lang="en-US" dirty="0"/>
          </a:p>
          <a:p>
            <a:r>
              <a:rPr lang="en-US" dirty="0"/>
              <a:t>Here's the idea. The business team submits one change request. Seven stages, from analysis to operations, are then handled one after another by AI teammates with different roles. People approve in only three places, where it really matters. The card on the right boils this whole demo session down to one picture. The seven dots are the seven stages, and the yellow dots are where a person approves.</a:t>
            </a:r>
          </a:p>
          <a:p>
            <a:endParaRPr lang="en-US" dirty="0"/>
          </a:p>
          <a:p>
            <a:r>
              <a:rPr lang="en-US" dirty="0"/>
              <a:t>Every video today is a recording of a real Copilot CLI session. First, let's go over the key points.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things to take away today.</a:t>
            </a:r>
          </a:p>
          <a:p>
            <a:endParaRPr lang="en-US" dirty="0"/>
          </a:p>
          <a:p>
            <a:r>
              <a:rPr lang="en-US" dirty="0"/>
              <a:t>First, fast. We go from requirement to production deployment in a single session. AI teammates with different roles carry out seven stages one after another, and every stage leaves a result document behind.</a:t>
            </a:r>
          </a:p>
          <a:p>
            <a:endParaRPr lang="en-US" dirty="0"/>
          </a:p>
          <a:p>
            <a:r>
              <a:rPr lang="en-US" dirty="0"/>
              <a:t>Second, safe. Permissions are split by role, write access is limited, and the system blocks risky commands. Every tool call is saved in an audit log.</a:t>
            </a:r>
          </a:p>
          <a:p>
            <a:endParaRPr lang="en-US" dirty="0"/>
          </a:p>
          <a:p>
            <a:r>
              <a:rPr lang="en-US" dirty="0"/>
              <a:t>Third, human-led: people decide. Three approvals, for design, code, and production deployment, always come from a person, and nothing moves on without them. Add the three decisions made during design, and people step in six times in all.</a:t>
            </a:r>
          </a:p>
          <a:p>
            <a:endParaRPr lang="en-US" dirty="0"/>
          </a:p>
          <a:p>
            <a:r>
              <a:rPr lang="en-US" dirty="0"/>
              <a:t>We'll go in this order: Copilot at a glance, the demo, then impact, safety, and adoption.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how far Copilot has come. At first, it was autocomplete: as you typed, it suggested the next piece of code. Then came chat, where you could ask questions about your code and repository.</a:t>
            </a:r>
          </a:p>
          <a:p>
            <a:endParaRPr lang="en-US" dirty="0"/>
          </a:p>
          <a:p>
            <a:r>
              <a:rPr lang="en-US" dirty="0"/>
              <a:t>Now we're at the agent stage. It plans, edits files, runs commands, and checks the results, repeating that loop on its own. The stage on the far right is customizable and parallel: specialist agents that carry your organization's rules, working on several jobs at once. In today's demo, we'll look at the customizable part, a team of agents that follow our own rules.</a:t>
            </a:r>
          </a:p>
          <a:p>
            <a:endParaRPr lang="en-US" dirty="0"/>
          </a:p>
          <a:p>
            <a:r>
              <a:rPr lang="en-US" dirty="0"/>
              <a:t>So Copilot is moving from a tool that helps you to a teammate you can hand work to. One thing I want to be clear about: at every stage, a person reviews and approves, and that person stays accountable. That doesn't change today.</a:t>
            </a:r>
          </a:p>
          <a:p>
            <a:endParaRPr lang="en-US" dirty="0"/>
          </a:p>
          <a:p>
            <a:r>
              <a:rPr lang="en-US" dirty="0"/>
              <a:t>※ Source materials: GitHub Docs (docs.github.com/copilot) — About GitHub Copilot · Where to use GitHub Copilot · Copilot CLI · Custom agents · Hooks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that evolution into features and you get six: code suggestions, chat, agents, the cloud agent, code review, and customization. Hand the cloud agent an issue, and it works in the cloud and sends back a pull request. Code review checks a pull request and suggests fixes.</a:t>
            </a:r>
          </a:p>
          <a:p>
            <a:endParaRPr lang="en-US" dirty="0"/>
          </a:p>
          <a:p>
            <a:r>
              <a:rPr lang="en-US" dirty="0"/>
              <a:t>We'll actually use the two with purple borders today: agents and customization. An agent edits files, runs commands, and checks results, over and over on its own. Customization brings in "our way of working" through instructions, custom agents, MCP, skills, and hooks. MCP connects external tools, skills are task playbooks, and hooks are automatic check rules. Hooks are the heart of today's safety story.</a:t>
            </a:r>
          </a:p>
          <a:p>
            <a:endParaRPr lang="en-US" dirty="0"/>
          </a:p>
          <a:p>
            <a:r>
              <a:rPr lang="en-US" dirty="0"/>
              <a:t>※ Source materials: GitHub Docs (docs.github.com/copilot) — About GitHub Copilot · Where to use GitHub Copilot · Copilot CLI · Custom agents · Hooks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 you use these features? Copilot shows up wherever you work. The GitHub Copilot app runs agent tasks in parallel and puts several repositories and pull requests on one screen. And the star of today's show is Copilot CLI, in the terminal. Its strengths are running commands, repeatable workflows, and automation.</a:t>
            </a:r>
          </a:p>
          <a:p>
            <a:endParaRPr lang="en-US" dirty="0"/>
          </a:p>
          <a:p>
            <a:r>
              <a:rPr lang="en-US" dirty="0"/>
              <a:t>In your IDE, such as VS Code, Visual Studio, or JetBrains, you get suggestions, chat, and agents. On GitHub.com, you ask questions in issues and pull requests, and hand work over to an agent. On the move, GitHub Mobile lets you check progress. And with the Copilot SDK, you can build Copilot features into your own services.</a:t>
            </a:r>
          </a:p>
          <a:p>
            <a:endParaRPr lang="en-US" dirty="0"/>
          </a:p>
          <a:p>
            <a:r>
              <a:rPr lang="en-US" dirty="0"/>
              <a:t>Settings like instructions, skills, MCP, and model selection can be shared across these environments. Support varies a little by feature, though.</a:t>
            </a:r>
          </a:p>
          <a:p>
            <a:endParaRPr lang="en-US" dirty="0"/>
          </a:p>
          <a:p>
            <a:r>
              <a:rPr lang="en-US" dirty="0"/>
              <a:t>※ Source: Where to use GitHub Copilot (docs.github.com/copilot/get-started/where-to-use-github-copilot)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more closely at Copilot CLI. It's an AI agent that works in your terminal. Interactive mode is a conversation with the agent. Non-interactive mode, the -p option, runs once from a script or CI. Plan mode gets your approval of the plan before it executes, and Autopilot lets it run on its own when you want that. You can run several tasks at once, hand them off to the cloud, and check on a running session, or respond to it, from the web or mobile.</a:t>
            </a:r>
          </a:p>
          <a:p>
            <a:endParaRPr lang="en-US" dirty="0"/>
          </a:p>
          <a:p>
            <a:r>
              <a:rPr lang="en-US" dirty="0"/>
              <a:t>The part that ties directly into today's story is permission approval. You can allow or deny by command, file, or URL, and by default, risky actions are confirmed with a person first.</a:t>
            </a:r>
          </a:p>
          <a:p>
            <a:endParaRPr lang="en-US" dirty="0"/>
          </a:p>
          <a:p>
            <a:r>
              <a:rPr lang="en-US" dirty="0"/>
              <a:t>Why the terminal? Git, builds, tests, deployment, cloud CLIs, and logs are all there. It's where development and operations meet, so the whole flow from requirements to operations can run in one session. The Copilot app also runs on top of Copilot CLI, by the way. Today we'll launch agents by name, like copilot --agent change-analyst. So how do you create an agent?</a:t>
            </a:r>
          </a:p>
          <a:p>
            <a:endParaRPr lang="en-US" dirty="0"/>
          </a:p>
          <a:p>
            <a:r>
              <a:rPr lang="en-US" dirty="0"/>
              <a:t>※ Source: GitHub Copilot CLI (docs.github.com/copilot/concepts/copilot-surfaces/copilot-cli), GitHub Copilot app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surprise: an AI teammate, a Custom Agent, is just one Markdown file. On the left is a trimmed-down version of the change-analyst file we use today. It has four parts. One, the role: the job the agent takes on. Two, tool permissions: only the tools it needs, which is least privilege. Three, enforcement, meaning a hook. Right before any tool is called, the system checks it and can block it. Four, work instructions: our team's steps, formats, and don'ts.</a:t>
            </a:r>
          </a:p>
          <a:p>
            <a:endParaRPr lang="en-US" dirty="0"/>
          </a:p>
          <a:p>
            <a:r>
              <a:rPr lang="en-US" dirty="0"/>
              <a:t>Keep the file in your personal folder, or put it in the repository's .github/agents folder and the whole team uses it. Put it in an organization repository, and the whole organization gets the same AI teammates. It's reviewed through pull requests like code, so you define it once and everyone works to the same standard.</a:t>
            </a:r>
          </a:p>
          <a:p>
            <a:endParaRPr lang="en-US" dirty="0"/>
          </a:p>
          <a:p>
            <a:r>
              <a:rPr lang="en-US" dirty="0"/>
              <a:t>※ Source materials: GitHub Docs (docs.github.com/copilot) — About GitHub Copilot · Where to use GitHub Copilot · Copilot CLI · Custom agents · Hooks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put these teammates to work. ShopFlow is a fictional online store, and its Customer Experience team has submitted a change request for the order and refund service. It's CR-2026-014, VIP refund policy improvement and stronger control of high-value refunds, with a target go-live date of November 2.</a:t>
            </a:r>
          </a:p>
          <a:p>
            <a:endParaRPr lang="en-US" dirty="0"/>
          </a:p>
          <a:p>
            <a:r>
              <a:rPr lang="en-US" dirty="0"/>
              <a:t>It has four requirements. R1: extend the VIP refund window from 30 days to 60 days, and keep 30 days for standard customers. R2: require a refund reason. R3: hold any refund over ₩1,000,000 until an administrator approves it. R4: update the wording on the customer screen, in the emails, and in the policy document. The business team added one more thing: if the mobile app is affected, tell us in advance. Please remember that.</a:t>
            </a:r>
          </a:p>
          <a:p>
            <a:endParaRPr lang="en-US" dirty="0"/>
          </a:p>
          <a:p>
            <a:r>
              <a:rPr lang="en-US" dirty="0"/>
              <a:t>A word on the demo environment. It's a fictional service built with Python and FastAPI, but the code and sessions are real. In the videos, only the waiting time is sped up; the moments where a person decides or approves play at normal speed. Staging and production are simulated locally.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big map of how that one request flows through. Seven stages, Analysis, Design, Implementation, Testing, Review, Deployment, and Operations, each with its own dedicated agent.</a:t>
            </a:r>
          </a:p>
          <a:p>
            <a:endParaRPr lang="en-US" dirty="0"/>
          </a:p>
          <a:p>
            <a:r>
              <a:rPr lang="en-US" dirty="0"/>
              <a:t>People approve in three places: design approval when the design is finished, code approval when the review is finished, and production deploy approval right before anything goes live. The everyday work in between, like reading, editing, testing, and deploying to staging, the agents handle on their own. Add the three decisions made during design, and people step in six times in total.</a:t>
            </a:r>
          </a:p>
          <a:p>
            <a:endParaRPr lang="en-US" dirty="0"/>
          </a:p>
          <a:p>
            <a:r>
              <a:rPr lang="en-US" dirty="0"/>
              <a:t>Each stage saves its result in the docs/cr folder as a numbered document, 01 through 07, so the business and audit teams can read it as is.</a:t>
            </a:r>
          </a:p>
          <a:p>
            <a:endParaRPr lang="en-US" dirty="0"/>
          </a:p>
          <a:p>
            <a:r>
              <a:rPr lang="en-US" dirty="0"/>
              <a:t>So what permissions does each of these seven agents have? Let's take a look.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seven teammates do and where each may write. Watch the "Where it can write" column. The Change Analyst, Solution Architect, Reviewer, and Ops Analyst can write only to the result-documents folder, so none can modify service code. The Tester writes only tests and result documents. The Developer can write to the app, database, tests, and policy documents, but is blocked until design approval. And the Release Manager's production deployment always goes through an approval pop-up.</a:t>
            </a:r>
          </a:p>
          <a:p>
            <a:endParaRPr lang="en-US" dirty="0"/>
          </a:p>
          <a:p>
            <a:r>
              <a:rPr lang="en-US" dirty="0"/>
              <a:t>Does the AI keep to these limits by itself? No. We're not asking nicely in a prompt. A hook checks right before each tool call and enforces them, as you'll see in the demo.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Apart from permissions, a person must approve in three places.</a:t>
            </a:r>
          </a:p>
          <a:p>
            <a:endParaRPr lang="en-US" dirty="0"/>
          </a:p>
          <a:p>
            <a:r>
              <a:rPr lang="en-US" dirty="0"/>
              <a:t>First, design approval. The approval record is tied to the design document's fingerprint, its hash. If the design changes after approval, the approval is automatically invalidated, and before approval, code changes are blocked.</a:t>
            </a:r>
          </a:p>
          <a:p>
            <a:endParaRPr lang="en-US" dirty="0"/>
          </a:p>
          <a:p>
            <a:r>
              <a:rPr lang="en-US" dirty="0"/>
              <a:t>Second, code approval. A person checks the review and test results, then approves. Only code whose hash matches the approved code can be deployed.</a:t>
            </a:r>
          </a:p>
          <a:p>
            <a:endParaRPr lang="en-US" dirty="0"/>
          </a:p>
          <a:p>
            <a:r>
              <a:rPr lang="en-US" dirty="0"/>
              <a:t>Third, production deploy approval. Right before the command runs, a pop-up appears, and it runs only if a person clicks Yes. Even with auto-approve on, it always appears. On the right is the real pop-up: the person sees what is about to run and why approval is needed, then picks Yes or No.</a:t>
            </a:r>
          </a:p>
          <a:p>
            <a:endParaRPr lang="en-US" dirty="0"/>
          </a:p>
          <a:p>
            <a:r>
              <a:rPr lang="en-US" dirty="0"/>
              <a:t>The one line to remember today: approval is not a request, it's a structure. Even if the AI tries to proceed without approval, the system stops it. Now let's see it on a real screen.</a:t>
            </a:r>
          </a:p>
          <a:p>
            <a:endParaRPr lang="en-US" dirty="0"/>
          </a:p>
          <a:p>
            <a:r>
              <a:rPr lang="en-US" dirty="0"/>
              <a:t>※ Technical basis: Copilot CLI hooks (preToolUse) — permissionDecision: allow | deny | ask (docs.github.com/copilot/reference/hooks-reference)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stage is Analysis. The Change Analyst agent reads the change request, then looks directly into the code, documents, tests, and even the local database to map the impact. It's read-only: it can't change anything except its result document.</a:t>
            </a:r>
          </a:p>
          <a:p>
            <a:endParaRPr lang="en-US" dirty="0"/>
          </a:p>
          <a:p>
            <a:r>
              <a:rPr lang="en-US" dirty="0"/>
              <a:t>A quick note on watching these videos. The bar along the bottom captions what's happening right now. When it turns yellow, a person steps in. Sped-up sections are marked in the top right corner.</a:t>
            </a:r>
          </a:p>
          <a:p>
            <a:endParaRPr lang="en-US" dirty="0"/>
          </a:p>
          <a:p>
            <a:r>
              <a:rPr lang="en-US" dirty="0"/>
              <a:t>▶ Play the video (about 45 sec)</a:t>
            </a:r>
          </a:p>
          <a:p>
            <a:endParaRPr lang="en-US" dirty="0"/>
          </a:p>
          <a:p>
            <a:r>
              <a:rPr lang="en-US" dirty="0"/>
              <a:t>The clip ran 45 seconds, but the real run took 2 minutes 42 seconds, and AI usage was 14.1 credits. One credit is one cent, so that's about 14 cents. Every stage shows elapsed time and usage on the right.</a:t>
            </a:r>
          </a:p>
          <a:p>
            <a:endParaRPr lang="en-US" dirty="0"/>
          </a:p>
          <a:p>
            <a:r>
              <a:rPr lang="en-US" dirty="0"/>
              <a:t>It laid out ten impact areas, each with file and line evidence. In the database, it found three customers with irregular tier labels: "vip" in lowercase, "VIP" with a trailing space, and one with no tier at all. It also caught the mobile app problem the business team asked about: legacy app versions 3.1 to 3.3 send only an amount, so a mandatory reason could make their refund requests fail. And the AI decided nothing itself. It flagged two decisions for a person to make.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is Design. The Solution Architect agent doesn't make the important decisions itself. It asks a person, with a recommendation and pros and cons for each. The two decisions flagged in the last stage become the first two questions: how legacy app versions should handle the refund reason, and how to read the irregular customer tiers. The architect adds a third: how to identify the legacy apps, and when the exception expires. Watch for the yellow bar.</a:t>
            </a:r>
          </a:p>
          <a:p>
            <a:endParaRPr lang="en-US" dirty="0"/>
          </a:p>
          <a:p>
            <a:r>
              <a:rPr lang="en-US" dirty="0"/>
              <a:t>▶ Play the video (about 1 min 29 sec)</a:t>
            </a:r>
          </a:p>
          <a:p>
            <a:endParaRPr lang="en-US" dirty="0"/>
          </a:p>
          <a:p>
            <a:r>
              <a:rPr lang="en-US" dirty="0"/>
              <a:t>On the first question, the AI recommended enforcing the reason from day one and sending legacy app users to the updated web form. But the person in charge typed their own answer: allow legacy app versions 3.1 to 3.3 to omit the reason until December 1, with a warning log. A person made a different call from the AI. That's what "people decide" really looks like. On the other two questions, the person accepted the AI's recommendation: treat "VIP" in any spelling as VIP, and identify the legacy apps by their exact version names with a cutoff at midnight UTC on December 1, accepting that a version name could be faked.</a:t>
            </a:r>
          </a:p>
          <a:p>
            <a:endParaRPr lang="en-US" dirty="0"/>
          </a:p>
          <a:p>
            <a:r>
              <a:rPr lang="en-US" dirty="0"/>
              <a:t>When the design document was done, the design approval pop-up appeared. The person clicked Yes, and the approval record was saved with the document's hash. If the document changes later, the approval is automatically invalidated, and implementation can't start without it. In this stage, the person made three decisions and gave one approval.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is Implementation. Before starting, the Developer agent checks that the design approval record is valid, and it builds only what the approved design says. Without approval, the system blocks code changes, so this stage can start only afterward. I'll show you that block a little later.</a:t>
            </a:r>
          </a:p>
          <a:p>
            <a:endParaRPr lang="en-US" dirty="0"/>
          </a:p>
          <a:p>
            <a:r>
              <a:rPr lang="en-US" dirty="0"/>
              <a:t>▶ Play the video (about 1 min 7 sec)</a:t>
            </a:r>
          </a:p>
          <a:p>
            <a:endParaRPr lang="en-US" dirty="0"/>
          </a:p>
          <a:p>
            <a:r>
              <a:rPr lang="en-US" dirty="0"/>
              <a:t>It created a feature branch, changed the database migration, business rules, API, screen, email wording, and even the policy document, and committed it all. Across eight files in the app and database, 171 lines of code were added. The database change is only a new column that allows empty values, so existing data is preserved and legacy app versions stay compatible. Policy numbers like 30 days, 60 days, and ₩1,000,000 are collected in one place. The Developer ran the 26 existing tests, and they all still pass. But it didn't write the new tests; that's someone else's job. Is it enough for the AI that built the code to check it by itself?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is Testing. Checks by the AI that wrote the code aren't enough, so a separate Tester agent writes its own tests for each requirement and runs them.</a:t>
            </a:r>
          </a:p>
          <a:p>
            <a:endParaRPr lang="en-US" dirty="0"/>
          </a:p>
          <a:p>
            <a:r>
              <a:rPr lang="en-US" dirty="0"/>
              <a:t>▶ Play the video (about 1 min 19 sec)</a:t>
            </a:r>
          </a:p>
          <a:p>
            <a:endParaRPr lang="en-US" dirty="0"/>
          </a:p>
          <a:p>
            <a:r>
              <a:rPr lang="en-US" dirty="0"/>
              <a:t>The Tester added 74 tests, bringing the total to 100. All of them passed, and coverage is 99%. But what matters is what's in them. There's a traceability table showing which test verifies each requirement, R1 through R4. The tests cover boundary values, like day 30 and day 31, day 60 and day 61, and ₩1,000,000, plus the existing tier data and legacy app compatibility. And the Tester can edit only tests and result documents, so it can't touch production code. It only reports defects. So the AI that implements and the AI that verifies have separate permissions.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is Review. The Reviewer agent checks the changes against the design document, the company security checklist, the database change guide, and the coding standards. It hands the deep security check to the built-in security-review agent.</a:t>
            </a:r>
          </a:p>
          <a:p>
            <a:endParaRPr lang="en-US" dirty="0"/>
          </a:p>
          <a:p>
            <a:r>
              <a:rPr lang="en-US" dirty="0"/>
              <a:t>▶ Play the video (about 57 sec)</a:t>
            </a:r>
          </a:p>
          <a:p>
            <a:endParaRPr lang="en-US" dirty="0"/>
          </a:p>
          <a:p>
            <a:r>
              <a:rPr lang="en-US" dirty="0"/>
              <a:t>The result: 0 blockers, 0 major issues, 0 minor issues, and 0 security vulnerabilities. The conclusion was to recommend approval. Watch for one detail in the video: the Reviewer tried to commit its own report, and the hook blocked it, because the Reviewer is read-only. It saved the report, and the Release Manager commits it later. Then the agent requested code approval. The person clicked Yes in the pop-up, and the approval record was saved with the code's hash. Now only code whose hash matches the approved code can be deployed. That's the second approval done.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Sixth is Deployment. The Release Manager agent checks the code approval record, merges into main, and bumps the version to v1.1.0. It writes the release notes for the business team and a release plan that includes the rollback method. It deploys to staging, our pre-production verification environment, by itself and confirms it with a smoke test. But production deployment is different.</a:t>
            </a:r>
          </a:p>
          <a:p>
            <a:endParaRPr lang="en-US" dirty="0"/>
          </a:p>
          <a:p>
            <a:r>
              <a:rPr lang="en-US" dirty="0"/>
              <a:t>▶ Play the video (about 1 min 1 sec)</a:t>
            </a:r>
          </a:p>
          <a:p>
            <a:endParaRPr lang="en-US" dirty="0"/>
          </a:p>
          <a:p>
            <a:r>
              <a:rPr lang="en-US" dirty="0"/>
              <a:t>In staging, all 6 smoke-test checks passed. Then, just as the production deploy command was about to go out, the approval pop-up appeared. It runs only if a person clicks Yes, and the pop-up appears every time, even with auto-approve on. After approval, the deployment script rechecks the code approval record and the staging verification record, backs up the database, and runs the migration, a health check, and the smoke test, which again passed 6 out of 6. The rollback command is ready too. That's the third approval, so all three human approvals are done.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seventh and last stage is Operations. Deploying isn't the end of the story. For the demo, we sent 150 refund requests through production right after deployment. The Ops Analyst agent then analyzes the access logs and production database, read-only, so it can't modify production data.</a:t>
            </a:r>
          </a:p>
          <a:p>
            <a:endParaRPr lang="en-US" dirty="0"/>
          </a:p>
          <a:p>
            <a:r>
              <a:rPr lang="en-US" dirty="0"/>
              <a:t>▶ Play the video (about 1 min 48 sec)</a:t>
            </a:r>
          </a:p>
          <a:p>
            <a:endParaRPr lang="en-US" dirty="0"/>
          </a:p>
          <a:p>
            <a:r>
              <a:rPr lang="en-US" dirty="0"/>
              <a:t>Out of 311 requests, there were 0 server errors. The 150 refund requests split into 80 approved, 25 pending approval, and 45 past the refund period. Those 25 add up to ₩45,000,000. It also found 20 requests from legacy app versions with no refund reason, which supports notifying those users before the exception ends on December 1, and 0 cases of exposed email addresses or phone numbers. One more guardrail moment: the hook blocked one of its database queries because it wasn't clearly read-only, so the report marks those numbers as unverified instead of guessing.</a:t>
            </a:r>
          </a:p>
          <a:p>
            <a:endParaRPr lang="en-US" dirty="0"/>
          </a:p>
          <a:p>
            <a:r>
              <a:rPr lang="en-US" dirty="0"/>
              <a:t>The key part is the "Decisions for the business team" box at the bottom right. Who reviews the high-value refunds and by when, and how to announce the end of the legacy app versions: the AI only suggests these. It doesn't decide. And that's all seven stages.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team will want to know one thing: what changed on the screen? On the left is v1.0.0, before the change, and on the right is v1.1.0, after. We ran both versions for real in the demo environment and captured each screen.</a:t>
            </a:r>
          </a:p>
          <a:p>
            <a:endParaRPr lang="en-US" dirty="0"/>
          </a:p>
          <a:p>
            <a:r>
              <a:rPr lang="en-US" dirty="0"/>
              <a:t>At the top is the customer screen. Seoyun Han, a VIP customer, asks for a refund on an order placed 45 days ago. Before the change, it was rejected because 30 days had passed. After the change, VIPs get 60 days, so once she enters a reason, the request is accepted, and the guidance text matches the new policy. At the bottom is the admin console. Before, even a high-value refund went through without approval. Now a refund over ₩1,000,000 is received as "pending approval," and nothing is refunded until it's approved. All four points of the request show up right there on screen.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if all of this worked only because the AI politely followed the rules, you should be nervous. Normally our agents follow the repository instructions and refuse requests like these. But safety can't rest on the AI's judgment alone. So this time we deliberately used an AI that doesn't know the rules: quick-fixer. It's told to skip the rules and do as it's told, and we turned off the repository instructions too. We gave it three requests: change service code without approval, edit the company security standards document, and run git push, which sends code outside.</a:t>
            </a:r>
          </a:p>
          <a:p>
            <a:endParaRPr lang="en-US" dirty="0"/>
          </a:p>
          <a:p>
            <a:r>
              <a:rPr lang="en-US" dirty="0"/>
              <a:t>▶ Play the video (about 1 min 20 sec)</a:t>
            </a:r>
          </a:p>
          <a:p>
            <a:endParaRPr lang="en-US" dirty="0"/>
          </a:p>
          <a:p>
            <a:r>
              <a:rPr lang="en-US" dirty="0"/>
              <a:t>All three were blocked. The app change, because the design wasn't approved yet. The standards document, because it's a protected path, so even a harmless addition is off limits. And git push, because it's a forbidden command. Notice the bar is red this time, not yellow: the system did the blocking, not a person. Even if the AI doesn't know the rules, judges wrongly, or is simply told to do it, the hook checks right before the tool call and stops it. Safety isn't the AI behaving well. The system guarantees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numbers. From Analysis to Operations, it actually took about 38 minutes. In that time, people did only three decisions and three approvals: six times in all. Tests grew from 26 to 100 tests, all passing, with 99% coverage. AI usage for the whole session was 340 credits, about 3.40 dollars, at one cent per credit. The chart on the right shows each stage's real elapsed time. And seven documents, three approval records, and six commits remain, all auditable.</a:t>
            </a:r>
          </a:p>
          <a:p>
            <a:endParaRPr lang="en-US" dirty="0"/>
          </a:p>
          <a:p>
            <a:r>
              <a:rPr lang="en-US" dirty="0"/>
              <a:t>One honest note. Those 38 minutes don't include the time people spent reviewing, and we deliberately left out any "how many times faster" comparison, because lead times differ from one organization to the next. We recommend measuring it yourselves in a pilot, with the same metrics.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"fast," so now let's talk about "safe." There are six layers of safeguards. First, role-based permissions. Each of the seven agents works only within the scope it is allowed, and in this very run the hook blocked two attempts that went beyond a role: the Reviewer trying to commit, and the Ops Analyst running a database query that wasn't read-only. Second, human approval gates. Three approval pop-ups left three human approval records. Third, blocking risky commands. Things like git push, forced deletion, and admin-privilege commands are blocked, and you just saw git push get blocked.</a:t>
            </a:r>
          </a:p>
          <a:p>
            <a:endParaRPr lang="en-US" dirty="0"/>
          </a:p>
          <a:p>
            <a:r>
              <a:rPr lang="en-US" dirty="0"/>
              <a:t>Fourth, protected paths. Agent settings, hooks, standards documents, and approval records can't be modified, so the AI can't change its own rules. You also saw the standards document edit get blocked. Fifth, the audit log. It recorded 169 tool calls, including the three approval requests and the two blocked actions.</a:t>
            </a:r>
          </a:p>
          <a:p>
            <a:endParaRPr lang="en-US" dirty="0"/>
          </a:p>
          <a:p>
            <a:r>
              <a:rPr lang="en-US" dirty="0"/>
              <a:t>Sixth, organization policy, the one part we haven't shown today. Administrators set allow, ask, and deny rules through managed settings, block the setting that auto-approves every command, and enforce things like an MCP allowlist company-wide. Green marks what we confirmed directly today. And a sandbox, an isolated execution environment, can narrow what's allowed to run even further.</a:t>
            </a:r>
          </a:p>
          <a:p>
            <a:endParaRPr lang="en-US" dirty="0"/>
          </a:p>
          <a:p>
            <a:r>
              <a:rPr lang="en-US" dirty="0"/>
              <a:t>※ Source: Copilot CLI configuration (managed settings), hooks reference, sandbox (docs.github.com/copilot)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for each of you? The same workflow gives each role different value. The business team sees how its requirements were applied, in documents and on screen, and hears about impacts, risks, and decisions in advance. Developers hand repetitive work like analysis, documentation, and testing to the AI and focus on design and judgment, and the agents follow company standards every time.</a:t>
            </a:r>
          </a:p>
          <a:p>
            <a:endParaRPr lang="en-US" dirty="0"/>
          </a:p>
          <a:p>
            <a:r>
              <a:rPr lang="en-US" dirty="0"/>
              <a:t>Security and audit get role-based permissions, blocked risky commands, a record of everything, and tamper protection, because the approved code is the deployed code. Operations get standardized deployment and rollback procedures and log analysis right after deployment, and because it's read-only, production data stays protected.</a:t>
            </a:r>
          </a:p>
          <a:p>
            <a:endParaRPr lang="en-US" dirty="0"/>
          </a:p>
          <a:p>
            <a:r>
              <a:rPr lang="en-US" dirty="0"/>
              <a:t>In one line: transparency for business, focus for developers, control for security, and standards for operations.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get started? Our suggestion is pilot, then standardize, then scale. We don't go company-wide from day one.</a:t>
            </a:r>
          </a:p>
          <a:p>
            <a:endParaRPr lang="en-US" dirty="0"/>
          </a:p>
          <a:p>
            <a:r>
              <a:rPr lang="en-US" dirty="0"/>
              <a:t>First, a pilot of two to four weeks. Take one or two low-risk change requests from a single team, and start with just three agents: the Change Analyst, the Developer, and the Reviewer. Define success criteria up front, like lead time and rework.</a:t>
            </a:r>
          </a:p>
          <a:p>
            <a:endParaRPr lang="en-US" dirty="0"/>
          </a:p>
          <a:p>
            <a:r>
              <a:rPr lang="en-US" dirty="0"/>
              <a:t>If you see results, standardize over four to eight weeks. Organize agents and instructions in the repository, apply permissions and approval gates with hooks, and set approval and blocking rules in organization policy.</a:t>
            </a:r>
          </a:p>
          <a:p>
            <a:endParaRPr lang="en-US" dirty="0"/>
          </a:p>
          <a:p>
            <a:r>
              <a:rPr lang="en-US" dirty="0"/>
              <a:t>Then scale, quarter by quarter. Distribute agents company-wide from a shared organization repository, connect with deployment approvals and automation in GitHub Environments and Actions, and expand to the cloud agent and parallel work.</a:t>
            </a:r>
          </a:p>
          <a:p>
            <a:endParaRPr lang="en-US" dirty="0"/>
          </a:p>
          <a:p>
            <a:r>
              <a:rPr lang="en-US" dirty="0"/>
              <a:t>Track lead time, rework rate, defect leakage, approval wait time, and AI credit usage. The time frames are only a starting suggestion, so adjust them to your organization's size and policies.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wrap up. Getting started is simple. Install it with one line, using npm, brew, or winget, whichever you prefer. Start an interactive session with copilot, choose an agent with /agent, and run it in one shot with copilot -p. You can reproduce today's whole flow exactly, using the README script in the demo repository, shopflow-orders.</a:t>
            </a:r>
          </a:p>
          <a:p>
            <a:endParaRPr lang="en-US" dirty="0"/>
          </a:p>
          <a:p>
            <a:r>
              <a:rPr lang="en-US" dirty="0"/>
              <a:t>As a next step, we'd like to propose a pilot with one change request from your own environment. We start with just three agents and the approval gates, and we review the results and the metrics together.</a:t>
            </a:r>
          </a:p>
          <a:p>
            <a:endParaRPr lang="en-US" dirty="0"/>
          </a:p>
          <a:p>
            <a:r>
              <a:rPr lang="en-US" dirty="0"/>
              <a:t>Please remember one sentence from today. AI works, people decide. Fast, safe, and with people making the decisions. I'm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video" Target="../media/media-17-1.mp4"/><Relationship Id="rId2" Type="http://schemas.microsoft.com/office/2007/relationships/media" Target="../media/media-17-1.mp4"/><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video" Target="../media/media-18-1.mp4"/><Relationship Id="rId2" Type="http://schemas.microsoft.com/office/2007/relationships/media" Target="../media/media-18-1.mp4"/><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video" Target="../media/media-20-1.mp4"/><Relationship Id="rId2" Type="http://schemas.microsoft.com/office/2007/relationships/media" Target="../media/media-20-1.mp4"/><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960120"/>
            <a:ext cx="6766560" cy="320040"/>
          </a:xfrm>
          <a:prstGeom prst="rect">
            <a:avLst/>
          </a:prstGeom>
          <a:noFill/>
          <a:ln/>
        </p:spPr>
        <p:txBody>
          <a:bodyPr wrap="square" lIns="0" tIns="0" rIns="0" bIns="0" rtlCol="0" anchor="t"/>
          <a:lstStyle/>
          <a:p>
            <a:pPr indent="0" marL="0">
              <a:buNone/>
            </a:pPr>
            <a:r>
              <a:rPr lang="en-US" sz="1500" b="1" spc="100" kern="0" dirty="0">
                <a:solidFill>
                  <a:srgbClr val="A371F7"/>
                </a:solidFill>
                <a:latin typeface="Arial" pitchFamily="34" charset="0"/>
                <a:ea typeface="Arial" pitchFamily="34" charset="-122"/>
                <a:cs typeface="Arial" pitchFamily="34" charset="-120"/>
              </a:rPr>
              <a:t>Enterprise development &amp; operations workflow demo</a:t>
            </a:r>
            <a:endParaRPr lang="en-US" sz="1500" dirty="0"/>
          </a:p>
        </p:txBody>
      </p:sp>
      <p:sp>
        <p:nvSpPr>
          <p:cNvPr id="3" name="Text 1"/>
          <p:cNvSpPr/>
          <p:nvPr/>
        </p:nvSpPr>
        <p:spPr>
          <a:xfrm>
            <a:off x="731520" y="1463040"/>
            <a:ext cx="6858000" cy="2926080"/>
          </a:xfrm>
          <a:prstGeom prst="rect">
            <a:avLst/>
          </a:prstGeom>
          <a:noFill/>
          <a:ln/>
        </p:spPr>
        <p:txBody>
          <a:bodyPr wrap="square" lIns="0" tIns="0" rIns="0" bIns="0" rtlCol="0" anchor="t"/>
          <a:lstStyle/>
          <a:p>
            <a:pPr indent="0" marL="0">
              <a:lnSpc>
                <a:spcPct val="105000"/>
              </a:lnSpc>
              <a:buNone/>
            </a:pPr>
            <a:r>
              <a:rPr lang="en-US" sz="4400" b="1" dirty="0">
                <a:solidFill>
                  <a:srgbClr val="FFFFFF"/>
                </a:solidFill>
                <a:latin typeface="Arial" pitchFamily="34" charset="0"/>
                <a:ea typeface="Arial" pitchFamily="34" charset="-122"/>
                <a:cs typeface="Arial" pitchFamily="34" charset="-120"/>
              </a:rPr>
              <a:t>From request to release,</a:t>
            </a:r>
            <a:endParaRPr lang="en-US" sz="4400" dirty="0"/>
          </a:p>
          <a:p>
            <a:pPr indent="0" marL="0">
              <a:lnSpc>
                <a:spcPct val="105000"/>
              </a:lnSpc>
              <a:buNone/>
            </a:pPr>
            <a:r>
              <a:rPr lang="en-US" sz="4400" b="1" dirty="0">
                <a:solidFill>
                  <a:srgbClr val="FFFFFF"/>
                </a:solidFill>
                <a:latin typeface="Arial" pitchFamily="34" charset="0"/>
                <a:ea typeface="Arial" pitchFamily="34" charset="-122"/>
                <a:cs typeface="Arial" pitchFamily="34" charset="-120"/>
              </a:rPr>
              <a:t>AI works.</a:t>
            </a:r>
            <a:endParaRPr lang="en-US" sz="4400" dirty="0"/>
          </a:p>
          <a:p>
            <a:pPr indent="0" marL="0">
              <a:lnSpc>
                <a:spcPct val="105000"/>
              </a:lnSpc>
              <a:buNone/>
            </a:pPr>
            <a:r>
              <a:rPr lang="en-US" sz="4400" b="1" dirty="0">
                <a:solidFill>
                  <a:srgbClr val="FFFFFF"/>
                </a:solidFill>
                <a:latin typeface="Arial" pitchFamily="34" charset="0"/>
                <a:ea typeface="Arial" pitchFamily="34" charset="-122"/>
                <a:cs typeface="Arial" pitchFamily="34" charset="-120"/>
              </a:rPr>
              <a:t>People decide.</a:t>
            </a:r>
            <a:endParaRPr lang="en-US" sz="4400" dirty="0"/>
          </a:p>
        </p:txBody>
      </p:sp>
      <p:sp>
        <p:nvSpPr>
          <p:cNvPr id="4" name="Text 2"/>
          <p:cNvSpPr/>
          <p:nvPr/>
        </p:nvSpPr>
        <p:spPr>
          <a:xfrm>
            <a:off x="731520" y="4526280"/>
            <a:ext cx="6858000" cy="822960"/>
          </a:xfrm>
          <a:prstGeom prst="rect">
            <a:avLst/>
          </a:prstGeom>
          <a:noFill/>
          <a:ln/>
        </p:spPr>
        <p:txBody>
          <a:bodyPr wrap="square" lIns="0" tIns="0" rIns="0" bIns="0" rtlCol="0" anchor="t"/>
          <a:lstStyle/>
          <a:p>
            <a:pPr indent="0" marL="0">
              <a:lnSpc>
                <a:spcPct val="115000"/>
              </a:lnSpc>
              <a:buNone/>
            </a:pPr>
            <a:r>
              <a:rPr lang="en-US" sz="2000" dirty="0">
                <a:solidFill>
                  <a:srgbClr val="C9D1D9"/>
                </a:solidFill>
                <a:latin typeface="Arial" pitchFamily="34" charset="0"/>
                <a:ea typeface="Arial" pitchFamily="34" charset="-122"/>
                <a:cs typeface="Arial" pitchFamily="34" charset="-120"/>
              </a:rPr>
              <a:t>Fast, safe development and operations workflows</a:t>
            </a:r>
            <a:endParaRPr lang="en-US" sz="2000" dirty="0"/>
          </a:p>
          <a:p>
            <a:pPr indent="0" marL="0">
              <a:lnSpc>
                <a:spcPct val="115000"/>
              </a:lnSpc>
              <a:buNone/>
            </a:pPr>
            <a:r>
              <a:rPr lang="en-US" sz="2000" dirty="0">
                <a:solidFill>
                  <a:srgbClr val="C9D1D9"/>
                </a:solidFill>
                <a:latin typeface="Arial" pitchFamily="34" charset="0"/>
                <a:ea typeface="Arial" pitchFamily="34" charset="-122"/>
                <a:cs typeface="Arial" pitchFamily="34" charset="-120"/>
              </a:rPr>
              <a:t>built with GitHub Copilot CLI × Custom Agent</a:t>
            </a:r>
            <a:endParaRPr lang="en-US" sz="2000" dirty="0"/>
          </a:p>
        </p:txBody>
      </p:sp>
      <p:sp>
        <p:nvSpPr>
          <p:cNvPr id="5" name="Text 3"/>
          <p:cNvSpPr/>
          <p:nvPr/>
        </p:nvSpPr>
        <p:spPr>
          <a:xfrm>
            <a:off x="731520" y="5989320"/>
            <a:ext cx="6858000" cy="274320"/>
          </a:xfrm>
          <a:prstGeom prst="rect">
            <a:avLst/>
          </a:prstGeom>
          <a:noFill/>
          <a:ln/>
        </p:spPr>
        <p:txBody>
          <a:bodyPr wrap="square" lIns="0" tIns="0" rIns="0" bIns="0" rtlCol="0" anchor="t"/>
          <a:lstStyle/>
          <a:p>
            <a:pPr indent="0" marL="0">
              <a:buNone/>
            </a:pPr>
            <a:r>
              <a:rPr lang="en-US" sz="1500" dirty="0">
                <a:solidFill>
                  <a:srgbClr val="A8B1BB"/>
                </a:solidFill>
                <a:latin typeface="Arial" pitchFamily="34" charset="0"/>
                <a:ea typeface="Arial" pitchFamily="34" charset="-122"/>
                <a:cs typeface="Arial" pitchFamily="34" charset="-120"/>
              </a:rPr>
              <a:t>Oct 2026  ·  Demo recorded from a real Copilot CLI session</a:t>
            </a:r>
            <a:endParaRPr lang="en-US" sz="1500" dirty="0"/>
          </a:p>
        </p:txBody>
      </p:sp>
      <p:sp>
        <p:nvSpPr>
          <p:cNvPr id="6" name="Shape 4"/>
          <p:cNvSpPr/>
          <p:nvPr/>
        </p:nvSpPr>
        <p:spPr>
          <a:xfrm>
            <a:off x="7818120" y="1051560"/>
            <a:ext cx="3840480" cy="3429000"/>
          </a:xfrm>
          <a:prstGeom prst="roundRect">
            <a:avLst>
              <a:gd name="adj" fmla="val 4800"/>
            </a:avLst>
          </a:prstGeom>
          <a:solidFill>
            <a:srgbClr val="161B22"/>
          </a:solidFill>
          <a:ln w="12700">
            <a:solidFill>
              <a:srgbClr val="30363D"/>
            </a:solidFill>
            <a:prstDash val="solid"/>
          </a:ln>
        </p:spPr>
      </p:sp>
      <p:sp>
        <p:nvSpPr>
          <p:cNvPr id="7" name="Shape 5"/>
          <p:cNvSpPr/>
          <p:nvPr/>
        </p:nvSpPr>
        <p:spPr>
          <a:xfrm>
            <a:off x="8046720" y="1252728"/>
            <a:ext cx="128016" cy="128016"/>
          </a:xfrm>
          <a:prstGeom prst="ellipse">
            <a:avLst/>
          </a:prstGeom>
          <a:solidFill>
            <a:srgbClr val="FF5F56"/>
          </a:solidFill>
          <a:ln/>
        </p:spPr>
      </p:sp>
      <p:sp>
        <p:nvSpPr>
          <p:cNvPr id="8" name="Shape 6"/>
          <p:cNvSpPr/>
          <p:nvPr/>
        </p:nvSpPr>
        <p:spPr>
          <a:xfrm>
            <a:off x="8266176" y="1252728"/>
            <a:ext cx="128016" cy="128016"/>
          </a:xfrm>
          <a:prstGeom prst="ellipse">
            <a:avLst/>
          </a:prstGeom>
          <a:solidFill>
            <a:srgbClr val="FFBD2E"/>
          </a:solidFill>
          <a:ln/>
        </p:spPr>
      </p:sp>
      <p:sp>
        <p:nvSpPr>
          <p:cNvPr id="9" name="Shape 7"/>
          <p:cNvSpPr/>
          <p:nvPr/>
        </p:nvSpPr>
        <p:spPr>
          <a:xfrm>
            <a:off x="8485632" y="1252728"/>
            <a:ext cx="128016" cy="128016"/>
          </a:xfrm>
          <a:prstGeom prst="ellipse">
            <a:avLst/>
          </a:prstGeom>
          <a:solidFill>
            <a:srgbClr val="27C93F"/>
          </a:solidFill>
          <a:ln/>
        </p:spPr>
      </p:sp>
      <p:sp>
        <p:nvSpPr>
          <p:cNvPr id="10" name="Text 8"/>
          <p:cNvSpPr/>
          <p:nvPr/>
        </p:nvSpPr>
        <p:spPr>
          <a:xfrm>
            <a:off x="8046720" y="1645920"/>
            <a:ext cx="3566160" cy="3291840"/>
          </a:xfrm>
          <a:prstGeom prst="rect">
            <a:avLst/>
          </a:prstGeom>
          <a:noFill/>
          <a:ln/>
        </p:spPr>
        <p:txBody>
          <a:bodyPr wrap="square" lIns="0" tIns="0" rIns="0" bIns="0" rtlCol="0" anchor="t"/>
          <a:lstStyle/>
          <a:p>
            <a:pPr indent="0" marL="0">
              <a:spcAft>
                <a:spcPts val="700"/>
              </a:spcAft>
              <a:buNone/>
            </a:pPr>
            <a:r>
              <a:rPr lang="en-US" sz="1300" dirty="0">
                <a:solidFill>
                  <a:srgbClr val="8B949E"/>
                </a:solidFill>
                <a:latin typeface="Consolas" pitchFamily="34" charset="0"/>
                <a:ea typeface="Consolas" pitchFamily="34" charset="-122"/>
                <a:cs typeface="Consolas" pitchFamily="34" charset="-120"/>
              </a:rPr>
              <a:t>$ </a:t>
            </a:r>
            <a:pPr indent="0" marL="0">
              <a:spcAft>
                <a:spcPts val="700"/>
              </a:spcAft>
              <a:buNone/>
            </a:pPr>
            <a:r>
              <a:rPr lang="en-US" sz="1300" b="1" dirty="0">
                <a:solidFill>
                  <a:srgbClr val="FFFFFF"/>
                </a:solidFill>
                <a:latin typeface="Consolas" pitchFamily="34" charset="0"/>
                <a:ea typeface="Consolas" pitchFamily="34" charset="-122"/>
                <a:cs typeface="Consolas" pitchFamily="34" charset="-120"/>
              </a:rPr>
              <a:t>copilot</a:t>
            </a:r>
            <a:endParaRPr lang="en-US" sz="1300" dirty="0"/>
          </a:p>
          <a:p>
            <a:pPr indent="0" marL="0">
              <a:spcAft>
                <a:spcPts val="700"/>
              </a:spcAft>
              <a:buNone/>
            </a:pPr>
            <a:r>
              <a:rPr lang="en-US" sz="1300" dirty="0">
                <a:solidFill>
                  <a:srgbClr val="A371F7"/>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FFFFFF"/>
                </a:solidFill>
                <a:latin typeface="Consolas" pitchFamily="34" charset="0"/>
                <a:ea typeface="Consolas" pitchFamily="34" charset="-122"/>
                <a:cs typeface="Consolas" pitchFamily="34" charset="-120"/>
              </a:rPr>
              <a:t>/agent change-analyst</a:t>
            </a:r>
            <a:endParaRPr lang="en-US" sz="1300" dirty="0"/>
          </a:p>
          <a:p>
            <a:pPr indent="0" marL="0">
              <a:spcAft>
                <a:spcPts val="700"/>
              </a:spcAft>
              <a:buNone/>
            </a:pPr>
            <a:r>
              <a:rPr lang="en-US" sz="1300" dirty="0">
                <a:solidFill>
                  <a:srgbClr val="A371F7"/>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FFFFFF"/>
                </a:solidFill>
                <a:latin typeface="Consolas" pitchFamily="34" charset="0"/>
                <a:ea typeface="Consolas" pitchFamily="34" charset="-122"/>
                <a:cs typeface="Consolas" pitchFamily="34" charset="-120"/>
              </a:rPr>
              <a:t>Analyze the impact of CR-2026-014</a:t>
            </a:r>
            <a:endParaRPr lang="en-US" sz="1300" dirty="0"/>
          </a:p>
          <a:p>
            <a:pPr indent="0" marL="0">
              <a:spcAft>
                <a:spcPts val="700"/>
              </a:spcAft>
              <a:buNone/>
            </a:pPr>
            <a:r>
              <a:rPr lang="en-US" sz="1300" dirty="0">
                <a:solidFill>
                  <a:srgbClr val="58A6FF"/>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C9D1D9"/>
                </a:solidFill>
                <a:latin typeface="Consolas" pitchFamily="34" charset="0"/>
                <a:ea typeface="Consolas" pitchFamily="34" charset="-122"/>
                <a:cs typeface="Consolas" pitchFamily="34" charset="-120"/>
              </a:rPr>
              <a:t>10 impact areas · 3 data anomalies</a:t>
            </a:r>
            <a:endParaRPr lang="en-US" sz="1300" dirty="0"/>
          </a:p>
          <a:p>
            <a:pPr indent="0" marL="0">
              <a:spcAft>
                <a:spcPts val="700"/>
              </a:spcAft>
              <a:buNone/>
            </a:pPr>
            <a:r>
              <a:rPr lang="en-US" sz="1300" dirty="0">
                <a:solidFill>
                  <a:srgbClr val="A371F7"/>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FFFFFF"/>
                </a:solidFill>
                <a:latin typeface="Consolas" pitchFamily="34" charset="0"/>
                <a:ea typeface="Consolas" pitchFamily="34" charset="-122"/>
                <a:cs typeface="Consolas" pitchFamily="34" charset="-120"/>
              </a:rPr>
              <a:t>/agent solution-architect</a:t>
            </a:r>
            <a:endParaRPr lang="en-US" sz="1300" dirty="0"/>
          </a:p>
          <a:p>
            <a:pPr indent="0" marL="0">
              <a:spcAft>
                <a:spcPts val="700"/>
              </a:spcAft>
              <a:buNone/>
            </a:pPr>
            <a:r>
              <a:rPr lang="en-US" sz="1300" b="1" dirty="0">
                <a:solidFill>
                  <a:srgbClr val="F0B429"/>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F0B429"/>
                </a:solidFill>
                <a:latin typeface="Consolas" pitchFamily="34" charset="0"/>
                <a:ea typeface="Consolas" pitchFamily="34" charset="-122"/>
                <a:cs typeface="Consolas" pitchFamily="34" charset="-120"/>
              </a:rPr>
              <a:t>You decide (recommended · custom)</a:t>
            </a:r>
            <a:endParaRPr lang="en-US" sz="1300" dirty="0"/>
          </a:p>
          <a:p>
            <a:pPr indent="0" marL="0">
              <a:spcAft>
                <a:spcPts val="700"/>
              </a:spcAft>
              <a:buNone/>
            </a:pPr>
            <a:r>
              <a:rPr lang="en-US" sz="1300" dirty="0">
                <a:solidFill>
                  <a:srgbClr val="3FB950"/>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C9D1D9"/>
                </a:solidFill>
                <a:latin typeface="Consolas" pitchFamily="34" charset="0"/>
                <a:ea typeface="Consolas" pitchFamily="34" charset="-122"/>
                <a:cs typeface="Consolas" pitchFamily="34" charset="-120"/>
              </a:rPr>
              <a:t>① Design approval recorded</a:t>
            </a:r>
            <a:endParaRPr lang="en-US" sz="1300" dirty="0"/>
          </a:p>
        </p:txBody>
      </p:sp>
      <p:sp>
        <p:nvSpPr>
          <p:cNvPr id="11" name="Shape 9"/>
          <p:cNvSpPr/>
          <p:nvPr/>
        </p:nvSpPr>
        <p:spPr>
          <a:xfrm>
            <a:off x="7863840" y="5138928"/>
            <a:ext cx="256032" cy="256032"/>
          </a:xfrm>
          <a:prstGeom prst="ellipse">
            <a:avLst/>
          </a:prstGeom>
          <a:solidFill>
            <a:srgbClr val="A371F7"/>
          </a:solidFill>
          <a:ln/>
        </p:spPr>
      </p:sp>
      <p:sp>
        <p:nvSpPr>
          <p:cNvPr id="12" name="Text 10"/>
          <p:cNvSpPr/>
          <p:nvPr/>
        </p:nvSpPr>
        <p:spPr>
          <a:xfrm>
            <a:off x="772668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rial" pitchFamily="34" charset="0"/>
                <a:ea typeface="Arial" pitchFamily="34" charset="-122"/>
                <a:cs typeface="Arial" pitchFamily="34" charset="-120"/>
              </a:rPr>
              <a:t>Analyze</a:t>
            </a:r>
            <a:endParaRPr lang="en-US" sz="1100" dirty="0"/>
          </a:p>
        </p:txBody>
      </p:sp>
      <p:sp>
        <p:nvSpPr>
          <p:cNvPr id="13" name="Shape 11"/>
          <p:cNvSpPr/>
          <p:nvPr/>
        </p:nvSpPr>
        <p:spPr>
          <a:xfrm>
            <a:off x="8412480" y="5138928"/>
            <a:ext cx="256032" cy="256032"/>
          </a:xfrm>
          <a:prstGeom prst="ellipse">
            <a:avLst/>
          </a:prstGeom>
          <a:solidFill>
            <a:srgbClr val="F0B429"/>
          </a:solidFill>
          <a:ln/>
        </p:spPr>
      </p:sp>
      <p:sp>
        <p:nvSpPr>
          <p:cNvPr id="14" name="Text 12"/>
          <p:cNvSpPr/>
          <p:nvPr/>
        </p:nvSpPr>
        <p:spPr>
          <a:xfrm>
            <a:off x="827532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rial" pitchFamily="34" charset="0"/>
                <a:ea typeface="Arial" pitchFamily="34" charset="-122"/>
                <a:cs typeface="Arial" pitchFamily="34" charset="-120"/>
              </a:rPr>
              <a:t>Design</a:t>
            </a:r>
            <a:endParaRPr lang="en-US" sz="1100" dirty="0"/>
          </a:p>
        </p:txBody>
      </p:sp>
      <p:sp>
        <p:nvSpPr>
          <p:cNvPr id="15" name="Shape 13"/>
          <p:cNvSpPr/>
          <p:nvPr/>
        </p:nvSpPr>
        <p:spPr>
          <a:xfrm>
            <a:off x="8961120" y="5138928"/>
            <a:ext cx="256032" cy="256032"/>
          </a:xfrm>
          <a:prstGeom prst="ellipse">
            <a:avLst/>
          </a:prstGeom>
          <a:solidFill>
            <a:srgbClr val="A371F7"/>
          </a:solidFill>
          <a:ln/>
        </p:spPr>
      </p:sp>
      <p:sp>
        <p:nvSpPr>
          <p:cNvPr id="16" name="Text 14"/>
          <p:cNvSpPr/>
          <p:nvPr/>
        </p:nvSpPr>
        <p:spPr>
          <a:xfrm>
            <a:off x="882396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rial" pitchFamily="34" charset="0"/>
                <a:ea typeface="Arial" pitchFamily="34" charset="-122"/>
                <a:cs typeface="Arial" pitchFamily="34" charset="-120"/>
              </a:rPr>
              <a:t>Build</a:t>
            </a:r>
            <a:endParaRPr lang="en-US" sz="1100" dirty="0"/>
          </a:p>
        </p:txBody>
      </p:sp>
      <p:sp>
        <p:nvSpPr>
          <p:cNvPr id="17" name="Shape 15"/>
          <p:cNvSpPr/>
          <p:nvPr/>
        </p:nvSpPr>
        <p:spPr>
          <a:xfrm>
            <a:off x="9509760" y="5138928"/>
            <a:ext cx="256032" cy="256032"/>
          </a:xfrm>
          <a:prstGeom prst="ellipse">
            <a:avLst/>
          </a:prstGeom>
          <a:solidFill>
            <a:srgbClr val="A371F7"/>
          </a:solidFill>
          <a:ln/>
        </p:spPr>
      </p:sp>
      <p:sp>
        <p:nvSpPr>
          <p:cNvPr id="18" name="Text 16"/>
          <p:cNvSpPr/>
          <p:nvPr/>
        </p:nvSpPr>
        <p:spPr>
          <a:xfrm>
            <a:off x="937260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rial" pitchFamily="34" charset="0"/>
                <a:ea typeface="Arial" pitchFamily="34" charset="-122"/>
                <a:cs typeface="Arial" pitchFamily="34" charset="-120"/>
              </a:rPr>
              <a:t>Test</a:t>
            </a:r>
            <a:endParaRPr lang="en-US" sz="1100" dirty="0"/>
          </a:p>
        </p:txBody>
      </p:sp>
      <p:sp>
        <p:nvSpPr>
          <p:cNvPr id="19" name="Shape 17"/>
          <p:cNvSpPr/>
          <p:nvPr/>
        </p:nvSpPr>
        <p:spPr>
          <a:xfrm>
            <a:off x="10058400" y="5138928"/>
            <a:ext cx="256032" cy="256032"/>
          </a:xfrm>
          <a:prstGeom prst="ellipse">
            <a:avLst/>
          </a:prstGeom>
          <a:solidFill>
            <a:srgbClr val="F0B429"/>
          </a:solidFill>
          <a:ln/>
        </p:spPr>
      </p:sp>
      <p:sp>
        <p:nvSpPr>
          <p:cNvPr id="20" name="Text 18"/>
          <p:cNvSpPr/>
          <p:nvPr/>
        </p:nvSpPr>
        <p:spPr>
          <a:xfrm>
            <a:off x="992124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rial" pitchFamily="34" charset="0"/>
                <a:ea typeface="Arial" pitchFamily="34" charset="-122"/>
                <a:cs typeface="Arial" pitchFamily="34" charset="-120"/>
              </a:rPr>
              <a:t>Review</a:t>
            </a:r>
            <a:endParaRPr lang="en-US" sz="1100" dirty="0"/>
          </a:p>
        </p:txBody>
      </p:sp>
      <p:sp>
        <p:nvSpPr>
          <p:cNvPr id="21" name="Shape 19"/>
          <p:cNvSpPr/>
          <p:nvPr/>
        </p:nvSpPr>
        <p:spPr>
          <a:xfrm>
            <a:off x="10607040" y="5138928"/>
            <a:ext cx="256032" cy="256032"/>
          </a:xfrm>
          <a:prstGeom prst="ellipse">
            <a:avLst/>
          </a:prstGeom>
          <a:solidFill>
            <a:srgbClr val="F0B429"/>
          </a:solidFill>
          <a:ln/>
        </p:spPr>
      </p:sp>
      <p:sp>
        <p:nvSpPr>
          <p:cNvPr id="22" name="Text 20"/>
          <p:cNvSpPr/>
          <p:nvPr/>
        </p:nvSpPr>
        <p:spPr>
          <a:xfrm>
            <a:off x="1046988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rial" pitchFamily="34" charset="0"/>
                <a:ea typeface="Arial" pitchFamily="34" charset="-122"/>
                <a:cs typeface="Arial" pitchFamily="34" charset="-120"/>
              </a:rPr>
              <a:t>Deploy</a:t>
            </a:r>
            <a:endParaRPr lang="en-US" sz="1100" dirty="0"/>
          </a:p>
        </p:txBody>
      </p:sp>
      <p:sp>
        <p:nvSpPr>
          <p:cNvPr id="23" name="Shape 21"/>
          <p:cNvSpPr/>
          <p:nvPr/>
        </p:nvSpPr>
        <p:spPr>
          <a:xfrm>
            <a:off x="11155680" y="5138928"/>
            <a:ext cx="256032" cy="256032"/>
          </a:xfrm>
          <a:prstGeom prst="ellipse">
            <a:avLst/>
          </a:prstGeom>
          <a:solidFill>
            <a:srgbClr val="A371F7"/>
          </a:solidFill>
          <a:ln/>
        </p:spPr>
      </p:sp>
      <p:sp>
        <p:nvSpPr>
          <p:cNvPr id="24" name="Text 22"/>
          <p:cNvSpPr/>
          <p:nvPr/>
        </p:nvSpPr>
        <p:spPr>
          <a:xfrm>
            <a:off x="1101852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rial" pitchFamily="34" charset="0"/>
                <a:ea typeface="Arial" pitchFamily="34" charset="-122"/>
                <a:cs typeface="Arial" pitchFamily="34" charset="-120"/>
              </a:rPr>
              <a:t>Operate</a:t>
            </a:r>
            <a:endParaRPr lang="en-US" sz="1100" dirty="0"/>
          </a:p>
        </p:txBody>
      </p:sp>
      <p:sp>
        <p:nvSpPr>
          <p:cNvPr id="25" name="Text 23"/>
          <p:cNvSpPr/>
          <p:nvPr/>
        </p:nvSpPr>
        <p:spPr>
          <a:xfrm>
            <a:off x="7863840" y="4773168"/>
            <a:ext cx="2743200" cy="256032"/>
          </a:xfrm>
          <a:prstGeom prst="rect">
            <a:avLst/>
          </a:prstGeom>
          <a:noFill/>
          <a:ln/>
        </p:spPr>
        <p:txBody>
          <a:bodyPr wrap="square" lIns="0" tIns="0" rIns="0" bIns="0" rtlCol="0" anchor="t"/>
          <a:lstStyle/>
          <a:p>
            <a:pPr indent="0" marL="0">
              <a:buNone/>
            </a:pPr>
            <a:r>
              <a:rPr lang="en-US" sz="1300" b="1" dirty="0">
                <a:solidFill>
                  <a:srgbClr val="F0B429"/>
                </a:solidFill>
                <a:latin typeface="Arial" pitchFamily="34" charset="0"/>
                <a:ea typeface="Arial" pitchFamily="34" charset="-122"/>
                <a:cs typeface="Arial" pitchFamily="34" charset="-120"/>
              </a:rPr>
              <a:t>3 human approvals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KEY TAKEAWAYS</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AI works, people decide</a:t>
            </a:r>
            <a:endParaRPr lang="en-US" sz="3200" dirty="0"/>
          </a:p>
        </p:txBody>
      </p:sp>
      <p:sp>
        <p:nvSpPr>
          <p:cNvPr id="4" name="Shape 2"/>
          <p:cNvSpPr/>
          <p:nvPr/>
        </p:nvSpPr>
        <p:spPr>
          <a:xfrm>
            <a:off x="548640" y="1600200"/>
            <a:ext cx="3566160" cy="3840480"/>
          </a:xfrm>
          <a:prstGeom prst="roundRect">
            <a:avLst>
              <a:gd name="adj" fmla="val 359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68680" y="1874520"/>
            <a:ext cx="749808" cy="749808"/>
          </a:xfrm>
          <a:prstGeom prst="ellipse">
            <a:avLst/>
          </a:prstGeom>
          <a:solidFill>
            <a:srgbClr val="7B3FE4"/>
          </a:solidFill>
          <a:ln/>
        </p:spPr>
      </p:sp>
      <p:pic>
        <p:nvPicPr>
          <p:cNvPr id="6" name="Image 0" descr="preencoded.png">    </p:cNvPr>
          <p:cNvPicPr>
            <a:picLocks noChangeAspect="1"/>
          </p:cNvPicPr>
          <p:nvPr/>
        </p:nvPicPr>
        <p:blipFill>
          <a:blip r:embed="rId1"/>
          <a:stretch>
            <a:fillRect/>
          </a:stretch>
        </p:blipFill>
        <p:spPr>
          <a:xfrm>
            <a:off x="1071128" y="2076968"/>
            <a:ext cx="344912" cy="344912"/>
          </a:xfrm>
          <a:prstGeom prst="rect">
            <a:avLst/>
          </a:prstGeom>
        </p:spPr>
      </p:pic>
      <p:sp>
        <p:nvSpPr>
          <p:cNvPr id="7" name="Text 4"/>
          <p:cNvSpPr/>
          <p:nvPr/>
        </p:nvSpPr>
        <p:spPr>
          <a:xfrm>
            <a:off x="1783080" y="1938528"/>
            <a:ext cx="2286000" cy="640080"/>
          </a:xfrm>
          <a:prstGeom prst="rect">
            <a:avLst/>
          </a:prstGeom>
          <a:noFill/>
          <a:ln/>
        </p:spPr>
        <p:txBody>
          <a:bodyPr wrap="square" lIns="0" tIns="0" rIns="0" bIns="0" rtlCol="0" anchor="ctr"/>
          <a:lstStyle/>
          <a:p>
            <a:pPr indent="0" marL="0">
              <a:buNone/>
            </a:pPr>
            <a:r>
              <a:rPr lang="en-US" sz="3200" b="1" dirty="0">
                <a:solidFill>
                  <a:srgbClr val="7B3FE4"/>
                </a:solidFill>
                <a:latin typeface="Arial" pitchFamily="34" charset="0"/>
                <a:ea typeface="Arial" pitchFamily="34" charset="-122"/>
                <a:cs typeface="Arial" pitchFamily="34" charset="-120"/>
              </a:rPr>
              <a:t>Fast</a:t>
            </a:r>
            <a:endParaRPr lang="en-US" sz="3200" dirty="0"/>
          </a:p>
        </p:txBody>
      </p:sp>
      <p:sp>
        <p:nvSpPr>
          <p:cNvPr id="8" name="Text 5"/>
          <p:cNvSpPr/>
          <p:nvPr/>
        </p:nvSpPr>
        <p:spPr>
          <a:xfrm>
            <a:off x="868680" y="2834640"/>
            <a:ext cx="3017520" cy="822960"/>
          </a:xfrm>
          <a:prstGeom prst="rect">
            <a:avLst/>
          </a:prstGeom>
          <a:noFill/>
          <a:ln/>
        </p:spPr>
        <p:txBody>
          <a:bodyPr wrap="square" lIns="0" tIns="0" rIns="0" bIns="0" rtlCol="0" anchor="t"/>
          <a:lstStyle/>
          <a:p>
            <a:pPr indent="0" marL="0">
              <a:buNone/>
            </a:pPr>
            <a:r>
              <a:rPr lang="en-US" sz="2100" b="1" dirty="0">
                <a:solidFill>
                  <a:srgbClr val="1F2328"/>
                </a:solidFill>
                <a:latin typeface="Arial" pitchFamily="34" charset="0"/>
                <a:ea typeface="Arial" pitchFamily="34" charset="-122"/>
                <a:cs typeface="Arial" pitchFamily="34" charset="-120"/>
              </a:rPr>
              <a:t>Request to production in one session</a:t>
            </a:r>
            <a:endParaRPr lang="en-US" sz="2100" dirty="0"/>
          </a:p>
        </p:txBody>
      </p:sp>
      <p:sp>
        <p:nvSpPr>
          <p:cNvPr id="9" name="Text 6"/>
          <p:cNvSpPr/>
          <p:nvPr/>
        </p:nvSpPr>
        <p:spPr>
          <a:xfrm>
            <a:off x="868680" y="3703320"/>
            <a:ext cx="3017520" cy="164592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59636E"/>
                </a:solidFill>
                <a:latin typeface="Arial" pitchFamily="34" charset="0"/>
                <a:ea typeface="Arial" pitchFamily="34" charset="-122"/>
                <a:cs typeface="Arial" pitchFamily="34" charset="-120"/>
              </a:rPr>
              <a:t>7 stages from analysis to operations, each run by its own AI teammate</a:t>
            </a:r>
            <a:endParaRPr lang="en-US" sz="1700" dirty="0"/>
          </a:p>
          <a:p>
            <a:pPr marL="203200" indent="-203200">
              <a:spcAft>
                <a:spcPts val="800"/>
              </a:spcAft>
              <a:buSzPct val="100000"/>
              <a:buChar char="•"/>
            </a:pPr>
            <a:r>
              <a:rPr lang="en-US" sz="1700" dirty="0">
                <a:solidFill>
                  <a:srgbClr val="59636E"/>
                </a:solidFill>
                <a:latin typeface="Arial" pitchFamily="34" charset="0"/>
                <a:ea typeface="Arial" pitchFamily="34" charset="-122"/>
                <a:cs typeface="Arial" pitchFamily="34" charset="-120"/>
              </a:rPr>
              <a:t>Every stage leaves a result document</a:t>
            </a:r>
            <a:endParaRPr lang="en-US" sz="1700" dirty="0"/>
          </a:p>
        </p:txBody>
      </p:sp>
      <p:sp>
        <p:nvSpPr>
          <p:cNvPr id="10" name="Shape 7"/>
          <p:cNvSpPr/>
          <p:nvPr/>
        </p:nvSpPr>
        <p:spPr>
          <a:xfrm>
            <a:off x="4297680" y="1600200"/>
            <a:ext cx="3566160" cy="3840480"/>
          </a:xfrm>
          <a:prstGeom prst="roundRect">
            <a:avLst>
              <a:gd name="adj" fmla="val 359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617720" y="1874520"/>
            <a:ext cx="749808" cy="749808"/>
          </a:xfrm>
          <a:prstGeom prst="ellipse">
            <a:avLst/>
          </a:prstGeom>
          <a:solidFill>
            <a:srgbClr val="1A7F37"/>
          </a:solidFill>
          <a:ln/>
        </p:spPr>
      </p:sp>
      <p:pic>
        <p:nvPicPr>
          <p:cNvPr id="12" name="Image 1" descr="preencoded.png">    </p:cNvPr>
          <p:cNvPicPr>
            <a:picLocks noChangeAspect="1"/>
          </p:cNvPicPr>
          <p:nvPr/>
        </p:nvPicPr>
        <p:blipFill>
          <a:blip r:embed="rId2"/>
          <a:stretch>
            <a:fillRect/>
          </a:stretch>
        </p:blipFill>
        <p:spPr>
          <a:xfrm>
            <a:off x="4820168" y="2076968"/>
            <a:ext cx="344912" cy="344912"/>
          </a:xfrm>
          <a:prstGeom prst="rect">
            <a:avLst/>
          </a:prstGeom>
        </p:spPr>
      </p:pic>
      <p:sp>
        <p:nvSpPr>
          <p:cNvPr id="13" name="Text 9"/>
          <p:cNvSpPr/>
          <p:nvPr/>
        </p:nvSpPr>
        <p:spPr>
          <a:xfrm>
            <a:off x="5532120" y="1938528"/>
            <a:ext cx="2286000" cy="640080"/>
          </a:xfrm>
          <a:prstGeom prst="rect">
            <a:avLst/>
          </a:prstGeom>
          <a:noFill/>
          <a:ln/>
        </p:spPr>
        <p:txBody>
          <a:bodyPr wrap="square" lIns="0" tIns="0" rIns="0" bIns="0" rtlCol="0" anchor="ctr"/>
          <a:lstStyle/>
          <a:p>
            <a:pPr indent="0" marL="0">
              <a:buNone/>
            </a:pPr>
            <a:r>
              <a:rPr lang="en-US" sz="3200" b="1" dirty="0">
                <a:solidFill>
                  <a:srgbClr val="1A7F37"/>
                </a:solidFill>
                <a:latin typeface="Arial" pitchFamily="34" charset="0"/>
                <a:ea typeface="Arial" pitchFamily="34" charset="-122"/>
                <a:cs typeface="Arial" pitchFamily="34" charset="-120"/>
              </a:rPr>
              <a:t>Safe</a:t>
            </a:r>
            <a:endParaRPr lang="en-US" sz="3200" dirty="0"/>
          </a:p>
        </p:txBody>
      </p:sp>
      <p:sp>
        <p:nvSpPr>
          <p:cNvPr id="14" name="Text 10"/>
          <p:cNvSpPr/>
          <p:nvPr/>
        </p:nvSpPr>
        <p:spPr>
          <a:xfrm>
            <a:off x="4617720" y="2834640"/>
            <a:ext cx="3017520" cy="822960"/>
          </a:xfrm>
          <a:prstGeom prst="rect">
            <a:avLst/>
          </a:prstGeom>
          <a:noFill/>
          <a:ln/>
        </p:spPr>
        <p:txBody>
          <a:bodyPr wrap="square" lIns="0" tIns="0" rIns="0" bIns="0" rtlCol="0" anchor="t"/>
          <a:lstStyle/>
          <a:p>
            <a:pPr indent="0" marL="0">
              <a:buNone/>
            </a:pPr>
            <a:r>
              <a:rPr lang="en-US" sz="2100" b="1" dirty="0">
                <a:solidFill>
                  <a:srgbClr val="1F2328"/>
                </a:solidFill>
                <a:latin typeface="Arial" pitchFamily="34" charset="0"/>
                <a:ea typeface="Arial" pitchFamily="34" charset="-122"/>
                <a:cs typeface="Arial" pitchFamily="34" charset="-120"/>
              </a:rPr>
              <a:t>Permissions by role; the system blocks risks</a:t>
            </a:r>
            <a:endParaRPr lang="en-US" sz="2100" dirty="0"/>
          </a:p>
        </p:txBody>
      </p:sp>
      <p:sp>
        <p:nvSpPr>
          <p:cNvPr id="15" name="Text 11"/>
          <p:cNvSpPr/>
          <p:nvPr/>
        </p:nvSpPr>
        <p:spPr>
          <a:xfrm>
            <a:off x="4617720" y="3703320"/>
            <a:ext cx="3017520" cy="164592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59636E"/>
                </a:solidFill>
                <a:latin typeface="Arial" pitchFamily="34" charset="0"/>
                <a:ea typeface="Arial" pitchFamily="34" charset="-122"/>
                <a:cs typeface="Arial" pitchFamily="34" charset="-120"/>
              </a:rPr>
              <a:t>Limited write scope; risky commands are blocked</a:t>
            </a:r>
            <a:endParaRPr lang="en-US" sz="1700" dirty="0"/>
          </a:p>
          <a:p>
            <a:pPr marL="203200" indent="-203200">
              <a:spcAft>
                <a:spcPts val="800"/>
              </a:spcAft>
              <a:buSzPct val="100000"/>
              <a:buChar char="•"/>
            </a:pPr>
            <a:r>
              <a:rPr lang="en-US" sz="1700" dirty="0">
                <a:solidFill>
                  <a:srgbClr val="59636E"/>
                </a:solidFill>
                <a:latin typeface="Arial" pitchFamily="34" charset="0"/>
                <a:ea typeface="Arial" pitchFamily="34" charset="-122"/>
                <a:cs typeface="Arial" pitchFamily="34" charset="-120"/>
              </a:rPr>
              <a:t>Every tool call is recorded in an audit log</a:t>
            </a:r>
            <a:endParaRPr lang="en-US" sz="1700" dirty="0"/>
          </a:p>
        </p:txBody>
      </p:sp>
      <p:sp>
        <p:nvSpPr>
          <p:cNvPr id="16" name="Shape 12"/>
          <p:cNvSpPr/>
          <p:nvPr/>
        </p:nvSpPr>
        <p:spPr>
          <a:xfrm>
            <a:off x="8046720" y="1600200"/>
            <a:ext cx="3566160" cy="3840480"/>
          </a:xfrm>
          <a:prstGeom prst="roundRect">
            <a:avLst>
              <a:gd name="adj" fmla="val 359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66760" y="1874520"/>
            <a:ext cx="749808" cy="749808"/>
          </a:xfrm>
          <a:prstGeom prst="ellipse">
            <a:avLst/>
          </a:prstGeom>
          <a:solidFill>
            <a:srgbClr val="9A6700"/>
          </a:solidFill>
          <a:ln/>
        </p:spPr>
      </p:sp>
      <p:pic>
        <p:nvPicPr>
          <p:cNvPr id="18" name="Image 2" descr="preencoded.png">    </p:cNvPr>
          <p:cNvPicPr>
            <a:picLocks noChangeAspect="1"/>
          </p:cNvPicPr>
          <p:nvPr/>
        </p:nvPicPr>
        <p:blipFill>
          <a:blip r:embed="rId3"/>
          <a:stretch>
            <a:fillRect/>
          </a:stretch>
        </p:blipFill>
        <p:spPr>
          <a:xfrm>
            <a:off x="8569208" y="2076968"/>
            <a:ext cx="344912" cy="344912"/>
          </a:xfrm>
          <a:prstGeom prst="rect">
            <a:avLst/>
          </a:prstGeom>
        </p:spPr>
      </p:pic>
      <p:sp>
        <p:nvSpPr>
          <p:cNvPr id="19" name="Text 14"/>
          <p:cNvSpPr/>
          <p:nvPr/>
        </p:nvSpPr>
        <p:spPr>
          <a:xfrm>
            <a:off x="9281160" y="1938528"/>
            <a:ext cx="2286000" cy="640080"/>
          </a:xfrm>
          <a:prstGeom prst="rect">
            <a:avLst/>
          </a:prstGeom>
          <a:noFill/>
          <a:ln/>
        </p:spPr>
        <p:txBody>
          <a:bodyPr wrap="square" lIns="0" tIns="0" rIns="0" bIns="0" rtlCol="0" anchor="ctr"/>
          <a:lstStyle/>
          <a:p>
            <a:pPr indent="0" marL="0">
              <a:buNone/>
            </a:pPr>
            <a:r>
              <a:rPr lang="en-US" sz="3200" b="1" dirty="0">
                <a:solidFill>
                  <a:srgbClr val="9A6700"/>
                </a:solidFill>
                <a:latin typeface="Arial" pitchFamily="34" charset="0"/>
                <a:ea typeface="Arial" pitchFamily="34" charset="-122"/>
                <a:cs typeface="Arial" pitchFamily="34" charset="-120"/>
              </a:rPr>
              <a:t>Human-led</a:t>
            </a:r>
            <a:endParaRPr lang="en-US" sz="3200" dirty="0"/>
          </a:p>
        </p:txBody>
      </p:sp>
      <p:sp>
        <p:nvSpPr>
          <p:cNvPr id="20" name="Text 15"/>
          <p:cNvSpPr/>
          <p:nvPr/>
        </p:nvSpPr>
        <p:spPr>
          <a:xfrm>
            <a:off x="8366760" y="2834640"/>
            <a:ext cx="3017520" cy="822960"/>
          </a:xfrm>
          <a:prstGeom prst="rect">
            <a:avLst/>
          </a:prstGeom>
          <a:noFill/>
          <a:ln/>
        </p:spPr>
        <p:txBody>
          <a:bodyPr wrap="square" lIns="0" tIns="0" rIns="0" bIns="0" rtlCol="0" anchor="t"/>
          <a:lstStyle/>
          <a:p>
            <a:pPr indent="0" marL="0">
              <a:buNone/>
            </a:pPr>
            <a:r>
              <a:rPr lang="en-US" sz="2100" b="1" dirty="0">
                <a:solidFill>
                  <a:srgbClr val="1F2328"/>
                </a:solidFill>
                <a:latin typeface="Arial" pitchFamily="34" charset="0"/>
                <a:ea typeface="Arial" pitchFamily="34" charset="-122"/>
                <a:cs typeface="Arial" pitchFamily="34" charset="-120"/>
              </a:rPr>
              <a:t>Three approvals are always human</a:t>
            </a:r>
            <a:endParaRPr lang="en-US" sz="2100" dirty="0"/>
          </a:p>
        </p:txBody>
      </p:sp>
      <p:sp>
        <p:nvSpPr>
          <p:cNvPr id="21" name="Text 16"/>
          <p:cNvSpPr/>
          <p:nvPr/>
        </p:nvSpPr>
        <p:spPr>
          <a:xfrm>
            <a:off x="8366760" y="3703320"/>
            <a:ext cx="3017520" cy="164592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59636E"/>
                </a:solidFill>
                <a:latin typeface="Arial" pitchFamily="34" charset="0"/>
                <a:ea typeface="Arial" pitchFamily="34" charset="-122"/>
                <a:cs typeface="Arial" pitchFamily="34" charset="-120"/>
              </a:rPr>
              <a:t>Design · code · deploy approvals</a:t>
            </a:r>
            <a:endParaRPr lang="en-US" sz="1700" dirty="0"/>
          </a:p>
          <a:p>
            <a:pPr marL="203200" indent="-203200">
              <a:spcAft>
                <a:spcPts val="800"/>
              </a:spcAft>
              <a:buSzPct val="100000"/>
              <a:buChar char="•"/>
            </a:pPr>
            <a:r>
              <a:rPr lang="en-US" sz="1700" dirty="0">
                <a:solidFill>
                  <a:srgbClr val="59636E"/>
                </a:solidFill>
                <a:latin typeface="Arial" pitchFamily="34" charset="0"/>
                <a:ea typeface="Arial" pitchFamily="34" charset="-122"/>
                <a:cs typeface="Arial" pitchFamily="34" charset="-120"/>
              </a:rPr>
              <a:t>No approval, no next stage</a:t>
            </a:r>
            <a:endParaRPr lang="en-US" sz="1700" dirty="0"/>
          </a:p>
          <a:p>
            <a:pPr marL="203200" indent="-203200">
              <a:spcAft>
                <a:spcPts val="800"/>
              </a:spcAft>
              <a:buSzPct val="100000"/>
              <a:buChar char="•"/>
            </a:pPr>
            <a:r>
              <a:rPr lang="en-US" sz="1700" dirty="0">
                <a:solidFill>
                  <a:srgbClr val="59636E"/>
                </a:solidFill>
                <a:latin typeface="Arial" pitchFamily="34" charset="0"/>
                <a:ea typeface="Arial" pitchFamily="34" charset="-122"/>
                <a:cs typeface="Arial" pitchFamily="34" charset="-120"/>
              </a:rPr>
              <a:t>People make the 3 design decisions</a:t>
            </a:r>
            <a:endParaRPr lang="en-US" sz="1700" dirty="0"/>
          </a:p>
        </p:txBody>
      </p:sp>
      <p:sp>
        <p:nvSpPr>
          <p:cNvPr id="22" name="Text 17"/>
          <p:cNvSpPr/>
          <p:nvPr/>
        </p:nvSpPr>
        <p:spPr>
          <a:xfrm>
            <a:off x="548640" y="5669280"/>
            <a:ext cx="11064240" cy="365760"/>
          </a:xfrm>
          <a:prstGeom prst="rect">
            <a:avLst/>
          </a:prstGeom>
          <a:noFill/>
          <a:ln/>
        </p:spPr>
        <p:txBody>
          <a:bodyPr wrap="square" lIns="0" tIns="0" rIns="0" bIns="0" rtlCol="0" anchor="t"/>
          <a:lstStyle/>
          <a:p>
            <a:pPr indent="0" marL="0">
              <a:buNone/>
            </a:pPr>
            <a:r>
              <a:rPr lang="en-US" sz="1600" b="1" dirty="0">
                <a:solidFill>
                  <a:srgbClr val="59636E"/>
                </a:solidFill>
                <a:latin typeface="Arial" pitchFamily="34" charset="0"/>
                <a:ea typeface="Arial" pitchFamily="34" charset="-122"/>
                <a:cs typeface="Arial" pitchFamily="34" charset="-120"/>
              </a:rPr>
              <a:t>Agenda   ①  Copilot at a glance   →   ②  Demo: request to operations   →   ③  Impact · safety · adoption</a:t>
            </a:r>
            <a:endParaRPr lang="en-US" sz="1600" dirty="0"/>
          </a:p>
        </p:txBody>
      </p:sp>
      <p:sp>
        <p:nvSpPr>
          <p:cNvPr id="23" name="Text 1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24" name="Text 1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1 · GITHUB COPILOT AT A GLANCE</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From code assistant to development teammate</a:t>
            </a:r>
            <a:endParaRPr lang="en-US" sz="3200" dirty="0"/>
          </a:p>
        </p:txBody>
      </p:sp>
      <p:sp>
        <p:nvSpPr>
          <p:cNvPr id="4" name="Text 2"/>
          <p:cNvSpPr/>
          <p:nvPr/>
        </p:nvSpPr>
        <p:spPr>
          <a:xfrm>
            <a:off x="548640" y="1600200"/>
            <a:ext cx="5669280" cy="1188720"/>
          </a:xfrm>
          <a:prstGeom prst="rect">
            <a:avLst/>
          </a:prstGeom>
          <a:noFill/>
          <a:ln/>
        </p:spPr>
        <p:txBody>
          <a:bodyPr wrap="square" lIns="0" tIns="0" rIns="0" bIns="0" rtlCol="0" anchor="t"/>
          <a:lstStyle/>
          <a:p>
            <a:pPr indent="0" marL="0">
              <a:lnSpc>
                <a:spcPct val="115000"/>
              </a:lnSpc>
              <a:buNone/>
            </a:pPr>
            <a:r>
              <a:rPr lang="en-US" sz="2400" b="1" dirty="0">
                <a:solidFill>
                  <a:srgbClr val="59636E"/>
                </a:solidFill>
                <a:latin typeface="Arial" pitchFamily="34" charset="0"/>
                <a:ea typeface="Arial" pitchFamily="34" charset="-122"/>
                <a:cs typeface="Arial" pitchFamily="34" charset="-120"/>
              </a:rPr>
              <a:t>From a tool that helps</a:t>
            </a:r>
            <a:endParaRPr lang="en-US" sz="2400" dirty="0"/>
          </a:p>
          <a:p>
            <a:pPr indent="0" marL="0">
              <a:lnSpc>
                <a:spcPct val="115000"/>
              </a:lnSpc>
              <a:buNone/>
            </a:pPr>
            <a:r>
              <a:rPr lang="en-US" sz="2400" b="1" dirty="0">
                <a:solidFill>
                  <a:srgbClr val="59636E"/>
                </a:solidFill>
                <a:latin typeface="Arial" pitchFamily="34" charset="0"/>
                <a:ea typeface="Arial" pitchFamily="34" charset="-122"/>
                <a:cs typeface="Arial" pitchFamily="34" charset="-120"/>
              </a:rPr>
              <a:t>to a teammate you can hand work to</a:t>
            </a:r>
            <a:endParaRPr lang="en-US" sz="2400" dirty="0"/>
          </a:p>
        </p:txBody>
      </p:sp>
      <p:sp>
        <p:nvSpPr>
          <p:cNvPr id="5" name="Shape 3"/>
          <p:cNvSpPr/>
          <p:nvPr/>
        </p:nvSpPr>
        <p:spPr>
          <a:xfrm>
            <a:off x="548640" y="3383280"/>
            <a:ext cx="2651760" cy="2148840"/>
          </a:xfrm>
          <a:prstGeom prst="roundRect">
            <a:avLst>
              <a:gd name="adj" fmla="val 5957"/>
            </a:avLst>
          </a:prstGeom>
          <a:solidFill>
            <a:srgbClr val="F6F8FA"/>
          </a:solidFill>
          <a:ln w="12700">
            <a:solidFill>
              <a:srgbClr val="D0D7DE"/>
            </a:solidFill>
            <a:prstDash val="solid"/>
          </a:ln>
        </p:spPr>
      </p:sp>
      <p:sp>
        <p:nvSpPr>
          <p:cNvPr id="6" name="Shape 4"/>
          <p:cNvSpPr/>
          <p:nvPr/>
        </p:nvSpPr>
        <p:spPr>
          <a:xfrm>
            <a:off x="804672" y="3639312"/>
            <a:ext cx="640080" cy="640080"/>
          </a:xfrm>
          <a:prstGeom prst="ellipse">
            <a:avLst/>
          </a:prstGeom>
          <a:solidFill>
            <a:srgbClr val="7B3FE4"/>
          </a:solidFill>
          <a:ln/>
        </p:spPr>
      </p:sp>
      <p:pic>
        <p:nvPicPr>
          <p:cNvPr id="7" name="Image 0" descr="preencoded.png">    </p:cNvPr>
          <p:cNvPicPr>
            <a:picLocks noChangeAspect="1"/>
          </p:cNvPicPr>
          <p:nvPr/>
        </p:nvPicPr>
        <p:blipFill>
          <a:blip r:embed="rId1"/>
          <a:stretch>
            <a:fillRect/>
          </a:stretch>
        </p:blipFill>
        <p:spPr>
          <a:xfrm>
            <a:off x="977494" y="3812134"/>
            <a:ext cx="294437" cy="294437"/>
          </a:xfrm>
          <a:prstGeom prst="rect">
            <a:avLst/>
          </a:prstGeom>
        </p:spPr>
      </p:pic>
      <p:sp>
        <p:nvSpPr>
          <p:cNvPr id="8" name="Shape 5"/>
          <p:cNvSpPr/>
          <p:nvPr/>
        </p:nvSpPr>
        <p:spPr>
          <a:xfrm>
            <a:off x="1874520" y="3749040"/>
            <a:ext cx="1143000" cy="310896"/>
          </a:xfrm>
          <a:prstGeom prst="roundRect">
            <a:avLst>
              <a:gd name="adj" fmla="val 50000"/>
            </a:avLst>
          </a:prstGeom>
          <a:solidFill>
            <a:srgbClr val="F1E9FF"/>
          </a:solidFill>
          <a:ln/>
        </p:spPr>
      </p:sp>
      <p:sp>
        <p:nvSpPr>
          <p:cNvPr id="9" name="Text 6"/>
          <p:cNvSpPr/>
          <p:nvPr/>
        </p:nvSpPr>
        <p:spPr>
          <a:xfrm>
            <a:off x="1874520" y="3749040"/>
            <a:ext cx="1143000" cy="310896"/>
          </a:xfrm>
          <a:prstGeom prst="rect">
            <a:avLst/>
          </a:prstGeom>
          <a:noFill/>
          <a:ln/>
        </p:spPr>
        <p:txBody>
          <a:bodyPr wrap="square" lIns="0" tIns="0" rIns="0" bIns="0" rtlCol="0" anchor="ctr"/>
          <a:lstStyle/>
          <a:p>
            <a:pPr algn="ctr" indent="0" marL="0">
              <a:buNone/>
            </a:pPr>
            <a:r>
              <a:rPr lang="en-US" sz="1100" b="1" dirty="0">
                <a:solidFill>
                  <a:srgbClr val="7B3FE4"/>
                </a:solidFill>
                <a:latin typeface="Arial" pitchFamily="34" charset="0"/>
                <a:ea typeface="Arial" pitchFamily="34" charset="-122"/>
                <a:cs typeface="Arial" pitchFamily="34" charset="-120"/>
              </a:rPr>
              <a:t>Assistive</a:t>
            </a:r>
            <a:endParaRPr lang="en-US" sz="1100" dirty="0"/>
          </a:p>
        </p:txBody>
      </p:sp>
      <p:sp>
        <p:nvSpPr>
          <p:cNvPr id="10" name="Text 7"/>
          <p:cNvSpPr/>
          <p:nvPr/>
        </p:nvSpPr>
        <p:spPr>
          <a:xfrm>
            <a:off x="804672" y="4407408"/>
            <a:ext cx="2194560" cy="45720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Suggest</a:t>
            </a:r>
            <a:endParaRPr lang="en-US" sz="2400" dirty="0"/>
          </a:p>
        </p:txBody>
      </p:sp>
      <p:sp>
        <p:nvSpPr>
          <p:cNvPr id="11" name="Text 8"/>
          <p:cNvSpPr/>
          <p:nvPr/>
        </p:nvSpPr>
        <p:spPr>
          <a:xfrm>
            <a:off x="804672" y="4919472"/>
            <a:ext cx="2194560" cy="502920"/>
          </a:xfrm>
          <a:prstGeom prst="rect">
            <a:avLst/>
          </a:prstGeom>
          <a:noFill/>
          <a:ln/>
        </p:spPr>
        <p:txBody>
          <a:bodyPr wrap="square" lIns="0" tIns="0" rIns="0" bIns="0" rtlCol="0" anchor="t"/>
          <a:lstStyle/>
          <a:p>
            <a:pPr indent="0" marL="0">
              <a:buNone/>
            </a:pPr>
            <a:r>
              <a:rPr lang="en-US" sz="1600" dirty="0">
                <a:solidFill>
                  <a:srgbClr val="59636E"/>
                </a:solidFill>
                <a:latin typeface="Arial" pitchFamily="34" charset="0"/>
                <a:ea typeface="Arial" pitchFamily="34" charset="-122"/>
                <a:cs typeface="Arial" pitchFamily="34" charset="-120"/>
              </a:rPr>
              <a:t>Suggests the next code as you type</a:t>
            </a:r>
            <a:endParaRPr lang="en-US" sz="1600" dirty="0"/>
          </a:p>
        </p:txBody>
      </p:sp>
      <p:sp>
        <p:nvSpPr>
          <p:cNvPr id="12" name="Shape 9"/>
          <p:cNvSpPr/>
          <p:nvPr/>
        </p:nvSpPr>
        <p:spPr>
          <a:xfrm>
            <a:off x="3337560" y="2743200"/>
            <a:ext cx="2651760" cy="2788920"/>
          </a:xfrm>
          <a:prstGeom prst="roundRect">
            <a:avLst>
              <a:gd name="adj" fmla="val 4828"/>
            </a:avLst>
          </a:prstGeom>
          <a:solidFill>
            <a:srgbClr val="F6F8FA"/>
          </a:solidFill>
          <a:ln w="12700">
            <a:solidFill>
              <a:srgbClr val="D0D7DE"/>
            </a:solidFill>
            <a:prstDash val="solid"/>
          </a:ln>
        </p:spPr>
      </p:sp>
      <p:sp>
        <p:nvSpPr>
          <p:cNvPr id="13" name="Shape 10"/>
          <p:cNvSpPr/>
          <p:nvPr/>
        </p:nvSpPr>
        <p:spPr>
          <a:xfrm>
            <a:off x="3593592" y="2999232"/>
            <a:ext cx="640080" cy="640080"/>
          </a:xfrm>
          <a:prstGeom prst="ellipse">
            <a:avLst/>
          </a:prstGeom>
          <a:solidFill>
            <a:srgbClr val="7B3FE4"/>
          </a:solidFill>
          <a:ln/>
        </p:spPr>
      </p:sp>
      <p:pic>
        <p:nvPicPr>
          <p:cNvPr id="14" name="Image 1" descr="preencoded.png">    </p:cNvPr>
          <p:cNvPicPr>
            <a:picLocks noChangeAspect="1"/>
          </p:cNvPicPr>
          <p:nvPr/>
        </p:nvPicPr>
        <p:blipFill>
          <a:blip r:embed="rId2"/>
          <a:stretch>
            <a:fillRect/>
          </a:stretch>
        </p:blipFill>
        <p:spPr>
          <a:xfrm>
            <a:off x="3766414" y="3172054"/>
            <a:ext cx="294437" cy="294437"/>
          </a:xfrm>
          <a:prstGeom prst="rect">
            <a:avLst/>
          </a:prstGeom>
        </p:spPr>
      </p:pic>
      <p:sp>
        <p:nvSpPr>
          <p:cNvPr id="15" name="Shape 11"/>
          <p:cNvSpPr/>
          <p:nvPr/>
        </p:nvSpPr>
        <p:spPr>
          <a:xfrm>
            <a:off x="4663440" y="3108960"/>
            <a:ext cx="1143000" cy="310896"/>
          </a:xfrm>
          <a:prstGeom prst="roundRect">
            <a:avLst>
              <a:gd name="adj" fmla="val 50000"/>
            </a:avLst>
          </a:prstGeom>
          <a:solidFill>
            <a:srgbClr val="F1E9FF"/>
          </a:solidFill>
          <a:ln/>
        </p:spPr>
      </p:sp>
      <p:sp>
        <p:nvSpPr>
          <p:cNvPr id="16" name="Text 12"/>
          <p:cNvSpPr/>
          <p:nvPr/>
        </p:nvSpPr>
        <p:spPr>
          <a:xfrm>
            <a:off x="4663440" y="3108960"/>
            <a:ext cx="1143000" cy="310896"/>
          </a:xfrm>
          <a:prstGeom prst="rect">
            <a:avLst/>
          </a:prstGeom>
          <a:noFill/>
          <a:ln/>
        </p:spPr>
        <p:txBody>
          <a:bodyPr wrap="square" lIns="0" tIns="0" rIns="0" bIns="0" rtlCol="0" anchor="ctr"/>
          <a:lstStyle/>
          <a:p>
            <a:pPr algn="ctr" indent="0" marL="0">
              <a:buNone/>
            </a:pPr>
            <a:r>
              <a:rPr lang="en-US" sz="1100" b="1" dirty="0">
                <a:solidFill>
                  <a:srgbClr val="7B3FE4"/>
                </a:solidFill>
                <a:latin typeface="Arial" pitchFamily="34" charset="0"/>
                <a:ea typeface="Arial" pitchFamily="34" charset="-122"/>
                <a:cs typeface="Arial" pitchFamily="34" charset="-120"/>
              </a:rPr>
              <a:t>Assistive</a:t>
            </a:r>
            <a:endParaRPr lang="en-US" sz="1100" dirty="0"/>
          </a:p>
        </p:txBody>
      </p:sp>
      <p:sp>
        <p:nvSpPr>
          <p:cNvPr id="17" name="Text 13"/>
          <p:cNvSpPr/>
          <p:nvPr/>
        </p:nvSpPr>
        <p:spPr>
          <a:xfrm>
            <a:off x="3593592" y="3767328"/>
            <a:ext cx="2194560" cy="45720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Chat</a:t>
            </a:r>
            <a:endParaRPr lang="en-US" sz="2400" dirty="0"/>
          </a:p>
        </p:txBody>
      </p:sp>
      <p:sp>
        <p:nvSpPr>
          <p:cNvPr id="18" name="Text 14"/>
          <p:cNvSpPr/>
          <p:nvPr/>
        </p:nvSpPr>
        <p:spPr>
          <a:xfrm>
            <a:off x="3593592" y="4279392"/>
            <a:ext cx="2194560" cy="1143000"/>
          </a:xfrm>
          <a:prstGeom prst="rect">
            <a:avLst/>
          </a:prstGeom>
          <a:noFill/>
          <a:ln/>
        </p:spPr>
        <p:txBody>
          <a:bodyPr wrap="square" lIns="0" tIns="0" rIns="0" bIns="0" rtlCol="0" anchor="t"/>
          <a:lstStyle/>
          <a:p>
            <a:pPr indent="0" marL="0">
              <a:buNone/>
            </a:pPr>
            <a:r>
              <a:rPr lang="en-US" sz="1600" dirty="0">
                <a:solidFill>
                  <a:srgbClr val="59636E"/>
                </a:solidFill>
                <a:latin typeface="Arial" pitchFamily="34" charset="0"/>
                <a:ea typeface="Arial" pitchFamily="34" charset="-122"/>
                <a:cs typeface="Arial" pitchFamily="34" charset="-120"/>
              </a:rPr>
              <a:t>Ask and answer questions about code and repositories</a:t>
            </a:r>
            <a:endParaRPr lang="en-US" sz="1600" dirty="0"/>
          </a:p>
        </p:txBody>
      </p:sp>
      <p:sp>
        <p:nvSpPr>
          <p:cNvPr id="19" name="Shape 15"/>
          <p:cNvSpPr/>
          <p:nvPr/>
        </p:nvSpPr>
        <p:spPr>
          <a:xfrm>
            <a:off x="6126480" y="2103120"/>
            <a:ext cx="2651760" cy="3429000"/>
          </a:xfrm>
          <a:prstGeom prst="roundRect">
            <a:avLst>
              <a:gd name="adj" fmla="val 4828"/>
            </a:avLst>
          </a:prstGeom>
          <a:solidFill>
            <a:srgbClr val="F6F8FA"/>
          </a:solidFill>
          <a:ln w="12700">
            <a:solidFill>
              <a:srgbClr val="D0D7DE"/>
            </a:solidFill>
            <a:prstDash val="solid"/>
          </a:ln>
        </p:spPr>
      </p:sp>
      <p:sp>
        <p:nvSpPr>
          <p:cNvPr id="20" name="Shape 16"/>
          <p:cNvSpPr/>
          <p:nvPr/>
        </p:nvSpPr>
        <p:spPr>
          <a:xfrm>
            <a:off x="6382512" y="2359152"/>
            <a:ext cx="640080" cy="640080"/>
          </a:xfrm>
          <a:prstGeom prst="ellipse">
            <a:avLst/>
          </a:prstGeom>
          <a:solidFill>
            <a:srgbClr val="7B3FE4"/>
          </a:solidFill>
          <a:ln/>
        </p:spPr>
      </p:sp>
      <p:pic>
        <p:nvPicPr>
          <p:cNvPr id="21" name="Image 2" descr="preencoded.png">    </p:cNvPr>
          <p:cNvPicPr>
            <a:picLocks noChangeAspect="1"/>
          </p:cNvPicPr>
          <p:nvPr/>
        </p:nvPicPr>
        <p:blipFill>
          <a:blip r:embed="rId3"/>
          <a:stretch>
            <a:fillRect/>
          </a:stretch>
        </p:blipFill>
        <p:spPr>
          <a:xfrm>
            <a:off x="6555334" y="2531974"/>
            <a:ext cx="294437" cy="294437"/>
          </a:xfrm>
          <a:prstGeom prst="rect">
            <a:avLst/>
          </a:prstGeom>
        </p:spPr>
      </p:pic>
      <p:sp>
        <p:nvSpPr>
          <p:cNvPr id="22" name="Shape 17"/>
          <p:cNvSpPr/>
          <p:nvPr/>
        </p:nvSpPr>
        <p:spPr>
          <a:xfrm>
            <a:off x="7452360" y="2468880"/>
            <a:ext cx="1143000" cy="310896"/>
          </a:xfrm>
          <a:prstGeom prst="roundRect">
            <a:avLst>
              <a:gd name="adj" fmla="val 50000"/>
            </a:avLst>
          </a:prstGeom>
          <a:solidFill>
            <a:srgbClr val="F1E9FF"/>
          </a:solidFill>
          <a:ln/>
        </p:spPr>
      </p:sp>
      <p:sp>
        <p:nvSpPr>
          <p:cNvPr id="23" name="Text 18"/>
          <p:cNvSpPr/>
          <p:nvPr/>
        </p:nvSpPr>
        <p:spPr>
          <a:xfrm>
            <a:off x="7452360" y="2468880"/>
            <a:ext cx="1143000" cy="310896"/>
          </a:xfrm>
          <a:prstGeom prst="rect">
            <a:avLst/>
          </a:prstGeom>
          <a:noFill/>
          <a:ln/>
        </p:spPr>
        <p:txBody>
          <a:bodyPr wrap="square" lIns="0" tIns="0" rIns="0" bIns="0" rtlCol="0" anchor="ctr"/>
          <a:lstStyle/>
          <a:p>
            <a:pPr algn="ctr" indent="0" marL="0">
              <a:buNone/>
            </a:pPr>
            <a:r>
              <a:rPr lang="en-US" sz="1100" b="1" dirty="0">
                <a:solidFill>
                  <a:srgbClr val="7B3FE4"/>
                </a:solidFill>
                <a:latin typeface="Arial" pitchFamily="34" charset="0"/>
                <a:ea typeface="Arial" pitchFamily="34" charset="-122"/>
                <a:cs typeface="Arial" pitchFamily="34" charset="-120"/>
              </a:rPr>
              <a:t>Agentic</a:t>
            </a:r>
            <a:endParaRPr lang="en-US" sz="1100" dirty="0"/>
          </a:p>
        </p:txBody>
      </p:sp>
      <p:sp>
        <p:nvSpPr>
          <p:cNvPr id="24" name="Text 19"/>
          <p:cNvSpPr/>
          <p:nvPr/>
        </p:nvSpPr>
        <p:spPr>
          <a:xfrm>
            <a:off x="6382512" y="3127248"/>
            <a:ext cx="2194560" cy="45720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Agent</a:t>
            </a:r>
            <a:endParaRPr lang="en-US" sz="2400" dirty="0"/>
          </a:p>
        </p:txBody>
      </p:sp>
      <p:sp>
        <p:nvSpPr>
          <p:cNvPr id="25" name="Text 20"/>
          <p:cNvSpPr/>
          <p:nvPr/>
        </p:nvSpPr>
        <p:spPr>
          <a:xfrm>
            <a:off x="6382512" y="3639312"/>
            <a:ext cx="2194560" cy="1783080"/>
          </a:xfrm>
          <a:prstGeom prst="rect">
            <a:avLst/>
          </a:prstGeom>
          <a:noFill/>
          <a:ln/>
        </p:spPr>
        <p:txBody>
          <a:bodyPr wrap="square" lIns="0" tIns="0" rIns="0" bIns="0" rtlCol="0" anchor="t"/>
          <a:lstStyle/>
          <a:p>
            <a:pPr indent="0" marL="0">
              <a:buNone/>
            </a:pPr>
            <a:r>
              <a:rPr lang="en-US" sz="1600" dirty="0">
                <a:solidFill>
                  <a:srgbClr val="59636E"/>
                </a:solidFill>
                <a:latin typeface="Arial" pitchFamily="34" charset="0"/>
                <a:ea typeface="Arial" pitchFamily="34" charset="-122"/>
                <a:cs typeface="Arial" pitchFamily="34" charset="-120"/>
              </a:rPr>
              <a:t>Repeats plan → edit files → run commands → verify on its own</a:t>
            </a:r>
            <a:endParaRPr lang="en-US" sz="1600" dirty="0"/>
          </a:p>
        </p:txBody>
      </p:sp>
      <p:sp>
        <p:nvSpPr>
          <p:cNvPr id="26" name="Shape 21"/>
          <p:cNvSpPr/>
          <p:nvPr/>
        </p:nvSpPr>
        <p:spPr>
          <a:xfrm>
            <a:off x="8915400" y="1463040"/>
            <a:ext cx="2651760" cy="4069080"/>
          </a:xfrm>
          <a:prstGeom prst="roundRect">
            <a:avLst>
              <a:gd name="adj" fmla="val 4828"/>
            </a:avLst>
          </a:prstGeom>
          <a:solidFill>
            <a:srgbClr val="7B3FE4"/>
          </a:solidFill>
          <a:ln w="12700">
            <a:solidFill>
              <a:srgbClr val="7B3FE4"/>
            </a:solidFill>
            <a:prstDash val="solid"/>
          </a:ln>
          <a:effectLst>
            <a:outerShdw sx="100000" sy="100000" kx="0" ky="0" algn="bl" rotWithShape="0" blurRad="101600" dist="25400" dir="5400000">
              <a:srgbClr val="000000">
                <a:alpha val="12000"/>
              </a:srgbClr>
            </a:outerShdw>
          </a:effectLst>
        </p:spPr>
      </p:sp>
      <p:sp>
        <p:nvSpPr>
          <p:cNvPr id="27" name="Shape 22"/>
          <p:cNvSpPr/>
          <p:nvPr/>
        </p:nvSpPr>
        <p:spPr>
          <a:xfrm>
            <a:off x="9171432" y="1719072"/>
            <a:ext cx="640080" cy="640080"/>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9344254" y="1891894"/>
            <a:ext cx="294437" cy="294437"/>
          </a:xfrm>
          <a:prstGeom prst="rect">
            <a:avLst/>
          </a:prstGeom>
        </p:spPr>
      </p:pic>
      <p:sp>
        <p:nvSpPr>
          <p:cNvPr id="29" name="Shape 23"/>
          <p:cNvSpPr/>
          <p:nvPr/>
        </p:nvSpPr>
        <p:spPr>
          <a:xfrm>
            <a:off x="10241280" y="1828800"/>
            <a:ext cx="1143000" cy="310896"/>
          </a:xfrm>
          <a:prstGeom prst="roundRect">
            <a:avLst>
              <a:gd name="adj" fmla="val 50000"/>
            </a:avLst>
          </a:prstGeom>
          <a:solidFill>
            <a:srgbClr val="5A2EB0"/>
          </a:solidFill>
          <a:ln/>
        </p:spPr>
      </p:sp>
      <p:sp>
        <p:nvSpPr>
          <p:cNvPr id="30" name="Text 24"/>
          <p:cNvSpPr/>
          <p:nvPr/>
        </p:nvSpPr>
        <p:spPr>
          <a:xfrm>
            <a:off x="10241280" y="1828800"/>
            <a:ext cx="11430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Customizable</a:t>
            </a:r>
            <a:endParaRPr lang="en-US" sz="1100" dirty="0"/>
          </a:p>
        </p:txBody>
      </p:sp>
      <p:sp>
        <p:nvSpPr>
          <p:cNvPr id="31" name="Text 25"/>
          <p:cNvSpPr/>
          <p:nvPr/>
        </p:nvSpPr>
        <p:spPr>
          <a:xfrm>
            <a:off x="9171432" y="2487168"/>
            <a:ext cx="2194560" cy="45720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Customize</a:t>
            </a:r>
            <a:endParaRPr lang="en-US" sz="2400" dirty="0"/>
          </a:p>
        </p:txBody>
      </p:sp>
      <p:sp>
        <p:nvSpPr>
          <p:cNvPr id="32" name="Text 26"/>
          <p:cNvSpPr/>
          <p:nvPr/>
        </p:nvSpPr>
        <p:spPr>
          <a:xfrm>
            <a:off x="9171432" y="2999232"/>
            <a:ext cx="2194560" cy="2423160"/>
          </a:xfrm>
          <a:prstGeom prst="rect">
            <a:avLst/>
          </a:prstGeom>
          <a:noFill/>
          <a:ln/>
        </p:spPr>
        <p:txBody>
          <a:bodyPr wrap="square" lIns="0" tIns="0" rIns="0" bIns="0" rtlCol="0" anchor="t"/>
          <a:lstStyle/>
          <a:p>
            <a:pPr indent="0" marL="0">
              <a:buNone/>
            </a:pPr>
            <a:r>
              <a:rPr lang="en-US" sz="1600" dirty="0">
                <a:solidFill>
                  <a:srgbClr val="EADCFF"/>
                </a:solidFill>
                <a:latin typeface="Arial" pitchFamily="34" charset="0"/>
                <a:ea typeface="Arial" pitchFamily="34" charset="-122"/>
                <a:cs typeface="Arial" pitchFamily="34" charset="-120"/>
              </a:rPr>
              <a:t>Specialist agents with your rules, running many tasks in parallel</a:t>
            </a:r>
            <a:endParaRPr lang="en-US" sz="1600" dirty="0"/>
          </a:p>
        </p:txBody>
      </p:sp>
      <p:sp>
        <p:nvSpPr>
          <p:cNvPr id="33" name="Text 27"/>
          <p:cNvSpPr/>
          <p:nvPr/>
        </p:nvSpPr>
        <p:spPr>
          <a:xfrm>
            <a:off x="548640" y="5687568"/>
            <a:ext cx="11064240" cy="320040"/>
          </a:xfrm>
          <a:prstGeom prst="rect">
            <a:avLst/>
          </a:prstGeom>
          <a:noFill/>
          <a:ln/>
        </p:spPr>
        <p:txBody>
          <a:bodyPr wrap="square" lIns="0" tIns="0" rIns="0" bIns="0" rtlCol="0" anchor="t"/>
          <a:lstStyle/>
          <a:p>
            <a:pPr indent="0" marL="0">
              <a:buNone/>
            </a:pPr>
            <a:r>
              <a:rPr lang="en-US" sz="1600" b="1" dirty="0">
                <a:solidFill>
                  <a:srgbClr val="7B3FE4"/>
                </a:solidFill>
                <a:latin typeface="Arial" pitchFamily="34" charset="0"/>
                <a:ea typeface="Arial" pitchFamily="34" charset="-122"/>
                <a:cs typeface="Arial" pitchFamily="34" charset="-120"/>
              </a:rPr>
              <a:t>People always review and approve — Copilot suggests and acts, but people stay accountable.</a:t>
            </a:r>
            <a:endParaRPr lang="en-US" sz="1600" dirty="0"/>
          </a:p>
        </p:txBody>
      </p:sp>
      <p:sp>
        <p:nvSpPr>
          <p:cNvPr id="34" name="Text 2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35" name="Text 2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3</a:t>
            </a:r>
            <a:endParaRPr lang="en-US" sz="1000" dirty="0"/>
          </a:p>
        </p:txBody>
      </p:sp>
      <p:sp>
        <p:nvSpPr>
          <p:cNvPr id="36" name="Text 30"/>
          <p:cNvSpPr/>
          <p:nvPr/>
        </p:nvSpPr>
        <p:spPr>
          <a:xfrm>
            <a:off x="548640" y="6217920"/>
            <a:ext cx="1106424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Source: GitHub Docs · About GitHub Copilot (Assistive / Agentic / Customizations)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1 · GITHUB COPILOT AT A GLANCE</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Six core capabilities</a:t>
            </a:r>
            <a:endParaRPr lang="en-US" sz="3200" dirty="0"/>
          </a:p>
        </p:txBody>
      </p:sp>
      <p:sp>
        <p:nvSpPr>
          <p:cNvPr id="4" name="Shape 2"/>
          <p:cNvSpPr/>
          <p:nvPr/>
        </p:nvSpPr>
        <p:spPr>
          <a:xfrm>
            <a:off x="548640" y="1554480"/>
            <a:ext cx="3566160" cy="2103120"/>
          </a:xfrm>
          <a:prstGeom prst="roundRect">
            <a:avLst>
              <a:gd name="adj" fmla="val 6087"/>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828800"/>
            <a:ext cx="640080" cy="640080"/>
          </a:xfrm>
          <a:prstGeom prst="ellipse">
            <a:avLst/>
          </a:prstGeom>
          <a:solidFill>
            <a:srgbClr val="0969DA"/>
          </a:solidFill>
          <a:ln/>
        </p:spPr>
      </p:sp>
      <p:pic>
        <p:nvPicPr>
          <p:cNvPr id="6" name="Image 0" descr="preencoded.png">    </p:cNvPr>
          <p:cNvPicPr>
            <a:picLocks noChangeAspect="1"/>
          </p:cNvPicPr>
          <p:nvPr/>
        </p:nvPicPr>
        <p:blipFill>
          <a:blip r:embed="rId1"/>
          <a:stretch>
            <a:fillRect/>
          </a:stretch>
        </p:blipFill>
        <p:spPr>
          <a:xfrm>
            <a:off x="995782" y="2001622"/>
            <a:ext cx="294437" cy="294437"/>
          </a:xfrm>
          <a:prstGeom prst="rect">
            <a:avLst/>
          </a:prstGeom>
        </p:spPr>
      </p:pic>
      <p:sp>
        <p:nvSpPr>
          <p:cNvPr id="7" name="Text 4"/>
          <p:cNvSpPr/>
          <p:nvPr/>
        </p:nvSpPr>
        <p:spPr>
          <a:xfrm>
            <a:off x="1645920" y="1828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Suggestions</a:t>
            </a:r>
            <a:endParaRPr lang="en-US" sz="2200" dirty="0"/>
          </a:p>
        </p:txBody>
      </p:sp>
      <p:sp>
        <p:nvSpPr>
          <p:cNvPr id="8" name="Text 5"/>
          <p:cNvSpPr/>
          <p:nvPr/>
        </p:nvSpPr>
        <p:spPr>
          <a:xfrm>
            <a:off x="822960" y="2606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Suggests code, tests and comments as you type</a:t>
            </a:r>
            <a:endParaRPr lang="en-US" sz="1600" dirty="0"/>
          </a:p>
        </p:txBody>
      </p:sp>
      <p:sp>
        <p:nvSpPr>
          <p:cNvPr id="9" name="Text 6"/>
          <p:cNvSpPr/>
          <p:nvPr/>
        </p:nvSpPr>
        <p:spPr>
          <a:xfrm>
            <a:off x="822960" y="3273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rial" pitchFamily="34" charset="0"/>
                <a:ea typeface="Arial" pitchFamily="34" charset="-122"/>
                <a:cs typeface="Arial" pitchFamily="34" charset="-120"/>
              </a:rPr>
              <a:t>IDE</a:t>
            </a:r>
            <a:endParaRPr lang="en-US" sz="1200" dirty="0"/>
          </a:p>
        </p:txBody>
      </p:sp>
      <p:sp>
        <p:nvSpPr>
          <p:cNvPr id="10" name="Shape 7"/>
          <p:cNvSpPr/>
          <p:nvPr/>
        </p:nvSpPr>
        <p:spPr>
          <a:xfrm>
            <a:off x="4297680" y="1554480"/>
            <a:ext cx="3566160" cy="2103120"/>
          </a:xfrm>
          <a:prstGeom prst="roundRect">
            <a:avLst>
              <a:gd name="adj" fmla="val 6087"/>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572000" y="1828800"/>
            <a:ext cx="640080" cy="640080"/>
          </a:xfrm>
          <a:prstGeom prst="ellipse">
            <a:avLst/>
          </a:prstGeom>
          <a:solidFill>
            <a:srgbClr val="0969DA"/>
          </a:solidFill>
          <a:ln/>
        </p:spPr>
      </p:sp>
      <p:pic>
        <p:nvPicPr>
          <p:cNvPr id="12" name="Image 1" descr="preencoded.png">    </p:cNvPr>
          <p:cNvPicPr>
            <a:picLocks noChangeAspect="1"/>
          </p:cNvPicPr>
          <p:nvPr/>
        </p:nvPicPr>
        <p:blipFill>
          <a:blip r:embed="rId2"/>
          <a:stretch>
            <a:fillRect/>
          </a:stretch>
        </p:blipFill>
        <p:spPr>
          <a:xfrm>
            <a:off x="4744822" y="2001622"/>
            <a:ext cx="294437" cy="294437"/>
          </a:xfrm>
          <a:prstGeom prst="rect">
            <a:avLst/>
          </a:prstGeom>
        </p:spPr>
      </p:pic>
      <p:sp>
        <p:nvSpPr>
          <p:cNvPr id="13" name="Text 9"/>
          <p:cNvSpPr/>
          <p:nvPr/>
        </p:nvSpPr>
        <p:spPr>
          <a:xfrm>
            <a:off x="5394960" y="1828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Chat</a:t>
            </a:r>
            <a:endParaRPr lang="en-US" sz="2200" dirty="0"/>
          </a:p>
        </p:txBody>
      </p:sp>
      <p:sp>
        <p:nvSpPr>
          <p:cNvPr id="14" name="Text 10"/>
          <p:cNvSpPr/>
          <p:nvPr/>
        </p:nvSpPr>
        <p:spPr>
          <a:xfrm>
            <a:off x="4572000" y="2606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Ask about code, errors and options in plain language</a:t>
            </a:r>
            <a:endParaRPr lang="en-US" sz="1600" dirty="0"/>
          </a:p>
        </p:txBody>
      </p:sp>
      <p:sp>
        <p:nvSpPr>
          <p:cNvPr id="15" name="Text 11"/>
          <p:cNvSpPr/>
          <p:nvPr/>
        </p:nvSpPr>
        <p:spPr>
          <a:xfrm>
            <a:off x="4572000" y="3273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rial" pitchFamily="34" charset="0"/>
                <a:ea typeface="Arial" pitchFamily="34" charset="-122"/>
                <a:cs typeface="Arial" pitchFamily="34" charset="-120"/>
              </a:rPr>
              <a:t>IDE · GitHub.com · Mobile</a:t>
            </a:r>
            <a:endParaRPr lang="en-US" sz="1200" dirty="0"/>
          </a:p>
        </p:txBody>
      </p:sp>
      <p:sp>
        <p:nvSpPr>
          <p:cNvPr id="16" name="Shape 12"/>
          <p:cNvSpPr/>
          <p:nvPr/>
        </p:nvSpPr>
        <p:spPr>
          <a:xfrm>
            <a:off x="8046720" y="1554480"/>
            <a:ext cx="3566160" cy="2103120"/>
          </a:xfrm>
          <a:prstGeom prst="roundRect">
            <a:avLst>
              <a:gd name="adj" fmla="val 6087"/>
            </a:avLst>
          </a:prstGeom>
          <a:solidFill>
            <a:srgbClr val="FFFFFF"/>
          </a:solidFill>
          <a:ln w="25400">
            <a:solidFill>
              <a:srgbClr val="7B3FE4"/>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21040" y="1828800"/>
            <a:ext cx="640080" cy="640080"/>
          </a:xfrm>
          <a:prstGeom prst="ellipse">
            <a:avLst/>
          </a:prstGeom>
          <a:solidFill>
            <a:srgbClr val="7B3FE4"/>
          </a:solidFill>
          <a:ln/>
        </p:spPr>
      </p:sp>
      <p:pic>
        <p:nvPicPr>
          <p:cNvPr id="18" name="Image 2" descr="preencoded.png">    </p:cNvPr>
          <p:cNvPicPr>
            <a:picLocks noChangeAspect="1"/>
          </p:cNvPicPr>
          <p:nvPr/>
        </p:nvPicPr>
        <p:blipFill>
          <a:blip r:embed="rId3"/>
          <a:stretch>
            <a:fillRect/>
          </a:stretch>
        </p:blipFill>
        <p:spPr>
          <a:xfrm>
            <a:off x="8493862" y="2001622"/>
            <a:ext cx="294437" cy="294437"/>
          </a:xfrm>
          <a:prstGeom prst="rect">
            <a:avLst/>
          </a:prstGeom>
        </p:spPr>
      </p:pic>
      <p:sp>
        <p:nvSpPr>
          <p:cNvPr id="19" name="Text 14"/>
          <p:cNvSpPr/>
          <p:nvPr/>
        </p:nvSpPr>
        <p:spPr>
          <a:xfrm>
            <a:off x="9144000" y="1828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Agent</a:t>
            </a:r>
            <a:endParaRPr lang="en-US" sz="2200" dirty="0"/>
          </a:p>
        </p:txBody>
      </p:sp>
      <p:sp>
        <p:nvSpPr>
          <p:cNvPr id="20" name="Text 15"/>
          <p:cNvSpPr/>
          <p:nvPr/>
        </p:nvSpPr>
        <p:spPr>
          <a:xfrm>
            <a:off x="8321040" y="2606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Edits many files, runs commands and verifies results on its own</a:t>
            </a:r>
            <a:endParaRPr lang="en-US" sz="1600" dirty="0"/>
          </a:p>
        </p:txBody>
      </p:sp>
      <p:sp>
        <p:nvSpPr>
          <p:cNvPr id="21" name="Text 16"/>
          <p:cNvSpPr/>
          <p:nvPr/>
        </p:nvSpPr>
        <p:spPr>
          <a:xfrm>
            <a:off x="8321040" y="3273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rial" pitchFamily="34" charset="0"/>
                <a:ea typeface="Arial" pitchFamily="34" charset="-122"/>
                <a:cs typeface="Arial" pitchFamily="34" charset="-120"/>
              </a:rPr>
              <a:t>IDE · CLI · App</a:t>
            </a:r>
            <a:endParaRPr lang="en-US" sz="1200" dirty="0"/>
          </a:p>
        </p:txBody>
      </p:sp>
      <p:sp>
        <p:nvSpPr>
          <p:cNvPr id="22" name="Shape 17"/>
          <p:cNvSpPr/>
          <p:nvPr/>
        </p:nvSpPr>
        <p:spPr>
          <a:xfrm>
            <a:off x="548640" y="3840480"/>
            <a:ext cx="3566160" cy="2103120"/>
          </a:xfrm>
          <a:prstGeom prst="roundRect">
            <a:avLst>
              <a:gd name="adj" fmla="val 6087"/>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23" name="Shape 18"/>
          <p:cNvSpPr/>
          <p:nvPr/>
        </p:nvSpPr>
        <p:spPr>
          <a:xfrm>
            <a:off x="822960" y="4114800"/>
            <a:ext cx="640080" cy="640080"/>
          </a:xfrm>
          <a:prstGeom prst="ellipse">
            <a:avLst/>
          </a:prstGeom>
          <a:solidFill>
            <a:srgbClr val="0969DA"/>
          </a:solidFill>
          <a:ln/>
        </p:spPr>
      </p:sp>
      <p:pic>
        <p:nvPicPr>
          <p:cNvPr id="24" name="Image 3" descr="preencoded.png">    </p:cNvPr>
          <p:cNvPicPr>
            <a:picLocks noChangeAspect="1"/>
          </p:cNvPicPr>
          <p:nvPr/>
        </p:nvPicPr>
        <p:blipFill>
          <a:blip r:embed="rId4"/>
          <a:stretch>
            <a:fillRect/>
          </a:stretch>
        </p:blipFill>
        <p:spPr>
          <a:xfrm>
            <a:off x="995782" y="4287622"/>
            <a:ext cx="294437" cy="294437"/>
          </a:xfrm>
          <a:prstGeom prst="rect">
            <a:avLst/>
          </a:prstGeom>
        </p:spPr>
      </p:pic>
      <p:sp>
        <p:nvSpPr>
          <p:cNvPr id="25" name="Text 19"/>
          <p:cNvSpPr/>
          <p:nvPr/>
        </p:nvSpPr>
        <p:spPr>
          <a:xfrm>
            <a:off x="1645920" y="4114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Cloud agent</a:t>
            </a:r>
            <a:endParaRPr lang="en-US" sz="2200" dirty="0"/>
          </a:p>
        </p:txBody>
      </p:sp>
      <p:sp>
        <p:nvSpPr>
          <p:cNvPr id="26" name="Text 20"/>
          <p:cNvSpPr/>
          <p:nvPr/>
        </p:nvSpPr>
        <p:spPr>
          <a:xfrm>
            <a:off x="822960" y="4892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Assign an issue; it works in the cloud and opens a PR</a:t>
            </a:r>
            <a:endParaRPr lang="en-US" sz="1600" dirty="0"/>
          </a:p>
        </p:txBody>
      </p:sp>
      <p:sp>
        <p:nvSpPr>
          <p:cNvPr id="27" name="Text 21"/>
          <p:cNvSpPr/>
          <p:nvPr/>
        </p:nvSpPr>
        <p:spPr>
          <a:xfrm>
            <a:off x="822960" y="5559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rial" pitchFamily="34" charset="0"/>
                <a:ea typeface="Arial" pitchFamily="34" charset="-122"/>
                <a:cs typeface="Arial" pitchFamily="34" charset="-120"/>
              </a:rPr>
              <a:t>GitHub.com</a:t>
            </a:r>
            <a:endParaRPr lang="en-US" sz="1200" dirty="0"/>
          </a:p>
        </p:txBody>
      </p:sp>
      <p:sp>
        <p:nvSpPr>
          <p:cNvPr id="28" name="Shape 22"/>
          <p:cNvSpPr/>
          <p:nvPr/>
        </p:nvSpPr>
        <p:spPr>
          <a:xfrm>
            <a:off x="4297680" y="3840480"/>
            <a:ext cx="3566160" cy="2103120"/>
          </a:xfrm>
          <a:prstGeom prst="roundRect">
            <a:avLst>
              <a:gd name="adj" fmla="val 6087"/>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29" name="Shape 23"/>
          <p:cNvSpPr/>
          <p:nvPr/>
        </p:nvSpPr>
        <p:spPr>
          <a:xfrm>
            <a:off x="4572000" y="4114800"/>
            <a:ext cx="640080" cy="640080"/>
          </a:xfrm>
          <a:prstGeom prst="ellipse">
            <a:avLst/>
          </a:prstGeom>
          <a:solidFill>
            <a:srgbClr val="0969DA"/>
          </a:solidFill>
          <a:ln/>
        </p:spPr>
      </p:sp>
      <p:pic>
        <p:nvPicPr>
          <p:cNvPr id="30" name="Image 4" descr="preencoded.png">    </p:cNvPr>
          <p:cNvPicPr>
            <a:picLocks noChangeAspect="1"/>
          </p:cNvPicPr>
          <p:nvPr/>
        </p:nvPicPr>
        <p:blipFill>
          <a:blip r:embed="rId5"/>
          <a:stretch>
            <a:fillRect/>
          </a:stretch>
        </p:blipFill>
        <p:spPr>
          <a:xfrm>
            <a:off x="4744822" y="4287622"/>
            <a:ext cx="294437" cy="294437"/>
          </a:xfrm>
          <a:prstGeom prst="rect">
            <a:avLst/>
          </a:prstGeom>
        </p:spPr>
      </p:pic>
      <p:sp>
        <p:nvSpPr>
          <p:cNvPr id="31" name="Text 24"/>
          <p:cNvSpPr/>
          <p:nvPr/>
        </p:nvSpPr>
        <p:spPr>
          <a:xfrm>
            <a:off x="5394960" y="4114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Code review</a:t>
            </a:r>
            <a:endParaRPr lang="en-US" sz="2200" dirty="0"/>
          </a:p>
        </p:txBody>
      </p:sp>
      <p:sp>
        <p:nvSpPr>
          <p:cNvPr id="32" name="Text 25"/>
          <p:cNvSpPr/>
          <p:nvPr/>
        </p:nvSpPr>
        <p:spPr>
          <a:xfrm>
            <a:off x="4572000" y="4892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Reviews pull requests and proposes fixes</a:t>
            </a:r>
            <a:endParaRPr lang="en-US" sz="1600" dirty="0"/>
          </a:p>
        </p:txBody>
      </p:sp>
      <p:sp>
        <p:nvSpPr>
          <p:cNvPr id="33" name="Text 26"/>
          <p:cNvSpPr/>
          <p:nvPr/>
        </p:nvSpPr>
        <p:spPr>
          <a:xfrm>
            <a:off x="4572000" y="5559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rial" pitchFamily="34" charset="0"/>
                <a:ea typeface="Arial" pitchFamily="34" charset="-122"/>
                <a:cs typeface="Arial" pitchFamily="34" charset="-120"/>
              </a:rPr>
              <a:t>GitHub.com · CLI</a:t>
            </a:r>
            <a:endParaRPr lang="en-US" sz="1200" dirty="0"/>
          </a:p>
        </p:txBody>
      </p:sp>
      <p:sp>
        <p:nvSpPr>
          <p:cNvPr id="34" name="Shape 27"/>
          <p:cNvSpPr/>
          <p:nvPr/>
        </p:nvSpPr>
        <p:spPr>
          <a:xfrm>
            <a:off x="8046720" y="3840480"/>
            <a:ext cx="3566160" cy="2103120"/>
          </a:xfrm>
          <a:prstGeom prst="roundRect">
            <a:avLst>
              <a:gd name="adj" fmla="val 6087"/>
            </a:avLst>
          </a:prstGeom>
          <a:solidFill>
            <a:srgbClr val="FFFFFF"/>
          </a:solidFill>
          <a:ln w="25400">
            <a:solidFill>
              <a:srgbClr val="7B3FE4"/>
            </a:solidFill>
            <a:prstDash val="solid"/>
          </a:ln>
          <a:effectLst>
            <a:outerShdw sx="100000" sy="100000" kx="0" ky="0" algn="bl" rotWithShape="0" blurRad="101600" dist="25400" dir="5400000">
              <a:srgbClr val="000000">
                <a:alpha val="12000"/>
              </a:srgbClr>
            </a:outerShdw>
          </a:effectLst>
        </p:spPr>
      </p:sp>
      <p:sp>
        <p:nvSpPr>
          <p:cNvPr id="35" name="Shape 28"/>
          <p:cNvSpPr/>
          <p:nvPr/>
        </p:nvSpPr>
        <p:spPr>
          <a:xfrm>
            <a:off x="8321040" y="4114800"/>
            <a:ext cx="640080" cy="640080"/>
          </a:xfrm>
          <a:prstGeom prst="ellipse">
            <a:avLst/>
          </a:prstGeom>
          <a:solidFill>
            <a:srgbClr val="7B3FE4"/>
          </a:solidFill>
          <a:ln/>
        </p:spPr>
      </p:sp>
      <p:pic>
        <p:nvPicPr>
          <p:cNvPr id="36" name="Image 5" descr="preencoded.png">    </p:cNvPr>
          <p:cNvPicPr>
            <a:picLocks noChangeAspect="1"/>
          </p:cNvPicPr>
          <p:nvPr/>
        </p:nvPicPr>
        <p:blipFill>
          <a:blip r:embed="rId6"/>
          <a:stretch>
            <a:fillRect/>
          </a:stretch>
        </p:blipFill>
        <p:spPr>
          <a:xfrm>
            <a:off x="8493862" y="4287622"/>
            <a:ext cx="294437" cy="294437"/>
          </a:xfrm>
          <a:prstGeom prst="rect">
            <a:avLst/>
          </a:prstGeom>
        </p:spPr>
      </p:pic>
      <p:sp>
        <p:nvSpPr>
          <p:cNvPr id="37" name="Text 29"/>
          <p:cNvSpPr/>
          <p:nvPr/>
        </p:nvSpPr>
        <p:spPr>
          <a:xfrm>
            <a:off x="9144000" y="4114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Customization</a:t>
            </a:r>
            <a:endParaRPr lang="en-US" sz="2200" dirty="0"/>
          </a:p>
        </p:txBody>
      </p:sp>
      <p:sp>
        <p:nvSpPr>
          <p:cNvPr id="38" name="Text 30"/>
          <p:cNvSpPr/>
          <p:nvPr/>
        </p:nvSpPr>
        <p:spPr>
          <a:xfrm>
            <a:off x="8321040" y="4892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Tailor it with instructions, custom agents, MCP, skills and hooks</a:t>
            </a:r>
            <a:endParaRPr lang="en-US" sz="1600" dirty="0"/>
          </a:p>
        </p:txBody>
      </p:sp>
      <p:sp>
        <p:nvSpPr>
          <p:cNvPr id="39" name="Text 31"/>
          <p:cNvSpPr/>
          <p:nvPr/>
        </p:nvSpPr>
        <p:spPr>
          <a:xfrm>
            <a:off x="8321040" y="5559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rial" pitchFamily="34" charset="0"/>
                <a:ea typeface="Arial" pitchFamily="34" charset="-122"/>
                <a:cs typeface="Arial" pitchFamily="34" charset="-120"/>
              </a:rPr>
              <a:t>All surfaces</a:t>
            </a:r>
            <a:endParaRPr lang="en-US" sz="1200" dirty="0"/>
          </a:p>
        </p:txBody>
      </p:sp>
      <p:sp>
        <p:nvSpPr>
          <p:cNvPr id="40" name="Text 32"/>
          <p:cNvSpPr/>
          <p:nvPr/>
        </p:nvSpPr>
        <p:spPr>
          <a:xfrm>
            <a:off x="548640" y="6108192"/>
            <a:ext cx="4572000" cy="256032"/>
          </a:xfrm>
          <a:prstGeom prst="rect">
            <a:avLst/>
          </a:prstGeom>
          <a:noFill/>
          <a:ln/>
        </p:spPr>
        <p:txBody>
          <a:bodyPr wrap="square" lIns="0" tIns="0" rIns="0" bIns="0" rtlCol="0" anchor="t"/>
          <a:lstStyle/>
          <a:p>
            <a:pPr indent="0" marL="0">
              <a:buNone/>
            </a:pPr>
            <a:r>
              <a:rPr lang="en-US" sz="1300" b="1" dirty="0">
                <a:solidFill>
                  <a:srgbClr val="7B3FE4"/>
                </a:solidFill>
                <a:latin typeface="Arial" pitchFamily="34" charset="0"/>
                <a:ea typeface="Arial" pitchFamily="34" charset="-122"/>
                <a:cs typeface="Arial" pitchFamily="34" charset="-120"/>
              </a:rPr>
              <a:t>Purple border = used directly in today's demo</a:t>
            </a:r>
            <a:endParaRPr lang="en-US" sz="1300" dirty="0"/>
          </a:p>
        </p:txBody>
      </p:sp>
      <p:sp>
        <p:nvSpPr>
          <p:cNvPr id="41" name="Text 33"/>
          <p:cNvSpPr/>
          <p:nvPr/>
        </p:nvSpPr>
        <p:spPr>
          <a:xfrm>
            <a:off x="5120640" y="6108192"/>
            <a:ext cx="6519672" cy="256032"/>
          </a:xfrm>
          <a:prstGeom prst="rect">
            <a:avLst/>
          </a:prstGeom>
          <a:noFill/>
          <a:ln/>
        </p:spPr>
        <p:txBody>
          <a:bodyPr wrap="square" lIns="0" tIns="0" rIns="0" bIns="0" rtlCol="0" anchor="t"/>
          <a:lstStyle/>
          <a:p>
            <a:pPr algn="r" indent="0" marL="0">
              <a:buNone/>
            </a:pPr>
            <a:r>
              <a:rPr lang="en-US" sz="1200" dirty="0">
                <a:solidFill>
                  <a:srgbClr val="59636E"/>
                </a:solidFill>
                <a:latin typeface="Arial" pitchFamily="34" charset="0"/>
                <a:ea typeface="Arial" pitchFamily="34" charset="-122"/>
                <a:cs typeface="Arial" pitchFamily="34" charset="-120"/>
              </a:rPr>
              <a:t>MCP = external tool connections  ·  Skills = task playbooks  ·  Hooks = automatic check rules</a:t>
            </a:r>
            <a:endParaRPr lang="en-US" sz="1200" dirty="0"/>
          </a:p>
        </p:txBody>
      </p:sp>
      <p:sp>
        <p:nvSpPr>
          <p:cNvPr id="42" name="Text 34"/>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3" name="Text 35"/>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1 · GITHUB COPILOT AT A GLANCE</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The same Copilot, wherever you work</a:t>
            </a:r>
            <a:endParaRPr lang="en-US" sz="3200" dirty="0"/>
          </a:p>
        </p:txBody>
      </p:sp>
      <p:sp>
        <p:nvSpPr>
          <p:cNvPr id="4" name="Shape 2"/>
          <p:cNvSpPr/>
          <p:nvPr/>
        </p:nvSpPr>
        <p:spPr>
          <a:xfrm>
            <a:off x="548640" y="1554480"/>
            <a:ext cx="3566160" cy="1874520"/>
          </a:xfrm>
          <a:prstGeom prst="roundRect">
            <a:avLst>
              <a:gd name="adj" fmla="val 6829"/>
            </a:avLst>
          </a:prstGeom>
          <a:solidFill>
            <a:srgbClr val="F6F8FA"/>
          </a:solidFill>
          <a:ln w="12700">
            <a:solidFill>
              <a:srgbClr val="D0D7DE"/>
            </a:solidFill>
            <a:prstDash val="solid"/>
          </a:ln>
        </p:spPr>
      </p:sp>
      <p:sp>
        <p:nvSpPr>
          <p:cNvPr id="5" name="Shape 3"/>
          <p:cNvSpPr/>
          <p:nvPr/>
        </p:nvSpPr>
        <p:spPr>
          <a:xfrm>
            <a:off x="822960" y="1810512"/>
            <a:ext cx="566928" cy="566928"/>
          </a:xfrm>
          <a:prstGeom prst="ellipse">
            <a:avLst/>
          </a:prstGeom>
          <a:solidFill>
            <a:srgbClr val="0969DA"/>
          </a:solidFill>
          <a:ln/>
        </p:spPr>
      </p:sp>
      <p:pic>
        <p:nvPicPr>
          <p:cNvPr id="6" name="Image 0" descr="preencoded.png">    </p:cNvPr>
          <p:cNvPicPr>
            <a:picLocks noChangeAspect="1"/>
          </p:cNvPicPr>
          <p:nvPr/>
        </p:nvPicPr>
        <p:blipFill>
          <a:blip r:embed="rId1"/>
          <a:stretch>
            <a:fillRect/>
          </a:stretch>
        </p:blipFill>
        <p:spPr>
          <a:xfrm>
            <a:off x="976031" y="1963583"/>
            <a:ext cx="260787" cy="260787"/>
          </a:xfrm>
          <a:prstGeom prst="rect">
            <a:avLst/>
          </a:prstGeom>
        </p:spPr>
      </p:pic>
      <p:sp>
        <p:nvSpPr>
          <p:cNvPr id="7" name="Text 4"/>
          <p:cNvSpPr/>
          <p:nvPr/>
        </p:nvSpPr>
        <p:spPr>
          <a:xfrm>
            <a:off x="1554480" y="18105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rial" pitchFamily="34" charset="0"/>
                <a:ea typeface="Arial" pitchFamily="34" charset="-122"/>
                <a:cs typeface="Arial" pitchFamily="34" charset="-120"/>
              </a:rPr>
              <a:t>Copilot app</a:t>
            </a:r>
            <a:endParaRPr lang="en-US" sz="2100" dirty="0"/>
          </a:p>
        </p:txBody>
      </p:sp>
      <p:sp>
        <p:nvSpPr>
          <p:cNvPr id="8" name="Text 5"/>
          <p:cNvSpPr/>
          <p:nvPr/>
        </p:nvSpPr>
        <p:spPr>
          <a:xfrm>
            <a:off x="822960" y="251460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Run agent tasks in parallel; see repositories and PR flow in one view</a:t>
            </a:r>
            <a:endParaRPr lang="en-US" sz="1500" dirty="0"/>
          </a:p>
        </p:txBody>
      </p:sp>
      <p:sp>
        <p:nvSpPr>
          <p:cNvPr id="9" name="Shape 6"/>
          <p:cNvSpPr/>
          <p:nvPr/>
        </p:nvSpPr>
        <p:spPr>
          <a:xfrm>
            <a:off x="4297680" y="1554480"/>
            <a:ext cx="3566160" cy="1874520"/>
          </a:xfrm>
          <a:prstGeom prst="roundRect">
            <a:avLst>
              <a:gd name="adj" fmla="val 6829"/>
            </a:avLst>
          </a:prstGeom>
          <a:solidFill>
            <a:srgbClr val="7B3FE4"/>
          </a:solidFill>
          <a:ln w="12700">
            <a:solidFill>
              <a:srgbClr val="7B3FE4"/>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4572000" y="1810512"/>
            <a:ext cx="566928" cy="56692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725071" y="1963583"/>
            <a:ext cx="260787" cy="260787"/>
          </a:xfrm>
          <a:prstGeom prst="rect">
            <a:avLst/>
          </a:prstGeom>
        </p:spPr>
      </p:pic>
      <p:sp>
        <p:nvSpPr>
          <p:cNvPr id="12" name="Text 8"/>
          <p:cNvSpPr/>
          <p:nvPr/>
        </p:nvSpPr>
        <p:spPr>
          <a:xfrm>
            <a:off x="5303520" y="1810512"/>
            <a:ext cx="2377440" cy="56692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Copilot CLI</a:t>
            </a:r>
            <a:endParaRPr lang="en-US" sz="2100" dirty="0"/>
          </a:p>
        </p:txBody>
      </p:sp>
      <p:sp>
        <p:nvSpPr>
          <p:cNvPr id="13" name="Text 9"/>
          <p:cNvSpPr/>
          <p:nvPr/>
        </p:nvSpPr>
        <p:spPr>
          <a:xfrm>
            <a:off x="4572000" y="2514600"/>
            <a:ext cx="3063240" cy="777240"/>
          </a:xfrm>
          <a:prstGeom prst="rect">
            <a:avLst/>
          </a:prstGeom>
          <a:noFill/>
          <a:ln/>
        </p:spPr>
        <p:txBody>
          <a:bodyPr wrap="square" lIns="0" tIns="0" rIns="0" bIns="0" rtlCol="0" anchor="t"/>
          <a:lstStyle/>
          <a:p>
            <a:pPr indent="0" marL="0">
              <a:buNone/>
            </a:pPr>
            <a:r>
              <a:rPr lang="en-US" sz="1500" dirty="0">
                <a:solidFill>
                  <a:srgbClr val="EADCFF"/>
                </a:solidFill>
                <a:latin typeface="Arial" pitchFamily="34" charset="0"/>
                <a:ea typeface="Arial" pitchFamily="34" charset="-122"/>
                <a:cs typeface="Arial" pitchFamily="34" charset="-120"/>
              </a:rPr>
              <a:t>Run commands in the terminal · repeatable workflows · automation</a:t>
            </a:r>
            <a:endParaRPr lang="en-US" sz="1500" dirty="0"/>
          </a:p>
        </p:txBody>
      </p:sp>
      <p:sp>
        <p:nvSpPr>
          <p:cNvPr id="14" name="Shape 10"/>
          <p:cNvSpPr/>
          <p:nvPr/>
        </p:nvSpPr>
        <p:spPr>
          <a:xfrm>
            <a:off x="6309360" y="3081528"/>
            <a:ext cx="1371600" cy="256032"/>
          </a:xfrm>
          <a:prstGeom prst="roundRect">
            <a:avLst>
              <a:gd name="adj" fmla="val 50000"/>
            </a:avLst>
          </a:prstGeom>
          <a:solidFill>
            <a:srgbClr val="F0B429"/>
          </a:solidFill>
          <a:ln/>
        </p:spPr>
      </p:sp>
      <p:sp>
        <p:nvSpPr>
          <p:cNvPr id="15" name="Text 11"/>
          <p:cNvSpPr/>
          <p:nvPr/>
        </p:nvSpPr>
        <p:spPr>
          <a:xfrm>
            <a:off x="6309360" y="3081528"/>
            <a:ext cx="1371600" cy="256032"/>
          </a:xfrm>
          <a:prstGeom prst="rect">
            <a:avLst/>
          </a:prstGeom>
          <a:noFill/>
          <a:ln/>
        </p:spPr>
        <p:txBody>
          <a:bodyPr wrap="square" lIns="0" tIns="0" rIns="0" bIns="0" rtlCol="0" anchor="ctr"/>
          <a:lstStyle/>
          <a:p>
            <a:pPr algn="ctr" indent="0" marL="0">
              <a:buNone/>
            </a:pPr>
            <a:r>
              <a:rPr lang="en-US" sz="1100" b="1" dirty="0">
                <a:solidFill>
                  <a:srgbClr val="1F2328"/>
                </a:solidFill>
                <a:latin typeface="Arial" pitchFamily="34" charset="0"/>
                <a:ea typeface="Arial" pitchFamily="34" charset="-122"/>
                <a:cs typeface="Arial" pitchFamily="34" charset="-120"/>
              </a:rPr>
              <a:t>Today's focus</a:t>
            </a:r>
            <a:endParaRPr lang="en-US" sz="1100" dirty="0"/>
          </a:p>
        </p:txBody>
      </p:sp>
      <p:sp>
        <p:nvSpPr>
          <p:cNvPr id="16" name="Shape 12"/>
          <p:cNvSpPr/>
          <p:nvPr/>
        </p:nvSpPr>
        <p:spPr>
          <a:xfrm>
            <a:off x="8046720" y="1554480"/>
            <a:ext cx="3566160" cy="1874520"/>
          </a:xfrm>
          <a:prstGeom prst="roundRect">
            <a:avLst>
              <a:gd name="adj" fmla="val 6829"/>
            </a:avLst>
          </a:prstGeom>
          <a:solidFill>
            <a:srgbClr val="F6F8FA"/>
          </a:solidFill>
          <a:ln w="12700">
            <a:solidFill>
              <a:srgbClr val="D0D7DE"/>
            </a:solidFill>
            <a:prstDash val="solid"/>
          </a:ln>
        </p:spPr>
      </p:sp>
      <p:sp>
        <p:nvSpPr>
          <p:cNvPr id="17" name="Shape 13"/>
          <p:cNvSpPr/>
          <p:nvPr/>
        </p:nvSpPr>
        <p:spPr>
          <a:xfrm>
            <a:off x="8321040" y="1810512"/>
            <a:ext cx="566928" cy="566928"/>
          </a:xfrm>
          <a:prstGeom prst="ellipse">
            <a:avLst/>
          </a:prstGeom>
          <a:solidFill>
            <a:srgbClr val="0969DA"/>
          </a:solidFill>
          <a:ln/>
        </p:spPr>
      </p:sp>
      <p:pic>
        <p:nvPicPr>
          <p:cNvPr id="18" name="Image 2" descr="preencoded.png">    </p:cNvPr>
          <p:cNvPicPr>
            <a:picLocks noChangeAspect="1"/>
          </p:cNvPicPr>
          <p:nvPr/>
        </p:nvPicPr>
        <p:blipFill>
          <a:blip r:embed="rId3"/>
          <a:stretch>
            <a:fillRect/>
          </a:stretch>
        </p:blipFill>
        <p:spPr>
          <a:xfrm>
            <a:off x="8474111" y="1963583"/>
            <a:ext cx="260787" cy="260787"/>
          </a:xfrm>
          <a:prstGeom prst="rect">
            <a:avLst/>
          </a:prstGeom>
        </p:spPr>
      </p:pic>
      <p:sp>
        <p:nvSpPr>
          <p:cNvPr id="19" name="Text 14"/>
          <p:cNvSpPr/>
          <p:nvPr/>
        </p:nvSpPr>
        <p:spPr>
          <a:xfrm>
            <a:off x="9052560" y="18105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rial" pitchFamily="34" charset="0"/>
                <a:ea typeface="Arial" pitchFamily="34" charset="-122"/>
                <a:cs typeface="Arial" pitchFamily="34" charset="-120"/>
              </a:rPr>
              <a:t>IDE</a:t>
            </a:r>
            <a:endParaRPr lang="en-US" sz="2100" dirty="0"/>
          </a:p>
        </p:txBody>
      </p:sp>
      <p:sp>
        <p:nvSpPr>
          <p:cNvPr id="20" name="Text 15"/>
          <p:cNvSpPr/>
          <p:nvPr/>
        </p:nvSpPr>
        <p:spPr>
          <a:xfrm>
            <a:off x="8321040" y="251460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Suggestions, chat and agents in VS Code, Visual Studio, JetBrains, Eclipse and Xcode</a:t>
            </a:r>
            <a:endParaRPr lang="en-US" sz="1500" dirty="0"/>
          </a:p>
        </p:txBody>
      </p:sp>
      <p:sp>
        <p:nvSpPr>
          <p:cNvPr id="21" name="Shape 16"/>
          <p:cNvSpPr/>
          <p:nvPr/>
        </p:nvSpPr>
        <p:spPr>
          <a:xfrm>
            <a:off x="548640" y="3611880"/>
            <a:ext cx="3566160" cy="1874520"/>
          </a:xfrm>
          <a:prstGeom prst="roundRect">
            <a:avLst>
              <a:gd name="adj" fmla="val 6829"/>
            </a:avLst>
          </a:prstGeom>
          <a:solidFill>
            <a:srgbClr val="F6F8FA"/>
          </a:solidFill>
          <a:ln w="12700">
            <a:solidFill>
              <a:srgbClr val="D0D7DE"/>
            </a:solidFill>
            <a:prstDash val="solid"/>
          </a:ln>
        </p:spPr>
      </p:sp>
      <p:sp>
        <p:nvSpPr>
          <p:cNvPr id="22" name="Shape 17"/>
          <p:cNvSpPr/>
          <p:nvPr/>
        </p:nvSpPr>
        <p:spPr>
          <a:xfrm>
            <a:off x="822960" y="3867912"/>
            <a:ext cx="566928" cy="566928"/>
          </a:xfrm>
          <a:prstGeom prst="ellipse">
            <a:avLst/>
          </a:prstGeom>
          <a:solidFill>
            <a:srgbClr val="0969DA"/>
          </a:solidFill>
          <a:ln/>
        </p:spPr>
      </p:sp>
      <p:pic>
        <p:nvPicPr>
          <p:cNvPr id="23" name="Image 3" descr="preencoded.png">    </p:cNvPr>
          <p:cNvPicPr>
            <a:picLocks noChangeAspect="1"/>
          </p:cNvPicPr>
          <p:nvPr/>
        </p:nvPicPr>
        <p:blipFill>
          <a:blip r:embed="rId4"/>
          <a:stretch>
            <a:fillRect/>
          </a:stretch>
        </p:blipFill>
        <p:spPr>
          <a:xfrm>
            <a:off x="976031" y="4020983"/>
            <a:ext cx="260787" cy="260787"/>
          </a:xfrm>
          <a:prstGeom prst="rect">
            <a:avLst/>
          </a:prstGeom>
        </p:spPr>
      </p:pic>
      <p:sp>
        <p:nvSpPr>
          <p:cNvPr id="24" name="Text 18"/>
          <p:cNvSpPr/>
          <p:nvPr/>
        </p:nvSpPr>
        <p:spPr>
          <a:xfrm>
            <a:off x="1554480" y="38679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rial" pitchFamily="34" charset="0"/>
                <a:ea typeface="Arial" pitchFamily="34" charset="-122"/>
                <a:cs typeface="Arial" pitchFamily="34" charset="-120"/>
              </a:rPr>
              <a:t>GitHub.com</a:t>
            </a:r>
            <a:endParaRPr lang="en-US" sz="2100" dirty="0"/>
          </a:p>
        </p:txBody>
      </p:sp>
      <p:sp>
        <p:nvSpPr>
          <p:cNvPr id="25" name="Text 19"/>
          <p:cNvSpPr/>
          <p:nvPr/>
        </p:nvSpPr>
        <p:spPr>
          <a:xfrm>
            <a:off x="822960" y="457200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Ask questions in issues and PRs, and delegate work to agents</a:t>
            </a:r>
            <a:endParaRPr lang="en-US" sz="1500" dirty="0"/>
          </a:p>
        </p:txBody>
      </p:sp>
      <p:sp>
        <p:nvSpPr>
          <p:cNvPr id="26" name="Shape 20"/>
          <p:cNvSpPr/>
          <p:nvPr/>
        </p:nvSpPr>
        <p:spPr>
          <a:xfrm>
            <a:off x="4297680" y="3611880"/>
            <a:ext cx="3566160" cy="1874520"/>
          </a:xfrm>
          <a:prstGeom prst="roundRect">
            <a:avLst>
              <a:gd name="adj" fmla="val 6829"/>
            </a:avLst>
          </a:prstGeom>
          <a:solidFill>
            <a:srgbClr val="F6F8FA"/>
          </a:solidFill>
          <a:ln w="12700">
            <a:solidFill>
              <a:srgbClr val="D0D7DE"/>
            </a:solidFill>
            <a:prstDash val="solid"/>
          </a:ln>
        </p:spPr>
      </p:sp>
      <p:sp>
        <p:nvSpPr>
          <p:cNvPr id="27" name="Shape 21"/>
          <p:cNvSpPr/>
          <p:nvPr/>
        </p:nvSpPr>
        <p:spPr>
          <a:xfrm>
            <a:off x="4572000" y="3867912"/>
            <a:ext cx="566928" cy="566928"/>
          </a:xfrm>
          <a:prstGeom prst="ellipse">
            <a:avLst/>
          </a:prstGeom>
          <a:solidFill>
            <a:srgbClr val="0969DA"/>
          </a:solidFill>
          <a:ln/>
        </p:spPr>
      </p:sp>
      <p:pic>
        <p:nvPicPr>
          <p:cNvPr id="28" name="Image 4" descr="preencoded.png">    </p:cNvPr>
          <p:cNvPicPr>
            <a:picLocks noChangeAspect="1"/>
          </p:cNvPicPr>
          <p:nvPr/>
        </p:nvPicPr>
        <p:blipFill>
          <a:blip r:embed="rId5"/>
          <a:stretch>
            <a:fillRect/>
          </a:stretch>
        </p:blipFill>
        <p:spPr>
          <a:xfrm>
            <a:off x="4725071" y="4020983"/>
            <a:ext cx="260787" cy="260787"/>
          </a:xfrm>
          <a:prstGeom prst="rect">
            <a:avLst/>
          </a:prstGeom>
        </p:spPr>
      </p:pic>
      <p:sp>
        <p:nvSpPr>
          <p:cNvPr id="29" name="Text 22"/>
          <p:cNvSpPr/>
          <p:nvPr/>
        </p:nvSpPr>
        <p:spPr>
          <a:xfrm>
            <a:off x="5303520" y="38679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rial" pitchFamily="34" charset="0"/>
                <a:ea typeface="Arial" pitchFamily="34" charset="-122"/>
                <a:cs typeface="Arial" pitchFamily="34" charset="-120"/>
              </a:rPr>
              <a:t>GitHub Mobile</a:t>
            </a:r>
            <a:endParaRPr lang="en-US" sz="2100" dirty="0"/>
          </a:p>
        </p:txBody>
      </p:sp>
      <p:sp>
        <p:nvSpPr>
          <p:cNvPr id="30" name="Text 23"/>
          <p:cNvSpPr/>
          <p:nvPr/>
        </p:nvSpPr>
        <p:spPr>
          <a:xfrm>
            <a:off x="4572000" y="457200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Ask questions and check progress on the go</a:t>
            </a:r>
            <a:endParaRPr lang="en-US" sz="1500" dirty="0"/>
          </a:p>
        </p:txBody>
      </p:sp>
      <p:sp>
        <p:nvSpPr>
          <p:cNvPr id="31" name="Shape 24"/>
          <p:cNvSpPr/>
          <p:nvPr/>
        </p:nvSpPr>
        <p:spPr>
          <a:xfrm>
            <a:off x="8046720" y="3611880"/>
            <a:ext cx="3566160" cy="1874520"/>
          </a:xfrm>
          <a:prstGeom prst="roundRect">
            <a:avLst>
              <a:gd name="adj" fmla="val 6829"/>
            </a:avLst>
          </a:prstGeom>
          <a:solidFill>
            <a:srgbClr val="F6F8FA"/>
          </a:solidFill>
          <a:ln w="12700">
            <a:solidFill>
              <a:srgbClr val="D0D7DE"/>
            </a:solidFill>
            <a:prstDash val="solid"/>
          </a:ln>
        </p:spPr>
      </p:sp>
      <p:sp>
        <p:nvSpPr>
          <p:cNvPr id="32" name="Shape 25"/>
          <p:cNvSpPr/>
          <p:nvPr/>
        </p:nvSpPr>
        <p:spPr>
          <a:xfrm>
            <a:off x="8321040" y="3867912"/>
            <a:ext cx="566928" cy="566928"/>
          </a:xfrm>
          <a:prstGeom prst="ellipse">
            <a:avLst/>
          </a:prstGeom>
          <a:solidFill>
            <a:srgbClr val="0969DA"/>
          </a:solidFill>
          <a:ln/>
        </p:spPr>
      </p:sp>
      <p:pic>
        <p:nvPicPr>
          <p:cNvPr id="33" name="Image 5" descr="preencoded.png">    </p:cNvPr>
          <p:cNvPicPr>
            <a:picLocks noChangeAspect="1"/>
          </p:cNvPicPr>
          <p:nvPr/>
        </p:nvPicPr>
        <p:blipFill>
          <a:blip r:embed="rId6"/>
          <a:stretch>
            <a:fillRect/>
          </a:stretch>
        </p:blipFill>
        <p:spPr>
          <a:xfrm>
            <a:off x="8474111" y="4020983"/>
            <a:ext cx="260787" cy="260787"/>
          </a:xfrm>
          <a:prstGeom prst="rect">
            <a:avLst/>
          </a:prstGeom>
        </p:spPr>
      </p:pic>
      <p:sp>
        <p:nvSpPr>
          <p:cNvPr id="34" name="Text 26"/>
          <p:cNvSpPr/>
          <p:nvPr/>
        </p:nvSpPr>
        <p:spPr>
          <a:xfrm>
            <a:off x="9052560" y="38679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rial" pitchFamily="34" charset="0"/>
                <a:ea typeface="Arial" pitchFamily="34" charset="-122"/>
                <a:cs typeface="Arial" pitchFamily="34" charset="-120"/>
              </a:rPr>
              <a:t>Copilot SDK</a:t>
            </a:r>
            <a:endParaRPr lang="en-US" sz="2100" dirty="0"/>
          </a:p>
        </p:txBody>
      </p:sp>
      <p:sp>
        <p:nvSpPr>
          <p:cNvPr id="35" name="Text 27"/>
          <p:cNvSpPr/>
          <p:nvPr/>
        </p:nvSpPr>
        <p:spPr>
          <a:xfrm>
            <a:off x="8321040" y="457200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Build Copilot capabilities into your own services and tools</a:t>
            </a:r>
            <a:endParaRPr lang="en-US" sz="1500" dirty="0"/>
          </a:p>
        </p:txBody>
      </p:sp>
      <p:sp>
        <p:nvSpPr>
          <p:cNvPr id="36" name="Shape 28"/>
          <p:cNvSpPr/>
          <p:nvPr/>
        </p:nvSpPr>
        <p:spPr>
          <a:xfrm>
            <a:off x="548640" y="5623560"/>
            <a:ext cx="11064240" cy="566928"/>
          </a:xfrm>
          <a:prstGeom prst="roundRect">
            <a:avLst>
              <a:gd name="adj" fmla="val 22581"/>
            </a:avLst>
          </a:prstGeom>
          <a:solidFill>
            <a:srgbClr val="F1E9FF"/>
          </a:solidFill>
          <a:ln/>
        </p:spPr>
      </p:sp>
      <p:sp>
        <p:nvSpPr>
          <p:cNvPr id="37" name="Text 29"/>
          <p:cNvSpPr/>
          <p:nvPr/>
        </p:nvSpPr>
        <p:spPr>
          <a:xfrm>
            <a:off x="777240" y="5623560"/>
            <a:ext cx="10607040" cy="566928"/>
          </a:xfrm>
          <a:prstGeom prst="rect">
            <a:avLst/>
          </a:prstGeom>
          <a:noFill/>
          <a:ln/>
        </p:spPr>
        <p:txBody>
          <a:bodyPr wrap="square" lIns="0" tIns="0" rIns="0" bIns="0" rtlCol="0" anchor="ctr"/>
          <a:lstStyle/>
          <a:p>
            <a:pPr indent="0" marL="0">
              <a:buNone/>
            </a:pPr>
            <a:r>
              <a:rPr lang="en-US" sz="1400" b="1" dirty="0">
                <a:solidFill>
                  <a:srgbClr val="5A2EB0"/>
                </a:solidFill>
                <a:latin typeface="Arial" pitchFamily="34" charset="0"/>
                <a:ea typeface="Arial" pitchFamily="34" charset="-122"/>
                <a:cs typeface="Arial" pitchFamily="34" charset="-120"/>
              </a:rPr>
              <a:t>Instructions, skills, MCP and model choice are shared across surfaces (support varies by feature)</a:t>
            </a:r>
            <a:endParaRPr lang="en-US" sz="1400" dirty="0"/>
          </a:p>
        </p:txBody>
      </p:sp>
      <p:sp>
        <p:nvSpPr>
          <p:cNvPr id="38" name="Text 3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39" name="Text 3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1 · GITHUB COPILOT AT A GLANCE</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Copilot CLI: the AI agent in your terminal</a:t>
            </a:r>
            <a:endParaRPr lang="en-US" sz="3000" dirty="0"/>
          </a:p>
        </p:txBody>
      </p:sp>
      <p:sp>
        <p:nvSpPr>
          <p:cNvPr id="4" name="Shape 2"/>
          <p:cNvSpPr/>
          <p:nvPr/>
        </p:nvSpPr>
        <p:spPr>
          <a:xfrm>
            <a:off x="548640" y="1554480"/>
            <a:ext cx="603504" cy="603504"/>
          </a:xfrm>
          <a:prstGeom prst="ellipse">
            <a:avLst/>
          </a:prstGeom>
          <a:solidFill>
            <a:srgbClr val="7B3FE4"/>
          </a:solidFill>
          <a:ln/>
        </p:spPr>
      </p:sp>
      <p:pic>
        <p:nvPicPr>
          <p:cNvPr id="5" name="Image 0" descr="preencoded.png">    </p:cNvPr>
          <p:cNvPicPr>
            <a:picLocks noChangeAspect="1"/>
          </p:cNvPicPr>
          <p:nvPr/>
        </p:nvPicPr>
        <p:blipFill>
          <a:blip r:embed="rId1"/>
          <a:stretch>
            <a:fillRect/>
          </a:stretch>
        </p:blipFill>
        <p:spPr>
          <a:xfrm>
            <a:off x="711586" y="1717426"/>
            <a:ext cx="277612" cy="277612"/>
          </a:xfrm>
          <a:prstGeom prst="rect">
            <a:avLst/>
          </a:prstGeom>
        </p:spPr>
      </p:pic>
      <p:sp>
        <p:nvSpPr>
          <p:cNvPr id="6" name="Text 3"/>
          <p:cNvSpPr/>
          <p:nvPr/>
        </p:nvSpPr>
        <p:spPr>
          <a:xfrm>
            <a:off x="1371600" y="1536192"/>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rial" pitchFamily="34" charset="0"/>
                <a:ea typeface="Arial" pitchFamily="34" charset="-122"/>
                <a:cs typeface="Arial" pitchFamily="34" charset="-120"/>
              </a:rPr>
              <a:t>Interactive · Non-interactive</a:t>
            </a:r>
            <a:endParaRPr lang="en-US" sz="1900" dirty="0"/>
          </a:p>
        </p:txBody>
      </p:sp>
      <p:sp>
        <p:nvSpPr>
          <p:cNvPr id="7" name="Text 4"/>
          <p:cNvSpPr/>
          <p:nvPr/>
        </p:nvSpPr>
        <p:spPr>
          <a:xfrm>
            <a:off x="1371600" y="1883664"/>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Work in conversation with a person, or run once from a script</a:t>
            </a:r>
            <a:endParaRPr lang="en-US" sz="1500" dirty="0"/>
          </a:p>
        </p:txBody>
      </p:sp>
      <p:sp>
        <p:nvSpPr>
          <p:cNvPr id="8" name="Shape 5"/>
          <p:cNvSpPr/>
          <p:nvPr/>
        </p:nvSpPr>
        <p:spPr>
          <a:xfrm>
            <a:off x="548640" y="2441448"/>
            <a:ext cx="603504" cy="603504"/>
          </a:xfrm>
          <a:prstGeom prst="ellipse">
            <a:avLst/>
          </a:prstGeom>
          <a:solidFill>
            <a:srgbClr val="7B3FE4"/>
          </a:solidFill>
          <a:ln/>
        </p:spPr>
      </p:sp>
      <p:pic>
        <p:nvPicPr>
          <p:cNvPr id="9" name="Image 1" descr="preencoded.png">    </p:cNvPr>
          <p:cNvPicPr>
            <a:picLocks noChangeAspect="1"/>
          </p:cNvPicPr>
          <p:nvPr/>
        </p:nvPicPr>
        <p:blipFill>
          <a:blip r:embed="rId2"/>
          <a:stretch>
            <a:fillRect/>
          </a:stretch>
        </p:blipFill>
        <p:spPr>
          <a:xfrm>
            <a:off x="711586" y="2604394"/>
            <a:ext cx="277612" cy="277612"/>
          </a:xfrm>
          <a:prstGeom prst="rect">
            <a:avLst/>
          </a:prstGeom>
        </p:spPr>
      </p:pic>
      <p:sp>
        <p:nvSpPr>
          <p:cNvPr id="10" name="Text 6"/>
          <p:cNvSpPr/>
          <p:nvPr/>
        </p:nvSpPr>
        <p:spPr>
          <a:xfrm>
            <a:off x="1371600" y="2423160"/>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rial" pitchFamily="34" charset="0"/>
                <a:ea typeface="Arial" pitchFamily="34" charset="-122"/>
                <a:cs typeface="Arial" pitchFamily="34" charset="-120"/>
              </a:rPr>
              <a:t>Plan · Autopilot</a:t>
            </a:r>
            <a:endParaRPr lang="en-US" sz="1900" dirty="0"/>
          </a:p>
        </p:txBody>
      </p:sp>
      <p:sp>
        <p:nvSpPr>
          <p:cNvPr id="11" name="Text 7"/>
          <p:cNvSpPr/>
          <p:nvPr/>
        </p:nvSpPr>
        <p:spPr>
          <a:xfrm>
            <a:off x="1371600" y="2770632"/>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Approve the plan first; run autonomously when needed</a:t>
            </a:r>
            <a:endParaRPr lang="en-US" sz="1500" dirty="0"/>
          </a:p>
        </p:txBody>
      </p:sp>
      <p:sp>
        <p:nvSpPr>
          <p:cNvPr id="12" name="Shape 8"/>
          <p:cNvSpPr/>
          <p:nvPr/>
        </p:nvSpPr>
        <p:spPr>
          <a:xfrm>
            <a:off x="548640" y="3328416"/>
            <a:ext cx="603504" cy="603504"/>
          </a:xfrm>
          <a:prstGeom prst="ellipse">
            <a:avLst/>
          </a:prstGeom>
          <a:solidFill>
            <a:srgbClr val="7B3FE4"/>
          </a:solidFill>
          <a:ln/>
        </p:spPr>
      </p:sp>
      <p:pic>
        <p:nvPicPr>
          <p:cNvPr id="13" name="Image 2" descr="preencoded.png">    </p:cNvPr>
          <p:cNvPicPr>
            <a:picLocks noChangeAspect="1"/>
          </p:cNvPicPr>
          <p:nvPr/>
        </p:nvPicPr>
        <p:blipFill>
          <a:blip r:embed="rId3"/>
          <a:stretch>
            <a:fillRect/>
          </a:stretch>
        </p:blipFill>
        <p:spPr>
          <a:xfrm>
            <a:off x="711586" y="3491362"/>
            <a:ext cx="277612" cy="277612"/>
          </a:xfrm>
          <a:prstGeom prst="rect">
            <a:avLst/>
          </a:prstGeom>
        </p:spPr>
      </p:pic>
      <p:sp>
        <p:nvSpPr>
          <p:cNvPr id="14" name="Text 9"/>
          <p:cNvSpPr/>
          <p:nvPr/>
        </p:nvSpPr>
        <p:spPr>
          <a:xfrm>
            <a:off x="1371600" y="3310128"/>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rial" pitchFamily="34" charset="0"/>
                <a:ea typeface="Arial" pitchFamily="34" charset="-122"/>
                <a:cs typeface="Arial" pitchFamily="34" charset="-120"/>
              </a:rPr>
              <a:t>Permission prompts</a:t>
            </a:r>
            <a:endParaRPr lang="en-US" sz="1900" dirty="0"/>
          </a:p>
        </p:txBody>
      </p:sp>
      <p:sp>
        <p:nvSpPr>
          <p:cNvPr id="15" name="Text 10"/>
          <p:cNvSpPr/>
          <p:nvPr/>
        </p:nvSpPr>
        <p:spPr>
          <a:xfrm>
            <a:off x="1371600" y="3657600"/>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Allow or deny per command, file or URL; risky actions ask first</a:t>
            </a:r>
            <a:endParaRPr lang="en-US" sz="1500" dirty="0"/>
          </a:p>
        </p:txBody>
      </p:sp>
      <p:sp>
        <p:nvSpPr>
          <p:cNvPr id="16" name="Shape 11"/>
          <p:cNvSpPr/>
          <p:nvPr/>
        </p:nvSpPr>
        <p:spPr>
          <a:xfrm>
            <a:off x="548640" y="4215384"/>
            <a:ext cx="603504" cy="603504"/>
          </a:xfrm>
          <a:prstGeom prst="ellipse">
            <a:avLst/>
          </a:prstGeom>
          <a:solidFill>
            <a:srgbClr val="7B3FE4"/>
          </a:solidFill>
          <a:ln/>
        </p:spPr>
      </p:sp>
      <p:pic>
        <p:nvPicPr>
          <p:cNvPr id="17" name="Image 3" descr="preencoded.png">    </p:cNvPr>
          <p:cNvPicPr>
            <a:picLocks noChangeAspect="1"/>
          </p:cNvPicPr>
          <p:nvPr/>
        </p:nvPicPr>
        <p:blipFill>
          <a:blip r:embed="rId4"/>
          <a:stretch>
            <a:fillRect/>
          </a:stretch>
        </p:blipFill>
        <p:spPr>
          <a:xfrm>
            <a:off x="711586" y="4378330"/>
            <a:ext cx="277612" cy="277612"/>
          </a:xfrm>
          <a:prstGeom prst="rect">
            <a:avLst/>
          </a:prstGeom>
        </p:spPr>
      </p:pic>
      <p:sp>
        <p:nvSpPr>
          <p:cNvPr id="18" name="Text 12"/>
          <p:cNvSpPr/>
          <p:nvPr/>
        </p:nvSpPr>
        <p:spPr>
          <a:xfrm>
            <a:off x="1371600" y="4197096"/>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rial" pitchFamily="34" charset="0"/>
                <a:ea typeface="Arial" pitchFamily="34" charset="-122"/>
                <a:cs typeface="Arial" pitchFamily="34" charset="-120"/>
              </a:rPr>
              <a:t>Parallel · Delegation</a:t>
            </a:r>
            <a:endParaRPr lang="en-US" sz="1900" dirty="0"/>
          </a:p>
        </p:txBody>
      </p:sp>
      <p:sp>
        <p:nvSpPr>
          <p:cNvPr id="19" name="Text 13"/>
          <p:cNvSpPr/>
          <p:nvPr/>
        </p:nvSpPr>
        <p:spPr>
          <a:xfrm>
            <a:off x="1371600" y="4544568"/>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Run several tasks at once, or delegate them to the cloud</a:t>
            </a:r>
            <a:endParaRPr lang="en-US" sz="1500" dirty="0"/>
          </a:p>
        </p:txBody>
      </p:sp>
      <p:sp>
        <p:nvSpPr>
          <p:cNvPr id="20" name="Shape 14"/>
          <p:cNvSpPr/>
          <p:nvPr/>
        </p:nvSpPr>
        <p:spPr>
          <a:xfrm>
            <a:off x="548640" y="5102352"/>
            <a:ext cx="603504" cy="603504"/>
          </a:xfrm>
          <a:prstGeom prst="ellipse">
            <a:avLst/>
          </a:prstGeom>
          <a:solidFill>
            <a:srgbClr val="7B3FE4"/>
          </a:solidFill>
          <a:ln/>
        </p:spPr>
      </p:sp>
      <p:pic>
        <p:nvPicPr>
          <p:cNvPr id="21" name="Image 4" descr="preencoded.png">    </p:cNvPr>
          <p:cNvPicPr>
            <a:picLocks noChangeAspect="1"/>
          </p:cNvPicPr>
          <p:nvPr/>
        </p:nvPicPr>
        <p:blipFill>
          <a:blip r:embed="rId5"/>
          <a:stretch>
            <a:fillRect/>
          </a:stretch>
        </p:blipFill>
        <p:spPr>
          <a:xfrm>
            <a:off x="711586" y="5265298"/>
            <a:ext cx="277612" cy="277612"/>
          </a:xfrm>
          <a:prstGeom prst="rect">
            <a:avLst/>
          </a:prstGeom>
        </p:spPr>
      </p:pic>
      <p:sp>
        <p:nvSpPr>
          <p:cNvPr id="22" name="Text 15"/>
          <p:cNvSpPr/>
          <p:nvPr/>
        </p:nvSpPr>
        <p:spPr>
          <a:xfrm>
            <a:off x="1371600" y="5084064"/>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rial" pitchFamily="34" charset="0"/>
                <a:ea typeface="Arial" pitchFamily="34" charset="-122"/>
                <a:cs typeface="Arial" pitchFamily="34" charset="-120"/>
              </a:rPr>
              <a:t>Remote access</a:t>
            </a:r>
            <a:endParaRPr lang="en-US" sz="1900" dirty="0"/>
          </a:p>
        </p:txBody>
      </p:sp>
      <p:sp>
        <p:nvSpPr>
          <p:cNvPr id="23" name="Text 16"/>
          <p:cNvSpPr/>
          <p:nvPr/>
        </p:nvSpPr>
        <p:spPr>
          <a:xfrm>
            <a:off x="1371600" y="5431536"/>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Check running sessions from the web or mobile, and respond</a:t>
            </a:r>
            <a:endParaRPr lang="en-US" sz="1500" dirty="0"/>
          </a:p>
        </p:txBody>
      </p:sp>
      <p:sp>
        <p:nvSpPr>
          <p:cNvPr id="24" name="Shape 17"/>
          <p:cNvSpPr/>
          <p:nvPr/>
        </p:nvSpPr>
        <p:spPr>
          <a:xfrm>
            <a:off x="7178040" y="1554480"/>
            <a:ext cx="4434840" cy="4343400"/>
          </a:xfrm>
          <a:prstGeom prst="roundRect">
            <a:avLst>
              <a:gd name="adj" fmla="val 3789"/>
            </a:avLst>
          </a:prstGeom>
          <a:solidFill>
            <a:srgbClr val="0D1117"/>
          </a:solidFill>
          <a:ln w="12700">
            <a:solidFill>
              <a:srgbClr val="0D1117"/>
            </a:solidFill>
            <a:prstDash val="solid"/>
          </a:ln>
        </p:spPr>
      </p:sp>
      <p:sp>
        <p:nvSpPr>
          <p:cNvPr id="25" name="Text 18"/>
          <p:cNvSpPr/>
          <p:nvPr/>
        </p:nvSpPr>
        <p:spPr>
          <a:xfrm>
            <a:off x="7498080" y="1828800"/>
            <a:ext cx="3840480" cy="45720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Why the terminal?</a:t>
            </a:r>
            <a:endParaRPr lang="en-US" sz="2400" dirty="0"/>
          </a:p>
        </p:txBody>
      </p:sp>
      <p:sp>
        <p:nvSpPr>
          <p:cNvPr id="26" name="Text 19"/>
          <p:cNvSpPr/>
          <p:nvPr/>
        </p:nvSpPr>
        <p:spPr>
          <a:xfrm>
            <a:off x="7498080" y="2468880"/>
            <a:ext cx="3840480" cy="411480"/>
          </a:xfrm>
          <a:prstGeom prst="rect">
            <a:avLst/>
          </a:prstGeom>
          <a:noFill/>
          <a:ln/>
        </p:spPr>
        <p:txBody>
          <a:bodyPr wrap="square" lIns="0" tIns="0" rIns="0" bIns="0" rtlCol="0" anchor="t"/>
          <a:lstStyle/>
          <a:p>
            <a:pPr indent="0" marL="0">
              <a:buNone/>
            </a:pPr>
            <a:r>
              <a:rPr lang="en-US" sz="2000" b="1" dirty="0">
                <a:solidFill>
                  <a:srgbClr val="A371F7"/>
                </a:solidFill>
                <a:latin typeface="Arial" pitchFamily="34" charset="0"/>
                <a:ea typeface="Arial" pitchFamily="34" charset="-122"/>
                <a:cs typeface="Arial" pitchFamily="34" charset="-120"/>
              </a:rPr>
              <a:t>Where dev and ops meet</a:t>
            </a:r>
            <a:endParaRPr lang="en-US" sz="2000" dirty="0"/>
          </a:p>
        </p:txBody>
      </p:sp>
      <p:sp>
        <p:nvSpPr>
          <p:cNvPr id="27" name="Text 20"/>
          <p:cNvSpPr/>
          <p:nvPr/>
        </p:nvSpPr>
        <p:spPr>
          <a:xfrm>
            <a:off x="7498080" y="2971800"/>
            <a:ext cx="3840480" cy="868680"/>
          </a:xfrm>
          <a:prstGeom prst="rect">
            <a:avLst/>
          </a:prstGeom>
          <a:noFill/>
          <a:ln/>
        </p:spPr>
        <p:txBody>
          <a:bodyPr wrap="square" lIns="0" tIns="0" rIns="0" bIns="0" rtlCol="0" anchor="t"/>
          <a:lstStyle/>
          <a:p>
            <a:pPr indent="0" marL="0">
              <a:buNone/>
            </a:pPr>
            <a:r>
              <a:rPr lang="en-US" sz="1600" dirty="0">
                <a:solidFill>
                  <a:srgbClr val="C9D1D9"/>
                </a:solidFill>
                <a:latin typeface="Arial" pitchFamily="34" charset="0"/>
                <a:ea typeface="Arial" pitchFamily="34" charset="-122"/>
                <a:cs typeface="Arial" pitchFamily="34" charset="-120"/>
              </a:rPr>
              <a:t>Git, builds, tests, deployments, cloud CLIs and logs all live in the terminal.</a:t>
            </a:r>
            <a:endParaRPr lang="en-US" sz="1600" dirty="0"/>
          </a:p>
        </p:txBody>
      </p:sp>
      <p:sp>
        <p:nvSpPr>
          <p:cNvPr id="28" name="Text 21"/>
          <p:cNvSpPr/>
          <p:nvPr/>
        </p:nvSpPr>
        <p:spPr>
          <a:xfrm>
            <a:off x="7498080" y="3931920"/>
            <a:ext cx="3840480" cy="868680"/>
          </a:xfrm>
          <a:prstGeom prst="rect">
            <a:avLst/>
          </a:prstGeom>
          <a:noFill/>
          <a:ln/>
        </p:spPr>
        <p:txBody>
          <a:bodyPr wrap="square" lIns="0" tIns="0" rIns="0" bIns="0" rtlCol="0" anchor="t"/>
          <a:lstStyle/>
          <a:p>
            <a:pPr indent="0" marL="0">
              <a:buNone/>
            </a:pPr>
            <a:r>
              <a:rPr lang="en-US" sz="1600" dirty="0">
                <a:solidFill>
                  <a:srgbClr val="C9D1D9"/>
                </a:solidFill>
                <a:latin typeface="Arial" pitchFamily="34" charset="0"/>
                <a:ea typeface="Arial" pitchFamily="34" charset="-122"/>
                <a:cs typeface="Arial" pitchFamily="34" charset="-120"/>
              </a:rPr>
              <a:t>So the whole flow from request to operations can run in a single session.</a:t>
            </a:r>
            <a:endParaRPr lang="en-US" sz="1600" dirty="0"/>
          </a:p>
        </p:txBody>
      </p:sp>
      <p:sp>
        <p:nvSpPr>
          <p:cNvPr id="29" name="Text 22"/>
          <p:cNvSpPr/>
          <p:nvPr/>
        </p:nvSpPr>
        <p:spPr>
          <a:xfrm>
            <a:off x="7498080" y="5074920"/>
            <a:ext cx="3931920" cy="320040"/>
          </a:xfrm>
          <a:prstGeom prst="rect">
            <a:avLst/>
          </a:prstGeom>
          <a:noFill/>
          <a:ln/>
        </p:spPr>
        <p:txBody>
          <a:bodyPr wrap="square" lIns="0" tIns="0" rIns="0" bIns="0" rtlCol="0" anchor="t"/>
          <a:lstStyle/>
          <a:p>
            <a:pPr indent="0" marL="0">
              <a:buNone/>
            </a:pPr>
            <a:r>
              <a:rPr lang="en-US" sz="1400" dirty="0">
                <a:solidFill>
                  <a:srgbClr val="F0B429"/>
                </a:solidFill>
                <a:latin typeface="Consolas" pitchFamily="34" charset="0"/>
                <a:ea typeface="Consolas" pitchFamily="34" charset="-122"/>
                <a:cs typeface="Consolas" pitchFamily="34" charset="-120"/>
              </a:rPr>
              <a:t>$ copilot --agent change-analyst</a:t>
            </a:r>
            <a:endParaRPr lang="en-US" sz="1400" dirty="0"/>
          </a:p>
        </p:txBody>
      </p:sp>
      <p:sp>
        <p:nvSpPr>
          <p:cNvPr id="30" name="Text 23"/>
          <p:cNvSpPr/>
          <p:nvPr/>
        </p:nvSpPr>
        <p:spPr>
          <a:xfrm>
            <a:off x="7178040" y="6035040"/>
            <a:ext cx="4434840" cy="274320"/>
          </a:xfrm>
          <a:prstGeom prst="rect">
            <a:avLst/>
          </a:prstGeom>
          <a:noFill/>
          <a:ln/>
        </p:spPr>
        <p:txBody>
          <a:bodyPr wrap="square" lIns="0" tIns="0" rIns="0" bIns="0" rtlCol="0" anchor="t"/>
          <a:lstStyle/>
          <a:p>
            <a:pPr indent="0" marL="0">
              <a:buNone/>
            </a:pPr>
            <a:r>
              <a:rPr lang="en-US" sz="1200" dirty="0">
                <a:solidFill>
                  <a:srgbClr val="8C959F"/>
                </a:solidFill>
                <a:latin typeface="Arial" pitchFamily="34" charset="0"/>
                <a:ea typeface="Arial" pitchFamily="34" charset="-122"/>
                <a:cs typeface="Arial" pitchFamily="34" charset="-120"/>
              </a:rPr>
              <a:t>The GitHub Copilot app also runs on top of Copilot CLI.</a:t>
            </a:r>
            <a:endParaRPr lang="en-US" sz="1200" dirty="0"/>
          </a:p>
        </p:txBody>
      </p:sp>
      <p:sp>
        <p:nvSpPr>
          <p:cNvPr id="31" name="Text 24"/>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32" name="Text 25"/>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2 · DEMO</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Custom agent: an AI teammate that works your way</a:t>
            </a:r>
            <a:endParaRPr lang="en-US" sz="3000" dirty="0"/>
          </a:p>
        </p:txBody>
      </p:sp>
      <p:sp>
        <p:nvSpPr>
          <p:cNvPr id="4" name="Shape 2"/>
          <p:cNvSpPr/>
          <p:nvPr/>
        </p:nvSpPr>
        <p:spPr>
          <a:xfrm>
            <a:off x="548640" y="1554480"/>
            <a:ext cx="6858000" cy="4572000"/>
          </a:xfrm>
          <a:prstGeom prst="roundRect">
            <a:avLst>
              <a:gd name="adj" fmla="val 3200"/>
            </a:avLst>
          </a:prstGeom>
          <a:solidFill>
            <a:srgbClr val="0D1117"/>
          </a:solidFill>
          <a:ln w="12700">
            <a:solidFill>
              <a:srgbClr val="0D1117"/>
            </a:solidFill>
            <a:prstDash val="solid"/>
          </a:ln>
        </p:spPr>
      </p:sp>
      <p:sp>
        <p:nvSpPr>
          <p:cNvPr id="5" name="Text 3"/>
          <p:cNvSpPr/>
          <p:nvPr/>
        </p:nvSpPr>
        <p:spPr>
          <a:xfrm>
            <a:off x="868680" y="1828800"/>
            <a:ext cx="6309360" cy="4114800"/>
          </a:xfrm>
          <a:prstGeom prst="rect">
            <a:avLst/>
          </a:prstGeom>
          <a:noFill/>
          <a:ln/>
        </p:spPr>
        <p:txBody>
          <a:bodyPr wrap="square" lIns="0" tIns="0" rIns="0" bIns="0" rtlCol="0" anchor="t"/>
          <a:lstStyle/>
          <a:p>
            <a:pPr indent="0" marL="0">
              <a:lnSpc>
                <a:spcPts val="1800"/>
              </a:lnSpc>
              <a:spcAft>
                <a:spcPts val="500"/>
              </a:spcAft>
              <a:buNone/>
            </a:pPr>
            <a:r>
              <a:rPr lang="en-US" sz="1400" dirty="0">
                <a:solidFill>
                  <a:srgbClr val="8B949E"/>
                </a:solidFill>
                <a:latin typeface="Consolas" pitchFamily="34" charset="0"/>
                <a:ea typeface="Consolas" pitchFamily="34" charset="-122"/>
                <a:cs typeface="Consolas" pitchFamily="34" charset="-120"/>
              </a:rPr>
              <a:t>---</a:t>
            </a:r>
            <a:endParaRPr lang="en-US" sz="1400" dirty="0"/>
          </a:p>
          <a:p>
            <a:pPr indent="0" marL="0">
              <a:lnSpc>
                <a:spcPts val="1800"/>
              </a:lnSpc>
              <a:spcAft>
                <a:spcPts val="500"/>
              </a:spcAft>
              <a:buNone/>
            </a:pPr>
            <a:r>
              <a:rPr lang="en-US" sz="1400" dirty="0">
                <a:solidFill>
                  <a:srgbClr val="79C0FF"/>
                </a:solidFill>
                <a:latin typeface="Consolas" pitchFamily="34" charset="0"/>
                <a:ea typeface="Consolas" pitchFamily="34" charset="-122"/>
                <a:cs typeface="Consolas" pitchFamily="34" charset="-120"/>
              </a:rPr>
              <a:t>name: change-analyst</a:t>
            </a:r>
            <a:endParaRPr lang="en-US" sz="1400" dirty="0"/>
          </a:p>
          <a:p>
            <a:pPr indent="0" marL="0">
              <a:lnSpc>
                <a:spcPts val="1800"/>
              </a:lnSpc>
              <a:spcAft>
                <a:spcPts val="500"/>
              </a:spcAft>
              <a:buNone/>
            </a:pPr>
            <a:r>
              <a:rPr lang="en-US" sz="1400" dirty="0">
                <a:solidFill>
                  <a:srgbClr val="79C0FF"/>
                </a:solidFill>
                <a:latin typeface="Consolas" pitchFamily="34" charset="0"/>
                <a:ea typeface="Consolas" pitchFamily="34" charset="-122"/>
                <a:cs typeface="Consolas" pitchFamily="34" charset="-120"/>
              </a:rPr>
              <a:t>description: Read-only analyst that assesses the</a:t>
            </a:r>
            <a:endParaRPr lang="en-US" sz="1400" dirty="0"/>
          </a:p>
          <a:p>
            <a:pPr indent="0" marL="0">
              <a:lnSpc>
                <a:spcPts val="1800"/>
              </a:lnSpc>
              <a:spcAft>
                <a:spcPts val="500"/>
              </a:spcAft>
              <a:buNone/>
            </a:pPr>
            <a:r>
              <a:rPr lang="en-US" sz="1400" dirty="0">
                <a:solidFill>
                  <a:srgbClr val="79C0FF"/>
                </a:solidFill>
                <a:latin typeface="Consolas" pitchFamily="34" charset="0"/>
                <a:ea typeface="Consolas" pitchFamily="34" charset="-122"/>
                <a:cs typeface="Consolas" pitchFamily="34" charset="-120"/>
              </a:rPr>
              <a:t>  impact of a change request (CR)</a:t>
            </a:r>
            <a:endParaRPr lang="en-US" sz="1400" dirty="0"/>
          </a:p>
          <a:p>
            <a:pPr indent="0" marL="0">
              <a:lnSpc>
                <a:spcPts val="1800"/>
              </a:lnSpc>
              <a:spcAft>
                <a:spcPts val="500"/>
              </a:spcAft>
              <a:buNone/>
            </a:pPr>
            <a:r>
              <a:rPr lang="en-US" sz="1400" dirty="0">
                <a:solidFill>
                  <a:srgbClr val="FFA657"/>
                </a:solidFill>
                <a:latin typeface="Consolas" pitchFamily="34" charset="0"/>
                <a:ea typeface="Consolas" pitchFamily="34" charset="-122"/>
                <a:cs typeface="Consolas" pitchFamily="34" charset="-120"/>
              </a:rPr>
              <a:t>tools: ["view","grep","bash","create"]</a:t>
            </a:r>
            <a:endParaRPr lang="en-US" sz="1400" dirty="0"/>
          </a:p>
          <a:p>
            <a:pPr indent="0" marL="0">
              <a:lnSpc>
                <a:spcPts val="1800"/>
              </a:lnSpc>
              <a:spcAft>
                <a:spcPts val="500"/>
              </a:spcAft>
              <a:buNone/>
            </a:pPr>
            <a:r>
              <a:rPr lang="en-US" sz="1400" dirty="0">
                <a:solidFill>
                  <a:srgbClr val="D2A8FF"/>
                </a:solidFill>
                <a:latin typeface="Consolas" pitchFamily="34" charset="0"/>
                <a:ea typeface="Consolas" pitchFamily="34" charset="-122"/>
                <a:cs typeface="Consolas" pitchFamily="34" charset="-120"/>
              </a:rPr>
              <a:t>hooks:</a:t>
            </a:r>
            <a:endParaRPr lang="en-US" sz="1400" dirty="0"/>
          </a:p>
          <a:p>
            <a:pPr indent="0" marL="0">
              <a:lnSpc>
                <a:spcPts val="1800"/>
              </a:lnSpc>
              <a:spcAft>
                <a:spcPts val="500"/>
              </a:spcAft>
              <a:buNone/>
            </a:pPr>
            <a:r>
              <a:rPr lang="en-US" sz="1400" dirty="0">
                <a:solidFill>
                  <a:srgbClr val="D2A8FF"/>
                </a:solidFill>
                <a:latin typeface="Consolas" pitchFamily="34" charset="0"/>
                <a:ea typeface="Consolas" pitchFamily="34" charset="-122"/>
                <a:cs typeface="Consolas" pitchFamily="34" charset="-120"/>
              </a:rPr>
              <a:t>  preToolUse:</a:t>
            </a:r>
            <a:endParaRPr lang="en-US" sz="1400" dirty="0"/>
          </a:p>
          <a:p>
            <a:pPr indent="0" marL="0">
              <a:lnSpc>
                <a:spcPts val="1800"/>
              </a:lnSpc>
              <a:spcAft>
                <a:spcPts val="500"/>
              </a:spcAft>
              <a:buNone/>
            </a:pPr>
            <a:r>
              <a:rPr lang="en-US" sz="1400" dirty="0">
                <a:solidFill>
                  <a:srgbClr val="D2A8FF"/>
                </a:solidFill>
                <a:latin typeface="Consolas" pitchFamily="34" charset="0"/>
                <a:ea typeface="Consolas" pitchFamily="34" charset="-122"/>
                <a:cs typeface="Consolas" pitchFamily="34" charset="-120"/>
              </a:rPr>
              <a:t>    - command: guard.py --role analyst</a:t>
            </a:r>
            <a:endParaRPr lang="en-US" sz="1400" dirty="0"/>
          </a:p>
          <a:p>
            <a:pPr indent="0" marL="0">
              <a:lnSpc>
                <a:spcPts val="1800"/>
              </a:lnSpc>
              <a:spcAft>
                <a:spcPts val="500"/>
              </a:spcAft>
              <a:buNone/>
            </a:pPr>
            <a:r>
              <a:rPr lang="en-US" sz="1400" dirty="0">
                <a:solidFill>
                  <a:srgbClr val="8B949E"/>
                </a:solidFill>
                <a:latin typeface="Consolas" pitchFamily="34" charset="0"/>
                <a:ea typeface="Consolas" pitchFamily="34" charset="-122"/>
                <a:cs typeface="Consolas" pitchFamily="34" charset="-120"/>
              </a:rPr>
              <a:t>---</a:t>
            </a:r>
            <a:endParaRPr lang="en-US" sz="1400" dirty="0"/>
          </a:p>
          <a:p>
            <a:pPr indent="0" marL="0">
              <a:lnSpc>
                <a:spcPts val="1800"/>
              </a:lnSpc>
              <a:spcAft>
                <a:spcPts val="500"/>
              </a:spcAft>
              <a:buNone/>
            </a:pPr>
            <a:r>
              <a:rPr lang="en-US" sz="1400" dirty="0">
                <a:solidFill>
                  <a:srgbClr val="7EE787"/>
                </a:solidFill>
                <a:latin typeface="Consolas" pitchFamily="34" charset="0"/>
                <a:ea typeface="Consolas" pitchFamily="34" charset="-122"/>
                <a:cs typeface="Consolas" pitchFamily="34" charset="-120"/>
              </a:rPr>
              <a:t># Role</a:t>
            </a:r>
            <a:endParaRPr lang="en-US" sz="1400" dirty="0"/>
          </a:p>
          <a:p>
            <a:pPr indent="0" marL="0">
              <a:lnSpc>
                <a:spcPts val="1800"/>
              </a:lnSpc>
              <a:spcAft>
                <a:spcPts val="500"/>
              </a:spcAft>
              <a:buNone/>
            </a:pPr>
            <a:r>
              <a:rPr lang="en-US" sz="1400" dirty="0">
                <a:solidFill>
                  <a:srgbClr val="E6EDF3"/>
                </a:solidFill>
                <a:latin typeface="Consolas" pitchFamily="34" charset="0"/>
                <a:ea typeface="Consolas" pitchFamily="34" charset="-122"/>
                <a:cs typeface="Consolas" pitchFamily="34" charset="-120"/>
              </a:rPr>
              <a:t>You are the Change Analyst on the ShopFlow team.</a:t>
            </a:r>
            <a:endParaRPr lang="en-US" sz="1400" dirty="0"/>
          </a:p>
          <a:p>
            <a:pPr indent="0" marL="0">
              <a:lnSpc>
                <a:spcPts val="1800"/>
              </a:lnSpc>
              <a:spcAft>
                <a:spcPts val="500"/>
              </a:spcAft>
              <a:buNone/>
            </a:pPr>
            <a:r>
              <a:rPr lang="en-US" sz="1400" dirty="0">
                <a:solidFill>
                  <a:srgbClr val="E6EDF3"/>
                </a:solidFill>
                <a:latin typeface="Consolas" pitchFamily="34" charset="0"/>
                <a:ea typeface="Consolas" pitchFamily="34" charset="-122"/>
                <a:cs typeface="Consolas" pitchFamily="34" charset="-120"/>
              </a:rPr>
              <a:t>1. Read the request and restate intents R1…R4</a:t>
            </a:r>
            <a:endParaRPr lang="en-US" sz="1400" dirty="0"/>
          </a:p>
          <a:p>
            <a:pPr indent="0" marL="0">
              <a:lnSpc>
                <a:spcPts val="1800"/>
              </a:lnSpc>
              <a:spcAft>
                <a:spcPts val="500"/>
              </a:spcAft>
              <a:buNone/>
            </a:pPr>
            <a:r>
              <a:rPr lang="en-US" sz="1400" dirty="0">
                <a:solidFill>
                  <a:srgbClr val="E6EDF3"/>
                </a:solidFill>
                <a:latin typeface="Consolas" pitchFamily="34" charset="0"/>
                <a:ea typeface="Consolas" pitchFamily="34" charset="-122"/>
                <a:cs typeface="Consolas" pitchFamily="34" charset="-120"/>
              </a:rPr>
              <a:t>2. Use grep to find the impact and cite evidence</a:t>
            </a:r>
            <a:endParaRPr lang="en-US" sz="1400" dirty="0"/>
          </a:p>
          <a:p>
            <a:pPr indent="0" marL="0">
              <a:lnSpc>
                <a:spcPts val="1800"/>
              </a:lnSpc>
              <a:spcAft>
                <a:spcPts val="500"/>
              </a:spcAft>
              <a:buNone/>
            </a:pPr>
            <a:r>
              <a:rPr lang="en-US" sz="1400" dirty="0">
                <a:solidFill>
                  <a:srgbClr val="E6EDF3"/>
                </a:solidFill>
                <a:latin typeface="Consolas" pitchFamily="34" charset="0"/>
                <a:ea typeface="Consolas" pitchFamily="34" charset="-122"/>
                <a:cs typeface="Consolas" pitchFamily="34" charset="-120"/>
              </a:rPr>
              <a:t>3. Give options and a recommendation for decisions</a:t>
            </a:r>
            <a:endParaRPr lang="en-US" sz="1400" dirty="0"/>
          </a:p>
        </p:txBody>
      </p:sp>
      <p:sp>
        <p:nvSpPr>
          <p:cNvPr id="6" name="Shape 4"/>
          <p:cNvSpPr/>
          <p:nvPr/>
        </p:nvSpPr>
        <p:spPr>
          <a:xfrm>
            <a:off x="6967728" y="2371852"/>
            <a:ext cx="310896" cy="310896"/>
          </a:xfrm>
          <a:prstGeom prst="ellipse">
            <a:avLst/>
          </a:prstGeom>
          <a:solidFill>
            <a:srgbClr val="F0B429"/>
          </a:solidFill>
          <a:ln/>
        </p:spPr>
      </p:sp>
      <p:sp>
        <p:nvSpPr>
          <p:cNvPr id="7" name="Text 5"/>
          <p:cNvSpPr/>
          <p:nvPr/>
        </p:nvSpPr>
        <p:spPr>
          <a:xfrm>
            <a:off x="6967728" y="2371852"/>
            <a:ext cx="310896" cy="310896"/>
          </a:xfrm>
          <a:prstGeom prst="rect">
            <a:avLst/>
          </a:prstGeom>
          <a:noFill/>
          <a:ln/>
        </p:spPr>
        <p:txBody>
          <a:bodyPr wrap="square" lIns="0" tIns="0" rIns="0" bIns="0" rtlCol="0" anchor="ctr"/>
          <a:lstStyle/>
          <a:p>
            <a:pPr algn="ctr" indent="0" marL="0">
              <a:buNone/>
            </a:pPr>
            <a:r>
              <a:rPr lang="en-US" sz="1300" b="1" dirty="0">
                <a:solidFill>
                  <a:srgbClr val="1F2328"/>
                </a:solidFill>
                <a:latin typeface="Arial" pitchFamily="34" charset="0"/>
                <a:ea typeface="Arial" pitchFamily="34" charset="-122"/>
                <a:cs typeface="Arial" pitchFamily="34" charset="-120"/>
              </a:rPr>
              <a:t>1</a:t>
            </a:r>
            <a:endParaRPr lang="en-US" sz="1300" dirty="0"/>
          </a:p>
        </p:txBody>
      </p:sp>
      <p:sp>
        <p:nvSpPr>
          <p:cNvPr id="8" name="Shape 6"/>
          <p:cNvSpPr/>
          <p:nvPr/>
        </p:nvSpPr>
        <p:spPr>
          <a:xfrm>
            <a:off x="6967728" y="2956052"/>
            <a:ext cx="310896" cy="310896"/>
          </a:xfrm>
          <a:prstGeom prst="ellipse">
            <a:avLst/>
          </a:prstGeom>
          <a:solidFill>
            <a:srgbClr val="F0B429"/>
          </a:solidFill>
          <a:ln/>
        </p:spPr>
      </p:sp>
      <p:sp>
        <p:nvSpPr>
          <p:cNvPr id="9" name="Text 7"/>
          <p:cNvSpPr/>
          <p:nvPr/>
        </p:nvSpPr>
        <p:spPr>
          <a:xfrm>
            <a:off x="6967728" y="2956052"/>
            <a:ext cx="310896" cy="310896"/>
          </a:xfrm>
          <a:prstGeom prst="rect">
            <a:avLst/>
          </a:prstGeom>
          <a:noFill/>
          <a:ln/>
        </p:spPr>
        <p:txBody>
          <a:bodyPr wrap="square" lIns="0" tIns="0" rIns="0" bIns="0" rtlCol="0" anchor="ctr"/>
          <a:lstStyle/>
          <a:p>
            <a:pPr algn="ctr" indent="0" marL="0">
              <a:buNone/>
            </a:pPr>
            <a:r>
              <a:rPr lang="en-US" sz="1300" b="1" dirty="0">
                <a:solidFill>
                  <a:srgbClr val="1F2328"/>
                </a:solidFill>
                <a:latin typeface="Arial" pitchFamily="34" charset="0"/>
                <a:ea typeface="Arial" pitchFamily="34" charset="-122"/>
                <a:cs typeface="Arial" pitchFamily="34" charset="-120"/>
              </a:rPr>
              <a:t>2</a:t>
            </a:r>
            <a:endParaRPr lang="en-US" sz="1300" dirty="0"/>
          </a:p>
        </p:txBody>
      </p:sp>
      <p:sp>
        <p:nvSpPr>
          <p:cNvPr id="10" name="Shape 8"/>
          <p:cNvSpPr/>
          <p:nvPr/>
        </p:nvSpPr>
        <p:spPr>
          <a:xfrm>
            <a:off x="6967728" y="3540252"/>
            <a:ext cx="310896" cy="310896"/>
          </a:xfrm>
          <a:prstGeom prst="ellipse">
            <a:avLst/>
          </a:prstGeom>
          <a:solidFill>
            <a:srgbClr val="F0B429"/>
          </a:solidFill>
          <a:ln/>
        </p:spPr>
      </p:sp>
      <p:sp>
        <p:nvSpPr>
          <p:cNvPr id="11" name="Text 9"/>
          <p:cNvSpPr/>
          <p:nvPr/>
        </p:nvSpPr>
        <p:spPr>
          <a:xfrm>
            <a:off x="6967728" y="3540252"/>
            <a:ext cx="310896" cy="310896"/>
          </a:xfrm>
          <a:prstGeom prst="rect">
            <a:avLst/>
          </a:prstGeom>
          <a:noFill/>
          <a:ln/>
        </p:spPr>
        <p:txBody>
          <a:bodyPr wrap="square" lIns="0" tIns="0" rIns="0" bIns="0" rtlCol="0" anchor="ctr"/>
          <a:lstStyle/>
          <a:p>
            <a:pPr algn="ctr" indent="0" marL="0">
              <a:buNone/>
            </a:pPr>
            <a:r>
              <a:rPr lang="en-US" sz="1300" b="1" dirty="0">
                <a:solidFill>
                  <a:srgbClr val="1F2328"/>
                </a:solidFill>
                <a:latin typeface="Arial" pitchFamily="34" charset="0"/>
                <a:ea typeface="Arial" pitchFamily="34" charset="-122"/>
                <a:cs typeface="Arial" pitchFamily="34" charset="-120"/>
              </a:rPr>
              <a:t>3</a:t>
            </a:r>
            <a:endParaRPr lang="en-US" sz="1300" dirty="0"/>
          </a:p>
        </p:txBody>
      </p:sp>
      <p:sp>
        <p:nvSpPr>
          <p:cNvPr id="12" name="Shape 10"/>
          <p:cNvSpPr/>
          <p:nvPr/>
        </p:nvSpPr>
        <p:spPr>
          <a:xfrm>
            <a:off x="6967728" y="5000752"/>
            <a:ext cx="310896" cy="310896"/>
          </a:xfrm>
          <a:prstGeom prst="ellipse">
            <a:avLst/>
          </a:prstGeom>
          <a:solidFill>
            <a:srgbClr val="F0B429"/>
          </a:solidFill>
          <a:ln/>
        </p:spPr>
      </p:sp>
      <p:sp>
        <p:nvSpPr>
          <p:cNvPr id="13" name="Text 11"/>
          <p:cNvSpPr/>
          <p:nvPr/>
        </p:nvSpPr>
        <p:spPr>
          <a:xfrm>
            <a:off x="6967728" y="5000752"/>
            <a:ext cx="310896" cy="310896"/>
          </a:xfrm>
          <a:prstGeom prst="rect">
            <a:avLst/>
          </a:prstGeom>
          <a:noFill/>
          <a:ln/>
        </p:spPr>
        <p:txBody>
          <a:bodyPr wrap="square" lIns="0" tIns="0" rIns="0" bIns="0" rtlCol="0" anchor="ctr"/>
          <a:lstStyle/>
          <a:p>
            <a:pPr algn="ctr" indent="0" marL="0">
              <a:buNone/>
            </a:pPr>
            <a:r>
              <a:rPr lang="en-US" sz="1300" b="1" dirty="0">
                <a:solidFill>
                  <a:srgbClr val="1F2328"/>
                </a:solidFill>
                <a:latin typeface="Arial" pitchFamily="34" charset="0"/>
                <a:ea typeface="Arial" pitchFamily="34" charset="-122"/>
                <a:cs typeface="Arial" pitchFamily="34" charset="-120"/>
              </a:rPr>
              <a:t>4</a:t>
            </a:r>
            <a:endParaRPr lang="en-US" sz="1300" dirty="0"/>
          </a:p>
        </p:txBody>
      </p:sp>
      <p:sp>
        <p:nvSpPr>
          <p:cNvPr id="14" name="Shape 12"/>
          <p:cNvSpPr/>
          <p:nvPr/>
        </p:nvSpPr>
        <p:spPr>
          <a:xfrm>
            <a:off x="7818120" y="1600200"/>
            <a:ext cx="365760" cy="365760"/>
          </a:xfrm>
          <a:prstGeom prst="ellipse">
            <a:avLst/>
          </a:prstGeom>
          <a:solidFill>
            <a:srgbClr val="F0B429"/>
          </a:solidFill>
          <a:ln/>
        </p:spPr>
      </p:sp>
      <p:sp>
        <p:nvSpPr>
          <p:cNvPr id="15" name="Text 13"/>
          <p:cNvSpPr/>
          <p:nvPr/>
        </p:nvSpPr>
        <p:spPr>
          <a:xfrm>
            <a:off x="7818120" y="1600200"/>
            <a:ext cx="365760" cy="36576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1</a:t>
            </a:r>
            <a:endParaRPr lang="en-US" sz="1400" dirty="0"/>
          </a:p>
        </p:txBody>
      </p:sp>
      <p:sp>
        <p:nvSpPr>
          <p:cNvPr id="16" name="Text 14"/>
          <p:cNvSpPr/>
          <p:nvPr/>
        </p:nvSpPr>
        <p:spPr>
          <a:xfrm>
            <a:off x="8321040" y="1554480"/>
            <a:ext cx="3291840" cy="292608"/>
          </a:xfrm>
          <a:prstGeom prst="rect">
            <a:avLst/>
          </a:prstGeom>
          <a:noFill/>
          <a:ln/>
        </p:spPr>
        <p:txBody>
          <a:bodyPr wrap="square" lIns="0" tIns="0" rIns="0" bIns="0" rtlCol="0" anchor="t"/>
          <a:lstStyle/>
          <a:p>
            <a:pPr indent="0" marL="0">
              <a:buNone/>
            </a:pPr>
            <a:r>
              <a:rPr lang="en-US" sz="1800" b="1" dirty="0">
                <a:solidFill>
                  <a:srgbClr val="1F2328"/>
                </a:solidFill>
                <a:latin typeface="Arial" pitchFamily="34" charset="0"/>
                <a:ea typeface="Arial" pitchFamily="34" charset="-122"/>
                <a:cs typeface="Arial" pitchFamily="34" charset="-120"/>
              </a:rPr>
              <a:t>Role</a:t>
            </a:r>
            <a:endParaRPr lang="en-US" sz="1800" dirty="0"/>
          </a:p>
        </p:txBody>
      </p:sp>
      <p:sp>
        <p:nvSpPr>
          <p:cNvPr id="17" name="Text 15"/>
          <p:cNvSpPr/>
          <p:nvPr/>
        </p:nvSpPr>
        <p:spPr>
          <a:xfrm>
            <a:off x="8321040" y="1865376"/>
            <a:ext cx="3291840" cy="27432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What job this agent takes on</a:t>
            </a:r>
            <a:endParaRPr lang="en-US" sz="1400" dirty="0"/>
          </a:p>
        </p:txBody>
      </p:sp>
      <p:sp>
        <p:nvSpPr>
          <p:cNvPr id="18" name="Shape 16"/>
          <p:cNvSpPr/>
          <p:nvPr/>
        </p:nvSpPr>
        <p:spPr>
          <a:xfrm>
            <a:off x="7818120" y="2313432"/>
            <a:ext cx="365760" cy="365760"/>
          </a:xfrm>
          <a:prstGeom prst="ellipse">
            <a:avLst/>
          </a:prstGeom>
          <a:solidFill>
            <a:srgbClr val="F0B429"/>
          </a:solidFill>
          <a:ln/>
        </p:spPr>
      </p:sp>
      <p:sp>
        <p:nvSpPr>
          <p:cNvPr id="19" name="Text 17"/>
          <p:cNvSpPr/>
          <p:nvPr/>
        </p:nvSpPr>
        <p:spPr>
          <a:xfrm>
            <a:off x="7818120" y="2313432"/>
            <a:ext cx="365760" cy="36576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2</a:t>
            </a:r>
            <a:endParaRPr lang="en-US" sz="1400" dirty="0"/>
          </a:p>
        </p:txBody>
      </p:sp>
      <p:sp>
        <p:nvSpPr>
          <p:cNvPr id="20" name="Text 18"/>
          <p:cNvSpPr/>
          <p:nvPr/>
        </p:nvSpPr>
        <p:spPr>
          <a:xfrm>
            <a:off x="8321040" y="2267712"/>
            <a:ext cx="3291840" cy="292608"/>
          </a:xfrm>
          <a:prstGeom prst="rect">
            <a:avLst/>
          </a:prstGeom>
          <a:noFill/>
          <a:ln/>
        </p:spPr>
        <p:txBody>
          <a:bodyPr wrap="square" lIns="0" tIns="0" rIns="0" bIns="0" rtlCol="0" anchor="t"/>
          <a:lstStyle/>
          <a:p>
            <a:pPr indent="0" marL="0">
              <a:buNone/>
            </a:pPr>
            <a:r>
              <a:rPr lang="en-US" sz="1800" b="1" dirty="0">
                <a:solidFill>
                  <a:srgbClr val="1F2328"/>
                </a:solidFill>
                <a:latin typeface="Arial" pitchFamily="34" charset="0"/>
                <a:ea typeface="Arial" pitchFamily="34" charset="-122"/>
                <a:cs typeface="Arial" pitchFamily="34" charset="-120"/>
              </a:rPr>
              <a:t>Tool permissions</a:t>
            </a:r>
            <a:endParaRPr lang="en-US" sz="1800" dirty="0"/>
          </a:p>
        </p:txBody>
      </p:sp>
      <p:sp>
        <p:nvSpPr>
          <p:cNvPr id="21" name="Text 19"/>
          <p:cNvSpPr/>
          <p:nvPr/>
        </p:nvSpPr>
        <p:spPr>
          <a:xfrm>
            <a:off x="8321040" y="2578608"/>
            <a:ext cx="3291840" cy="27432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Only the tools it needs (least privilege)</a:t>
            </a:r>
            <a:endParaRPr lang="en-US" sz="1400" dirty="0"/>
          </a:p>
        </p:txBody>
      </p:sp>
      <p:sp>
        <p:nvSpPr>
          <p:cNvPr id="22" name="Shape 20"/>
          <p:cNvSpPr/>
          <p:nvPr/>
        </p:nvSpPr>
        <p:spPr>
          <a:xfrm>
            <a:off x="7818120" y="3026664"/>
            <a:ext cx="365760" cy="365760"/>
          </a:xfrm>
          <a:prstGeom prst="ellipse">
            <a:avLst/>
          </a:prstGeom>
          <a:solidFill>
            <a:srgbClr val="F0B429"/>
          </a:solidFill>
          <a:ln/>
        </p:spPr>
      </p:sp>
      <p:sp>
        <p:nvSpPr>
          <p:cNvPr id="23" name="Text 21"/>
          <p:cNvSpPr/>
          <p:nvPr/>
        </p:nvSpPr>
        <p:spPr>
          <a:xfrm>
            <a:off x="7818120" y="3026664"/>
            <a:ext cx="365760" cy="36576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3</a:t>
            </a:r>
            <a:endParaRPr lang="en-US" sz="1400" dirty="0"/>
          </a:p>
        </p:txBody>
      </p:sp>
      <p:sp>
        <p:nvSpPr>
          <p:cNvPr id="24" name="Text 22"/>
          <p:cNvSpPr/>
          <p:nvPr/>
        </p:nvSpPr>
        <p:spPr>
          <a:xfrm>
            <a:off x="8321040" y="2980944"/>
            <a:ext cx="3291840" cy="292608"/>
          </a:xfrm>
          <a:prstGeom prst="rect">
            <a:avLst/>
          </a:prstGeom>
          <a:noFill/>
          <a:ln/>
        </p:spPr>
        <p:txBody>
          <a:bodyPr wrap="square" lIns="0" tIns="0" rIns="0" bIns="0" rtlCol="0" anchor="t"/>
          <a:lstStyle/>
          <a:p>
            <a:pPr indent="0" marL="0">
              <a:buNone/>
            </a:pPr>
            <a:r>
              <a:rPr lang="en-US" sz="1800" b="1" dirty="0">
                <a:solidFill>
                  <a:srgbClr val="1F2328"/>
                </a:solidFill>
                <a:latin typeface="Arial" pitchFamily="34" charset="0"/>
                <a:ea typeface="Arial" pitchFamily="34" charset="-122"/>
                <a:cs typeface="Arial" pitchFamily="34" charset="-120"/>
              </a:rPr>
              <a:t>Enforcement (hook)</a:t>
            </a:r>
            <a:endParaRPr lang="en-US" sz="1800" dirty="0"/>
          </a:p>
        </p:txBody>
      </p:sp>
      <p:sp>
        <p:nvSpPr>
          <p:cNvPr id="25" name="Text 23"/>
          <p:cNvSpPr/>
          <p:nvPr/>
        </p:nvSpPr>
        <p:spPr>
          <a:xfrm>
            <a:off x="8321040" y="3291840"/>
            <a:ext cx="3291840" cy="27432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The system checks every tool call first</a:t>
            </a:r>
            <a:endParaRPr lang="en-US" sz="1400" dirty="0"/>
          </a:p>
        </p:txBody>
      </p:sp>
      <p:sp>
        <p:nvSpPr>
          <p:cNvPr id="26" name="Shape 24"/>
          <p:cNvSpPr/>
          <p:nvPr/>
        </p:nvSpPr>
        <p:spPr>
          <a:xfrm>
            <a:off x="7818120" y="3739896"/>
            <a:ext cx="365760" cy="365760"/>
          </a:xfrm>
          <a:prstGeom prst="ellipse">
            <a:avLst/>
          </a:prstGeom>
          <a:solidFill>
            <a:srgbClr val="F0B429"/>
          </a:solidFill>
          <a:ln/>
        </p:spPr>
      </p:sp>
      <p:sp>
        <p:nvSpPr>
          <p:cNvPr id="27" name="Text 25"/>
          <p:cNvSpPr/>
          <p:nvPr/>
        </p:nvSpPr>
        <p:spPr>
          <a:xfrm>
            <a:off x="7818120" y="3739896"/>
            <a:ext cx="365760" cy="36576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4</a:t>
            </a:r>
            <a:endParaRPr lang="en-US" sz="1400" dirty="0"/>
          </a:p>
        </p:txBody>
      </p:sp>
      <p:sp>
        <p:nvSpPr>
          <p:cNvPr id="28" name="Text 26"/>
          <p:cNvSpPr/>
          <p:nvPr/>
        </p:nvSpPr>
        <p:spPr>
          <a:xfrm>
            <a:off x="8321040" y="3694176"/>
            <a:ext cx="3291840" cy="292608"/>
          </a:xfrm>
          <a:prstGeom prst="rect">
            <a:avLst/>
          </a:prstGeom>
          <a:noFill/>
          <a:ln/>
        </p:spPr>
        <p:txBody>
          <a:bodyPr wrap="square" lIns="0" tIns="0" rIns="0" bIns="0" rtlCol="0" anchor="t"/>
          <a:lstStyle/>
          <a:p>
            <a:pPr indent="0" marL="0">
              <a:buNone/>
            </a:pPr>
            <a:r>
              <a:rPr lang="en-US" sz="1800" b="1" dirty="0">
                <a:solidFill>
                  <a:srgbClr val="1F2328"/>
                </a:solidFill>
                <a:latin typeface="Arial" pitchFamily="34" charset="0"/>
                <a:ea typeface="Arial" pitchFamily="34" charset="-122"/>
                <a:cs typeface="Arial" pitchFamily="34" charset="-120"/>
              </a:rPr>
              <a:t>Work instructions</a:t>
            </a:r>
            <a:endParaRPr lang="en-US" sz="1800" dirty="0"/>
          </a:p>
        </p:txBody>
      </p:sp>
      <p:sp>
        <p:nvSpPr>
          <p:cNvPr id="29" name="Text 27"/>
          <p:cNvSpPr/>
          <p:nvPr/>
        </p:nvSpPr>
        <p:spPr>
          <a:xfrm>
            <a:off x="8321040" y="4005072"/>
            <a:ext cx="3291840" cy="27432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Our team's steps, formats and don'ts</a:t>
            </a:r>
            <a:endParaRPr lang="en-US" sz="1400" dirty="0"/>
          </a:p>
        </p:txBody>
      </p:sp>
      <p:sp>
        <p:nvSpPr>
          <p:cNvPr id="30" name="Shape 28"/>
          <p:cNvSpPr/>
          <p:nvPr/>
        </p:nvSpPr>
        <p:spPr>
          <a:xfrm>
            <a:off x="7818120" y="4526280"/>
            <a:ext cx="3794760" cy="1600200"/>
          </a:xfrm>
          <a:prstGeom prst="roundRect">
            <a:avLst>
              <a:gd name="adj" fmla="val 8000"/>
            </a:avLst>
          </a:prstGeom>
          <a:solidFill>
            <a:srgbClr val="F1E9FF"/>
          </a:solidFill>
          <a:ln/>
        </p:spPr>
      </p:sp>
      <p:sp>
        <p:nvSpPr>
          <p:cNvPr id="31" name="Text 29"/>
          <p:cNvSpPr/>
          <p:nvPr/>
        </p:nvSpPr>
        <p:spPr>
          <a:xfrm>
            <a:off x="8046720" y="4617720"/>
            <a:ext cx="3383280" cy="502920"/>
          </a:xfrm>
          <a:prstGeom prst="rect">
            <a:avLst/>
          </a:prstGeom>
          <a:noFill/>
          <a:ln/>
        </p:spPr>
        <p:txBody>
          <a:bodyPr wrap="square" lIns="0" tIns="0" rIns="0" bIns="0" rtlCol="0" anchor="t"/>
          <a:lstStyle/>
          <a:p>
            <a:pPr indent="0" marL="0">
              <a:buNone/>
            </a:pPr>
            <a:r>
              <a:rPr lang="en-US" sz="1600" b="1" dirty="0">
                <a:solidFill>
                  <a:srgbClr val="5A2EB0"/>
                </a:solidFill>
                <a:latin typeface="Arial" pitchFamily="34" charset="0"/>
                <a:ea typeface="Arial" pitchFamily="34" charset="-122"/>
                <a:cs typeface="Arial" pitchFamily="34" charset="-120"/>
              </a:rPr>
              <a:t>Define it once; the whole team works to the same standard</a:t>
            </a:r>
            <a:endParaRPr lang="en-US" sz="1600" dirty="0"/>
          </a:p>
        </p:txBody>
      </p:sp>
      <p:sp>
        <p:nvSpPr>
          <p:cNvPr id="32" name="Text 30"/>
          <p:cNvSpPr/>
          <p:nvPr/>
        </p:nvSpPr>
        <p:spPr>
          <a:xfrm>
            <a:off x="8046720" y="5166360"/>
            <a:ext cx="3383280" cy="868680"/>
          </a:xfrm>
          <a:prstGeom prst="rect">
            <a:avLst/>
          </a:prstGeom>
          <a:noFill/>
          <a:ln/>
        </p:spPr>
        <p:txBody>
          <a:bodyPr wrap="square" lIns="0" tIns="0" rIns="0" bIns="0" rtlCol="0" anchor="t"/>
          <a:lstStyle/>
          <a:p>
            <a:pPr indent="0" marL="0">
              <a:lnSpc>
                <a:spcPct val="115000"/>
              </a:lnSpc>
              <a:buNone/>
            </a:pPr>
            <a:r>
              <a:rPr lang="en-US" sz="1300" dirty="0">
                <a:solidFill>
                  <a:srgbClr val="1F2328"/>
                </a:solidFill>
                <a:latin typeface="Consolas" pitchFamily="34" charset="0"/>
                <a:ea typeface="Consolas" pitchFamily="34" charset="-122"/>
                <a:cs typeface="Consolas" pitchFamily="34" charset="-120"/>
              </a:rPr>
              <a:t>Personal  ~/.copilot/agents</a:t>
            </a:r>
            <a:endParaRPr lang="en-US" sz="1300" dirty="0"/>
          </a:p>
          <a:p>
            <a:pPr indent="0" marL="0">
              <a:lnSpc>
                <a:spcPct val="115000"/>
              </a:lnSpc>
              <a:buNone/>
            </a:pPr>
            <a:r>
              <a:rPr lang="en-US" sz="1300" dirty="0">
                <a:solidFill>
                  <a:srgbClr val="1F2328"/>
                </a:solidFill>
                <a:latin typeface="Consolas" pitchFamily="34" charset="0"/>
                <a:ea typeface="Consolas" pitchFamily="34" charset="-122"/>
                <a:cs typeface="Consolas" pitchFamily="34" charset="-120"/>
              </a:rPr>
              <a:t>Repo      .github/agents</a:t>
            </a:r>
            <a:endParaRPr lang="en-US" sz="1300" dirty="0"/>
          </a:p>
          <a:p>
            <a:pPr indent="0" marL="0">
              <a:lnSpc>
                <a:spcPct val="115000"/>
              </a:lnSpc>
              <a:buNone/>
            </a:pPr>
            <a:r>
              <a:rPr lang="en-US" sz="1300" dirty="0">
                <a:solidFill>
                  <a:srgbClr val="1F2328"/>
                </a:solidFill>
                <a:latin typeface="Consolas" pitchFamily="34" charset="0"/>
                <a:ea typeface="Consolas" pitchFamily="34" charset="-122"/>
                <a:cs typeface="Consolas" pitchFamily="34" charset="-120"/>
              </a:rPr>
              <a:t>Org       .github-private/agents</a:t>
            </a:r>
            <a:endParaRPr lang="en-US" sz="1300" dirty="0"/>
          </a:p>
        </p:txBody>
      </p:sp>
      <p:sp>
        <p:nvSpPr>
          <p:cNvPr id="33" name="Text 31"/>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34" name="Text 32"/>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7</a:t>
            </a:r>
            <a:endParaRPr lang="en-US" sz="1000" dirty="0"/>
          </a:p>
        </p:txBody>
      </p:sp>
      <p:sp>
        <p:nvSpPr>
          <p:cNvPr id="35" name="Text 33"/>
          <p:cNvSpPr/>
          <p:nvPr/>
        </p:nvSpPr>
        <p:spPr>
          <a:xfrm>
            <a:off x="548640" y="6217920"/>
            <a:ext cx="1106424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Source: GitHub Docs · About custom agents / Custom agents configuration  |  The code on the left is an abridged excerpt of the real agent file (change-analyst.agent.md)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2 · DEMO</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Scenario: a change request from the business</a:t>
            </a:r>
            <a:endParaRPr lang="en-US" sz="3200" dirty="0"/>
          </a:p>
        </p:txBody>
      </p:sp>
      <p:sp>
        <p:nvSpPr>
          <p:cNvPr id="4" name="Shape 2"/>
          <p:cNvSpPr/>
          <p:nvPr/>
        </p:nvSpPr>
        <p:spPr>
          <a:xfrm>
            <a:off x="548640" y="1554480"/>
            <a:ext cx="6766560" cy="4526280"/>
          </a:xfrm>
          <a:prstGeom prst="roundRect">
            <a:avLst>
              <a:gd name="adj" fmla="val 2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783080"/>
            <a:ext cx="1554480" cy="310896"/>
          </a:xfrm>
          <a:prstGeom prst="roundRect">
            <a:avLst>
              <a:gd name="adj" fmla="val 50000"/>
            </a:avLst>
          </a:prstGeom>
          <a:solidFill>
            <a:srgbClr val="F1E9FF"/>
          </a:solidFill>
          <a:ln/>
        </p:spPr>
      </p:sp>
      <p:sp>
        <p:nvSpPr>
          <p:cNvPr id="6" name="Text 4"/>
          <p:cNvSpPr/>
          <p:nvPr/>
        </p:nvSpPr>
        <p:spPr>
          <a:xfrm>
            <a:off x="822960" y="1783080"/>
            <a:ext cx="1554480"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Consolas" pitchFamily="34" charset="0"/>
                <a:ea typeface="Consolas" pitchFamily="34" charset="-122"/>
                <a:cs typeface="Consolas" pitchFamily="34" charset="-120"/>
              </a:rPr>
              <a:t>CR-2026-014</a:t>
            </a:r>
            <a:endParaRPr lang="en-US" sz="1200" dirty="0"/>
          </a:p>
        </p:txBody>
      </p:sp>
      <p:sp>
        <p:nvSpPr>
          <p:cNvPr id="7" name="Text 5"/>
          <p:cNvSpPr/>
          <p:nvPr/>
        </p:nvSpPr>
        <p:spPr>
          <a:xfrm>
            <a:off x="822960" y="2194560"/>
            <a:ext cx="6309360" cy="457200"/>
          </a:xfrm>
          <a:prstGeom prst="rect">
            <a:avLst/>
          </a:prstGeom>
          <a:noFill/>
          <a:ln/>
        </p:spPr>
        <p:txBody>
          <a:bodyPr wrap="square" lIns="0" tIns="0" rIns="0" bIns="0" rtlCol="0" anchor="t"/>
          <a:lstStyle/>
          <a:p>
            <a:pPr indent="0" marL="0">
              <a:buNone/>
            </a:pPr>
            <a:r>
              <a:rPr lang="en-US" sz="2200" b="1" dirty="0">
                <a:solidFill>
                  <a:srgbClr val="1F2328"/>
                </a:solidFill>
                <a:latin typeface="Arial" pitchFamily="34" charset="0"/>
                <a:ea typeface="Arial" pitchFamily="34" charset="-122"/>
                <a:cs typeface="Arial" pitchFamily="34" charset="-120"/>
              </a:rPr>
              <a:t>VIP refund policy · High-value refund control</a:t>
            </a:r>
            <a:endParaRPr lang="en-US" sz="2200" dirty="0"/>
          </a:p>
        </p:txBody>
      </p:sp>
      <p:sp>
        <p:nvSpPr>
          <p:cNvPr id="8" name="Text 6"/>
          <p:cNvSpPr/>
          <p:nvPr/>
        </p:nvSpPr>
        <p:spPr>
          <a:xfrm>
            <a:off x="822960" y="2697480"/>
            <a:ext cx="6309360" cy="27432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Requested by the Customer Experience (CX) team · Target date 2026-11-02</a:t>
            </a:r>
            <a:endParaRPr lang="en-US" sz="1400" dirty="0"/>
          </a:p>
        </p:txBody>
      </p:sp>
      <p:sp>
        <p:nvSpPr>
          <p:cNvPr id="9" name="Shape 7"/>
          <p:cNvSpPr/>
          <p:nvPr/>
        </p:nvSpPr>
        <p:spPr>
          <a:xfrm>
            <a:off x="822960" y="3236976"/>
            <a:ext cx="548640" cy="347472"/>
          </a:xfrm>
          <a:prstGeom prst="roundRect">
            <a:avLst>
              <a:gd name="adj" fmla="val 50000"/>
            </a:avLst>
          </a:prstGeom>
          <a:solidFill>
            <a:srgbClr val="7B3FE4"/>
          </a:solidFill>
          <a:ln/>
        </p:spPr>
      </p:sp>
      <p:sp>
        <p:nvSpPr>
          <p:cNvPr id="10" name="Text 8"/>
          <p:cNvSpPr/>
          <p:nvPr/>
        </p:nvSpPr>
        <p:spPr>
          <a:xfrm>
            <a:off x="822960" y="3236976"/>
            <a:ext cx="5486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R1</a:t>
            </a:r>
            <a:endParaRPr lang="en-US" sz="1300" dirty="0"/>
          </a:p>
        </p:txBody>
      </p:sp>
      <p:sp>
        <p:nvSpPr>
          <p:cNvPr id="11" name="Text 9"/>
          <p:cNvSpPr/>
          <p:nvPr/>
        </p:nvSpPr>
        <p:spPr>
          <a:xfrm>
            <a:off x="1554480" y="3200400"/>
            <a:ext cx="5577840" cy="457200"/>
          </a:xfrm>
          <a:prstGeom prst="rect">
            <a:avLst/>
          </a:prstGeom>
          <a:noFill/>
          <a:ln/>
        </p:spPr>
        <p:txBody>
          <a:bodyPr wrap="square" lIns="0" tIns="0" rIns="0" bIns="0" rtlCol="0" anchor="ctr"/>
          <a:lstStyle/>
          <a:p>
            <a:pPr indent="0" marL="0">
              <a:buNone/>
            </a:pPr>
            <a:r>
              <a:rPr lang="en-US" sz="1700" dirty="0">
                <a:solidFill>
                  <a:srgbClr val="1F2328"/>
                </a:solidFill>
                <a:latin typeface="Arial" pitchFamily="34" charset="0"/>
                <a:ea typeface="Arial" pitchFamily="34" charset="-122"/>
                <a:cs typeface="Arial" pitchFamily="34" charset="-120"/>
              </a:rPr>
              <a:t>VIP refund window 30 → 60 days (standard stays 30)</a:t>
            </a:r>
            <a:endParaRPr lang="en-US" sz="1700" dirty="0"/>
          </a:p>
        </p:txBody>
      </p:sp>
      <p:sp>
        <p:nvSpPr>
          <p:cNvPr id="12" name="Shape 10"/>
          <p:cNvSpPr/>
          <p:nvPr/>
        </p:nvSpPr>
        <p:spPr>
          <a:xfrm>
            <a:off x="822960" y="3877056"/>
            <a:ext cx="548640" cy="347472"/>
          </a:xfrm>
          <a:prstGeom prst="roundRect">
            <a:avLst>
              <a:gd name="adj" fmla="val 50000"/>
            </a:avLst>
          </a:prstGeom>
          <a:solidFill>
            <a:srgbClr val="7B3FE4"/>
          </a:solidFill>
          <a:ln/>
        </p:spPr>
      </p:sp>
      <p:sp>
        <p:nvSpPr>
          <p:cNvPr id="13" name="Text 11"/>
          <p:cNvSpPr/>
          <p:nvPr/>
        </p:nvSpPr>
        <p:spPr>
          <a:xfrm>
            <a:off x="822960" y="3877056"/>
            <a:ext cx="5486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R2</a:t>
            </a:r>
            <a:endParaRPr lang="en-US" sz="1300" dirty="0"/>
          </a:p>
        </p:txBody>
      </p:sp>
      <p:sp>
        <p:nvSpPr>
          <p:cNvPr id="14" name="Text 12"/>
          <p:cNvSpPr/>
          <p:nvPr/>
        </p:nvSpPr>
        <p:spPr>
          <a:xfrm>
            <a:off x="1554480" y="3840480"/>
            <a:ext cx="5577840" cy="457200"/>
          </a:xfrm>
          <a:prstGeom prst="rect">
            <a:avLst/>
          </a:prstGeom>
          <a:noFill/>
          <a:ln/>
        </p:spPr>
        <p:txBody>
          <a:bodyPr wrap="square" lIns="0" tIns="0" rIns="0" bIns="0" rtlCol="0" anchor="ctr"/>
          <a:lstStyle/>
          <a:p>
            <a:pPr indent="0" marL="0">
              <a:buNone/>
            </a:pPr>
            <a:r>
              <a:rPr lang="en-US" sz="1700" dirty="0">
                <a:solidFill>
                  <a:srgbClr val="1F2328"/>
                </a:solidFill>
                <a:latin typeface="Arial" pitchFamily="34" charset="0"/>
                <a:ea typeface="Arial" pitchFamily="34" charset="-122"/>
                <a:cs typeface="Arial" pitchFamily="34" charset="-120"/>
              </a:rPr>
              <a:t>Require a refund reason on every refund request</a:t>
            </a:r>
            <a:endParaRPr lang="en-US" sz="1700" dirty="0"/>
          </a:p>
        </p:txBody>
      </p:sp>
      <p:sp>
        <p:nvSpPr>
          <p:cNvPr id="15" name="Shape 13"/>
          <p:cNvSpPr/>
          <p:nvPr/>
        </p:nvSpPr>
        <p:spPr>
          <a:xfrm>
            <a:off x="822960" y="4517136"/>
            <a:ext cx="548640" cy="347472"/>
          </a:xfrm>
          <a:prstGeom prst="roundRect">
            <a:avLst>
              <a:gd name="adj" fmla="val 50000"/>
            </a:avLst>
          </a:prstGeom>
          <a:solidFill>
            <a:srgbClr val="7B3FE4"/>
          </a:solidFill>
          <a:ln/>
        </p:spPr>
      </p:sp>
      <p:sp>
        <p:nvSpPr>
          <p:cNvPr id="16" name="Text 14"/>
          <p:cNvSpPr/>
          <p:nvPr/>
        </p:nvSpPr>
        <p:spPr>
          <a:xfrm>
            <a:off x="822960" y="4517136"/>
            <a:ext cx="5486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R3</a:t>
            </a:r>
            <a:endParaRPr lang="en-US" sz="1300" dirty="0"/>
          </a:p>
        </p:txBody>
      </p:sp>
      <p:sp>
        <p:nvSpPr>
          <p:cNvPr id="17" name="Text 15"/>
          <p:cNvSpPr/>
          <p:nvPr/>
        </p:nvSpPr>
        <p:spPr>
          <a:xfrm>
            <a:off x="1554480" y="4480560"/>
            <a:ext cx="5577840" cy="457200"/>
          </a:xfrm>
          <a:prstGeom prst="rect">
            <a:avLst/>
          </a:prstGeom>
          <a:noFill/>
          <a:ln/>
        </p:spPr>
        <p:txBody>
          <a:bodyPr wrap="square" lIns="0" tIns="0" rIns="0" bIns="0" rtlCol="0" anchor="ctr"/>
          <a:lstStyle/>
          <a:p>
            <a:pPr indent="0" marL="0">
              <a:buNone/>
            </a:pPr>
            <a:r>
              <a:rPr lang="en-US" sz="1700" dirty="0">
                <a:solidFill>
                  <a:srgbClr val="1F2328"/>
                </a:solidFill>
                <a:latin typeface="Arial" pitchFamily="34" charset="0"/>
                <a:ea typeface="Arial" pitchFamily="34" charset="-122"/>
                <a:cs typeface="Arial" pitchFamily="34" charset="-120"/>
              </a:rPr>
              <a:t>Refunds over ₩1,000,000 wait for admin approval</a:t>
            </a:r>
            <a:endParaRPr lang="en-US" sz="1700" dirty="0"/>
          </a:p>
        </p:txBody>
      </p:sp>
      <p:sp>
        <p:nvSpPr>
          <p:cNvPr id="18" name="Shape 16"/>
          <p:cNvSpPr/>
          <p:nvPr/>
        </p:nvSpPr>
        <p:spPr>
          <a:xfrm>
            <a:off x="822960" y="5157216"/>
            <a:ext cx="548640" cy="347472"/>
          </a:xfrm>
          <a:prstGeom prst="roundRect">
            <a:avLst>
              <a:gd name="adj" fmla="val 50000"/>
            </a:avLst>
          </a:prstGeom>
          <a:solidFill>
            <a:srgbClr val="7B3FE4"/>
          </a:solidFill>
          <a:ln/>
        </p:spPr>
      </p:sp>
      <p:sp>
        <p:nvSpPr>
          <p:cNvPr id="19" name="Text 17"/>
          <p:cNvSpPr/>
          <p:nvPr/>
        </p:nvSpPr>
        <p:spPr>
          <a:xfrm>
            <a:off x="822960" y="5157216"/>
            <a:ext cx="5486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R4</a:t>
            </a:r>
            <a:endParaRPr lang="en-US" sz="1300" dirty="0"/>
          </a:p>
        </p:txBody>
      </p:sp>
      <p:sp>
        <p:nvSpPr>
          <p:cNvPr id="20" name="Text 18"/>
          <p:cNvSpPr/>
          <p:nvPr/>
        </p:nvSpPr>
        <p:spPr>
          <a:xfrm>
            <a:off x="1554480" y="5120640"/>
            <a:ext cx="5577840" cy="457200"/>
          </a:xfrm>
          <a:prstGeom prst="rect">
            <a:avLst/>
          </a:prstGeom>
          <a:noFill/>
          <a:ln/>
        </p:spPr>
        <p:txBody>
          <a:bodyPr wrap="square" lIns="0" tIns="0" rIns="0" bIns="0" rtlCol="0" anchor="ctr"/>
          <a:lstStyle/>
          <a:p>
            <a:pPr indent="0" marL="0">
              <a:buNone/>
            </a:pPr>
            <a:r>
              <a:rPr lang="en-US" sz="1700" dirty="0">
                <a:solidFill>
                  <a:srgbClr val="1F2328"/>
                </a:solidFill>
                <a:latin typeface="Arial" pitchFamily="34" charset="0"/>
                <a:ea typeface="Arial" pitchFamily="34" charset="-122"/>
                <a:cs typeface="Arial" pitchFamily="34" charset="-120"/>
              </a:rPr>
              <a:t>Update customer screens, e-mails and policy docs too</a:t>
            </a:r>
            <a:endParaRPr lang="en-US" sz="1700" dirty="0"/>
          </a:p>
        </p:txBody>
      </p:sp>
      <p:sp>
        <p:nvSpPr>
          <p:cNvPr id="21" name="Shape 19"/>
          <p:cNvSpPr/>
          <p:nvPr/>
        </p:nvSpPr>
        <p:spPr>
          <a:xfrm>
            <a:off x="7589520" y="1554480"/>
            <a:ext cx="4023360" cy="1828800"/>
          </a:xfrm>
          <a:prstGeom prst="roundRect">
            <a:avLst>
              <a:gd name="adj" fmla="val 7000"/>
            </a:avLst>
          </a:prstGeom>
          <a:solidFill>
            <a:srgbClr val="FFF4CC"/>
          </a:solidFill>
          <a:ln/>
        </p:spPr>
      </p:sp>
      <p:sp>
        <p:nvSpPr>
          <p:cNvPr id="22" name="Text 20"/>
          <p:cNvSpPr/>
          <p:nvPr/>
        </p:nvSpPr>
        <p:spPr>
          <a:xfrm>
            <a:off x="7818120" y="1691640"/>
            <a:ext cx="3566160" cy="274320"/>
          </a:xfrm>
          <a:prstGeom prst="rect">
            <a:avLst/>
          </a:prstGeom>
          <a:noFill/>
          <a:ln/>
        </p:spPr>
        <p:txBody>
          <a:bodyPr wrap="square" lIns="0" tIns="0" rIns="0" bIns="0" rtlCol="0" anchor="t"/>
          <a:lstStyle/>
          <a:p>
            <a:pPr indent="0" marL="0">
              <a:buNone/>
            </a:pPr>
            <a:r>
              <a:rPr lang="en-US" sz="1300" b="1" dirty="0">
                <a:solidFill>
                  <a:srgbClr val="9A6700"/>
                </a:solidFill>
                <a:latin typeface="Arial" pitchFamily="34" charset="0"/>
                <a:ea typeface="Arial" pitchFamily="34" charset="-122"/>
                <a:cs typeface="Arial" pitchFamily="34" charset="-120"/>
              </a:rPr>
              <a:t>In the business team's words</a:t>
            </a:r>
            <a:endParaRPr lang="en-US" sz="1300" dirty="0"/>
          </a:p>
        </p:txBody>
      </p:sp>
      <p:sp>
        <p:nvSpPr>
          <p:cNvPr id="23" name="Text 21"/>
          <p:cNvSpPr/>
          <p:nvPr/>
        </p:nvSpPr>
        <p:spPr>
          <a:xfrm>
            <a:off x="7818120" y="2011680"/>
            <a:ext cx="3611880" cy="1325880"/>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“VIP customers say the refund window is too short. We need a reason on record and approval for high-value refunds. Tell us in advance if the mobile app is affected.”</a:t>
            </a:r>
            <a:endParaRPr lang="en-US" sz="1600" dirty="0"/>
          </a:p>
        </p:txBody>
      </p:sp>
      <p:sp>
        <p:nvSpPr>
          <p:cNvPr id="24" name="Shape 22"/>
          <p:cNvSpPr/>
          <p:nvPr/>
        </p:nvSpPr>
        <p:spPr>
          <a:xfrm>
            <a:off x="7589520" y="3566160"/>
            <a:ext cx="4023360" cy="2514600"/>
          </a:xfrm>
          <a:prstGeom prst="roundRect">
            <a:avLst>
              <a:gd name="adj" fmla="val 5091"/>
            </a:avLst>
          </a:prstGeom>
          <a:solidFill>
            <a:srgbClr val="F6F8FA"/>
          </a:solidFill>
          <a:ln w="12700">
            <a:solidFill>
              <a:srgbClr val="D0D7DE"/>
            </a:solidFill>
            <a:prstDash val="solid"/>
          </a:ln>
        </p:spPr>
      </p:sp>
      <p:sp>
        <p:nvSpPr>
          <p:cNvPr id="25" name="Text 23"/>
          <p:cNvSpPr/>
          <p:nvPr/>
        </p:nvSpPr>
        <p:spPr>
          <a:xfrm>
            <a:off x="7818120" y="3703320"/>
            <a:ext cx="3566160" cy="274320"/>
          </a:xfrm>
          <a:prstGeom prst="rect">
            <a:avLst/>
          </a:prstGeom>
          <a:noFill/>
          <a:ln/>
        </p:spPr>
        <p:txBody>
          <a:bodyPr wrap="square" lIns="0" tIns="0" rIns="0" bIns="0" rtlCol="0" anchor="t"/>
          <a:lstStyle/>
          <a:p>
            <a:pPr indent="0" marL="0">
              <a:buNone/>
            </a:pPr>
            <a:r>
              <a:rPr lang="en-US" sz="1300" b="1" dirty="0">
                <a:solidFill>
                  <a:srgbClr val="7B3FE4"/>
                </a:solidFill>
                <a:latin typeface="Arial" pitchFamily="34" charset="0"/>
                <a:ea typeface="Arial" pitchFamily="34" charset="-122"/>
                <a:cs typeface="Arial" pitchFamily="34" charset="-120"/>
              </a:rPr>
              <a:t>Demo environment</a:t>
            </a:r>
            <a:endParaRPr lang="en-US" sz="1300" dirty="0"/>
          </a:p>
        </p:txBody>
      </p:sp>
      <p:sp>
        <p:nvSpPr>
          <p:cNvPr id="26" name="Text 24"/>
          <p:cNvSpPr/>
          <p:nvPr/>
        </p:nvSpPr>
        <p:spPr>
          <a:xfrm>
            <a:off x="7818120" y="4023360"/>
            <a:ext cx="3611880"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328"/>
                </a:solidFill>
                <a:latin typeface="Arial" pitchFamily="34" charset="0"/>
                <a:ea typeface="Arial" pitchFamily="34" charset="-122"/>
                <a:cs typeface="Arial" pitchFamily="34" charset="-120"/>
              </a:rPr>
              <a:t>Order and refund service of the fictional shop ShopFlow (Python · FastAPI)</a:t>
            </a:r>
            <a:endParaRPr lang="en-US" sz="1400" dirty="0"/>
          </a:p>
          <a:p>
            <a:pPr marL="177800" indent="-177800">
              <a:spcAft>
                <a:spcPts val="600"/>
              </a:spcAft>
              <a:buSzPct val="100000"/>
              <a:buChar char="•"/>
            </a:pPr>
            <a:r>
              <a:rPr lang="en-US" sz="1400" dirty="0">
                <a:solidFill>
                  <a:srgbClr val="1F2328"/>
                </a:solidFill>
                <a:latin typeface="Arial" pitchFamily="34" charset="0"/>
                <a:ea typeface="Arial" pitchFamily="34" charset="-122"/>
                <a:cs typeface="Arial" pitchFamily="34" charset="-120"/>
              </a:rPr>
              <a:t>Real code, recorded from a real Copilot CLI session</a:t>
            </a:r>
            <a:endParaRPr lang="en-US" sz="1400" dirty="0"/>
          </a:p>
          <a:p>
            <a:pPr marL="177800" indent="-177800">
              <a:spcAft>
                <a:spcPts val="600"/>
              </a:spcAft>
              <a:buSzPct val="100000"/>
              <a:buChar char="•"/>
            </a:pPr>
            <a:r>
              <a:rPr lang="en-US" sz="1400" dirty="0">
                <a:solidFill>
                  <a:srgbClr val="1F2328"/>
                </a:solidFill>
                <a:latin typeface="Arial" pitchFamily="34" charset="0"/>
                <a:ea typeface="Arial" pitchFamily="34" charset="-122"/>
                <a:cs typeface="Arial" pitchFamily="34" charset="-120"/>
              </a:rPr>
              <a:t>Only the waiting time is sped up in editing</a:t>
            </a:r>
            <a:endParaRPr lang="en-US" sz="1400" dirty="0"/>
          </a:p>
          <a:p>
            <a:pPr marL="177800" indent="-177800">
              <a:spcAft>
                <a:spcPts val="600"/>
              </a:spcAft>
              <a:buSzPct val="100000"/>
              <a:buChar char="•"/>
            </a:pPr>
            <a:r>
              <a:rPr lang="en-US" sz="1400" dirty="0">
                <a:solidFill>
                  <a:srgbClr val="1F2328"/>
                </a:solidFill>
                <a:latin typeface="Arial" pitchFamily="34" charset="0"/>
                <a:ea typeface="Arial" pitchFamily="34" charset="-122"/>
                <a:cs typeface="Arial" pitchFamily="34" charset="-120"/>
              </a:rPr>
              <a:t>Staging and production are simulated locally</a:t>
            </a:r>
            <a:endParaRPr lang="en-US" sz="1400" dirty="0"/>
          </a:p>
        </p:txBody>
      </p:sp>
      <p:sp>
        <p:nvSpPr>
          <p:cNvPr id="27" name="Text 25"/>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28" name="Text 26"/>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2 · DEMO</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Request to operations: 7 stages, 3 approvals</a:t>
            </a:r>
            <a:endParaRPr lang="en-US" sz="3200" dirty="0"/>
          </a:p>
        </p:txBody>
      </p:sp>
      <p:sp>
        <p:nvSpPr>
          <p:cNvPr id="4" name="Shape 2"/>
          <p:cNvSpPr/>
          <p:nvPr/>
        </p:nvSpPr>
        <p:spPr>
          <a:xfrm>
            <a:off x="54864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941832" y="2377440"/>
            <a:ext cx="585216" cy="585216"/>
          </a:xfrm>
          <a:prstGeom prst="ellipse">
            <a:avLst/>
          </a:prstGeom>
          <a:solidFill>
            <a:srgbClr val="7B3FE4"/>
          </a:solidFill>
          <a:ln/>
        </p:spPr>
      </p:sp>
      <p:pic>
        <p:nvPicPr>
          <p:cNvPr id="6" name="Image 0" descr="preencoded.png">    </p:cNvPr>
          <p:cNvPicPr>
            <a:picLocks noChangeAspect="1"/>
          </p:cNvPicPr>
          <p:nvPr/>
        </p:nvPicPr>
        <p:blipFill>
          <a:blip r:embed="rId1"/>
          <a:stretch>
            <a:fillRect/>
          </a:stretch>
        </p:blipFill>
        <p:spPr>
          <a:xfrm>
            <a:off x="1099840" y="2535448"/>
            <a:ext cx="269199" cy="269199"/>
          </a:xfrm>
          <a:prstGeom prst="rect">
            <a:avLst/>
          </a:prstGeom>
        </p:spPr>
      </p:pic>
      <p:sp>
        <p:nvSpPr>
          <p:cNvPr id="7" name="Text 4"/>
          <p:cNvSpPr/>
          <p:nvPr/>
        </p:nvSpPr>
        <p:spPr>
          <a:xfrm>
            <a:off x="54864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Analyze</a:t>
            </a:r>
            <a:endParaRPr lang="en-US" sz="2000" dirty="0"/>
          </a:p>
        </p:txBody>
      </p:sp>
      <p:sp>
        <p:nvSpPr>
          <p:cNvPr id="8" name="Text 5"/>
          <p:cNvSpPr/>
          <p:nvPr/>
        </p:nvSpPr>
        <p:spPr>
          <a:xfrm>
            <a:off x="56692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change-analyst</a:t>
            </a:r>
            <a:endParaRPr lang="en-US" sz="1050" dirty="0"/>
          </a:p>
        </p:txBody>
      </p:sp>
      <p:sp>
        <p:nvSpPr>
          <p:cNvPr id="9" name="Shape 6"/>
          <p:cNvSpPr/>
          <p:nvPr/>
        </p:nvSpPr>
        <p:spPr>
          <a:xfrm>
            <a:off x="868680" y="3931920"/>
            <a:ext cx="731520" cy="274320"/>
          </a:xfrm>
          <a:prstGeom prst="roundRect">
            <a:avLst>
              <a:gd name="adj" fmla="val 50000"/>
            </a:avLst>
          </a:prstGeom>
          <a:solidFill>
            <a:srgbClr val="F6F8FA"/>
          </a:solidFill>
          <a:ln/>
        </p:spPr>
      </p:sp>
      <p:sp>
        <p:nvSpPr>
          <p:cNvPr id="10" name="Text 7"/>
          <p:cNvSpPr/>
          <p:nvPr/>
        </p:nvSpPr>
        <p:spPr>
          <a:xfrm>
            <a:off x="86868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rial" pitchFamily="34" charset="0"/>
                <a:ea typeface="Arial" pitchFamily="34" charset="-122"/>
                <a:cs typeface="Arial" pitchFamily="34" charset="-120"/>
              </a:rPr>
              <a:t>Doc 01</a:t>
            </a:r>
            <a:endParaRPr lang="en-US" sz="1000" dirty="0"/>
          </a:p>
        </p:txBody>
      </p:sp>
      <p:sp>
        <p:nvSpPr>
          <p:cNvPr id="11" name="Shape 8"/>
          <p:cNvSpPr/>
          <p:nvPr/>
        </p:nvSpPr>
        <p:spPr>
          <a:xfrm>
            <a:off x="1947672" y="3264408"/>
            <a:ext cx="82296" cy="0"/>
          </a:xfrm>
          <a:prstGeom prst="line">
            <a:avLst/>
          </a:prstGeom>
          <a:noFill/>
          <a:ln w="25400">
            <a:solidFill>
              <a:srgbClr val="7B3FE4"/>
            </a:solidFill>
            <a:prstDash val="solid"/>
            <a:tailEnd type="triangle"/>
          </a:ln>
        </p:spPr>
      </p:sp>
      <p:sp>
        <p:nvSpPr>
          <p:cNvPr id="12" name="Shape 9"/>
          <p:cNvSpPr/>
          <p:nvPr/>
        </p:nvSpPr>
        <p:spPr>
          <a:xfrm>
            <a:off x="205740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2450592" y="2377440"/>
            <a:ext cx="585216" cy="585216"/>
          </a:xfrm>
          <a:prstGeom prst="ellipse">
            <a:avLst/>
          </a:prstGeom>
          <a:solidFill>
            <a:srgbClr val="7B3FE4"/>
          </a:solidFill>
          <a:ln/>
        </p:spPr>
      </p:sp>
      <p:pic>
        <p:nvPicPr>
          <p:cNvPr id="14" name="Image 1" descr="preencoded.png">    </p:cNvPr>
          <p:cNvPicPr>
            <a:picLocks noChangeAspect="1"/>
          </p:cNvPicPr>
          <p:nvPr/>
        </p:nvPicPr>
        <p:blipFill>
          <a:blip r:embed="rId2"/>
          <a:stretch>
            <a:fillRect/>
          </a:stretch>
        </p:blipFill>
        <p:spPr>
          <a:xfrm>
            <a:off x="2608600" y="2535448"/>
            <a:ext cx="269199" cy="269199"/>
          </a:xfrm>
          <a:prstGeom prst="rect">
            <a:avLst/>
          </a:prstGeom>
        </p:spPr>
      </p:pic>
      <p:sp>
        <p:nvSpPr>
          <p:cNvPr id="15" name="Text 11"/>
          <p:cNvSpPr/>
          <p:nvPr/>
        </p:nvSpPr>
        <p:spPr>
          <a:xfrm>
            <a:off x="205740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Design</a:t>
            </a:r>
            <a:endParaRPr lang="en-US" sz="2000" dirty="0"/>
          </a:p>
        </p:txBody>
      </p:sp>
      <p:sp>
        <p:nvSpPr>
          <p:cNvPr id="16" name="Text 12"/>
          <p:cNvSpPr/>
          <p:nvPr/>
        </p:nvSpPr>
        <p:spPr>
          <a:xfrm>
            <a:off x="207568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solution-architect</a:t>
            </a:r>
            <a:endParaRPr lang="en-US" sz="1050" dirty="0"/>
          </a:p>
        </p:txBody>
      </p:sp>
      <p:sp>
        <p:nvSpPr>
          <p:cNvPr id="17" name="Shape 13"/>
          <p:cNvSpPr/>
          <p:nvPr/>
        </p:nvSpPr>
        <p:spPr>
          <a:xfrm>
            <a:off x="2377440" y="3931920"/>
            <a:ext cx="731520" cy="274320"/>
          </a:xfrm>
          <a:prstGeom prst="roundRect">
            <a:avLst>
              <a:gd name="adj" fmla="val 50000"/>
            </a:avLst>
          </a:prstGeom>
          <a:solidFill>
            <a:srgbClr val="F6F8FA"/>
          </a:solidFill>
          <a:ln/>
        </p:spPr>
      </p:sp>
      <p:sp>
        <p:nvSpPr>
          <p:cNvPr id="18" name="Text 14"/>
          <p:cNvSpPr/>
          <p:nvPr/>
        </p:nvSpPr>
        <p:spPr>
          <a:xfrm>
            <a:off x="237744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rial" pitchFamily="34" charset="0"/>
                <a:ea typeface="Arial" pitchFamily="34" charset="-122"/>
                <a:cs typeface="Arial" pitchFamily="34" charset="-120"/>
              </a:rPr>
              <a:t>Doc 02</a:t>
            </a:r>
            <a:endParaRPr lang="en-US" sz="1000" dirty="0"/>
          </a:p>
        </p:txBody>
      </p:sp>
      <p:sp>
        <p:nvSpPr>
          <p:cNvPr id="19" name="Shape 15"/>
          <p:cNvSpPr/>
          <p:nvPr/>
        </p:nvSpPr>
        <p:spPr>
          <a:xfrm>
            <a:off x="3456432" y="3264408"/>
            <a:ext cx="402336" cy="0"/>
          </a:xfrm>
          <a:prstGeom prst="line">
            <a:avLst/>
          </a:prstGeom>
          <a:noFill/>
          <a:ln w="25400">
            <a:solidFill>
              <a:srgbClr val="7B3FE4"/>
            </a:solidFill>
            <a:prstDash val="solid"/>
            <a:tailEnd type="triangle"/>
          </a:ln>
        </p:spPr>
      </p:sp>
      <p:sp>
        <p:nvSpPr>
          <p:cNvPr id="20" name="Shape 16"/>
          <p:cNvSpPr/>
          <p:nvPr/>
        </p:nvSpPr>
        <p:spPr>
          <a:xfrm>
            <a:off x="388620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21" name="Shape 17"/>
          <p:cNvSpPr/>
          <p:nvPr/>
        </p:nvSpPr>
        <p:spPr>
          <a:xfrm>
            <a:off x="4279392" y="2377440"/>
            <a:ext cx="585216" cy="585216"/>
          </a:xfrm>
          <a:prstGeom prst="ellipse">
            <a:avLst/>
          </a:prstGeom>
          <a:solidFill>
            <a:srgbClr val="7B3FE4"/>
          </a:solidFill>
          <a:ln/>
        </p:spPr>
      </p:sp>
      <p:pic>
        <p:nvPicPr>
          <p:cNvPr id="22" name="Image 2" descr="preencoded.png">    </p:cNvPr>
          <p:cNvPicPr>
            <a:picLocks noChangeAspect="1"/>
          </p:cNvPicPr>
          <p:nvPr/>
        </p:nvPicPr>
        <p:blipFill>
          <a:blip r:embed="rId3"/>
          <a:stretch>
            <a:fillRect/>
          </a:stretch>
        </p:blipFill>
        <p:spPr>
          <a:xfrm>
            <a:off x="4437400" y="2535448"/>
            <a:ext cx="269199" cy="269199"/>
          </a:xfrm>
          <a:prstGeom prst="rect">
            <a:avLst/>
          </a:prstGeom>
        </p:spPr>
      </p:pic>
      <p:sp>
        <p:nvSpPr>
          <p:cNvPr id="23" name="Text 18"/>
          <p:cNvSpPr/>
          <p:nvPr/>
        </p:nvSpPr>
        <p:spPr>
          <a:xfrm>
            <a:off x="388620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Build</a:t>
            </a:r>
            <a:endParaRPr lang="en-US" sz="2000" dirty="0"/>
          </a:p>
        </p:txBody>
      </p:sp>
      <p:sp>
        <p:nvSpPr>
          <p:cNvPr id="24" name="Text 19"/>
          <p:cNvSpPr/>
          <p:nvPr/>
        </p:nvSpPr>
        <p:spPr>
          <a:xfrm>
            <a:off x="390448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app-developer</a:t>
            </a:r>
            <a:endParaRPr lang="en-US" sz="1050" dirty="0"/>
          </a:p>
        </p:txBody>
      </p:sp>
      <p:sp>
        <p:nvSpPr>
          <p:cNvPr id="25" name="Shape 20"/>
          <p:cNvSpPr/>
          <p:nvPr/>
        </p:nvSpPr>
        <p:spPr>
          <a:xfrm>
            <a:off x="4206240" y="3931920"/>
            <a:ext cx="731520" cy="274320"/>
          </a:xfrm>
          <a:prstGeom prst="roundRect">
            <a:avLst>
              <a:gd name="adj" fmla="val 50000"/>
            </a:avLst>
          </a:prstGeom>
          <a:solidFill>
            <a:srgbClr val="F6F8FA"/>
          </a:solidFill>
          <a:ln/>
        </p:spPr>
      </p:sp>
      <p:sp>
        <p:nvSpPr>
          <p:cNvPr id="26" name="Text 21"/>
          <p:cNvSpPr/>
          <p:nvPr/>
        </p:nvSpPr>
        <p:spPr>
          <a:xfrm>
            <a:off x="420624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rial" pitchFamily="34" charset="0"/>
                <a:ea typeface="Arial" pitchFamily="34" charset="-122"/>
                <a:cs typeface="Arial" pitchFamily="34" charset="-120"/>
              </a:rPr>
              <a:t>Doc 03</a:t>
            </a:r>
            <a:endParaRPr lang="en-US" sz="1000" dirty="0"/>
          </a:p>
        </p:txBody>
      </p:sp>
      <p:sp>
        <p:nvSpPr>
          <p:cNvPr id="27" name="Shape 22"/>
          <p:cNvSpPr/>
          <p:nvPr/>
        </p:nvSpPr>
        <p:spPr>
          <a:xfrm>
            <a:off x="5285232" y="3264408"/>
            <a:ext cx="82296" cy="0"/>
          </a:xfrm>
          <a:prstGeom prst="line">
            <a:avLst/>
          </a:prstGeom>
          <a:noFill/>
          <a:ln w="25400">
            <a:solidFill>
              <a:srgbClr val="7B3FE4"/>
            </a:solidFill>
            <a:prstDash val="solid"/>
            <a:tailEnd type="triangle"/>
          </a:ln>
        </p:spPr>
      </p:sp>
      <p:sp>
        <p:nvSpPr>
          <p:cNvPr id="28" name="Shape 23"/>
          <p:cNvSpPr/>
          <p:nvPr/>
        </p:nvSpPr>
        <p:spPr>
          <a:xfrm>
            <a:off x="539496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29" name="Shape 24"/>
          <p:cNvSpPr/>
          <p:nvPr/>
        </p:nvSpPr>
        <p:spPr>
          <a:xfrm>
            <a:off x="5788152" y="2377440"/>
            <a:ext cx="585216" cy="585216"/>
          </a:xfrm>
          <a:prstGeom prst="ellipse">
            <a:avLst/>
          </a:prstGeom>
          <a:solidFill>
            <a:srgbClr val="7B3FE4"/>
          </a:solidFill>
          <a:ln/>
        </p:spPr>
      </p:sp>
      <p:pic>
        <p:nvPicPr>
          <p:cNvPr id="30" name="Image 3" descr="preencoded.png">    </p:cNvPr>
          <p:cNvPicPr>
            <a:picLocks noChangeAspect="1"/>
          </p:cNvPicPr>
          <p:nvPr/>
        </p:nvPicPr>
        <p:blipFill>
          <a:blip r:embed="rId4"/>
          <a:stretch>
            <a:fillRect/>
          </a:stretch>
        </p:blipFill>
        <p:spPr>
          <a:xfrm>
            <a:off x="5946160" y="2535448"/>
            <a:ext cx="269199" cy="269199"/>
          </a:xfrm>
          <a:prstGeom prst="rect">
            <a:avLst/>
          </a:prstGeom>
        </p:spPr>
      </p:pic>
      <p:sp>
        <p:nvSpPr>
          <p:cNvPr id="31" name="Text 25"/>
          <p:cNvSpPr/>
          <p:nvPr/>
        </p:nvSpPr>
        <p:spPr>
          <a:xfrm>
            <a:off x="539496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Test</a:t>
            </a:r>
            <a:endParaRPr lang="en-US" sz="2000" dirty="0"/>
          </a:p>
        </p:txBody>
      </p:sp>
      <p:sp>
        <p:nvSpPr>
          <p:cNvPr id="32" name="Text 26"/>
          <p:cNvSpPr/>
          <p:nvPr/>
        </p:nvSpPr>
        <p:spPr>
          <a:xfrm>
            <a:off x="541324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qa-engineer</a:t>
            </a:r>
            <a:endParaRPr lang="en-US" sz="1050" dirty="0"/>
          </a:p>
        </p:txBody>
      </p:sp>
      <p:sp>
        <p:nvSpPr>
          <p:cNvPr id="33" name="Shape 27"/>
          <p:cNvSpPr/>
          <p:nvPr/>
        </p:nvSpPr>
        <p:spPr>
          <a:xfrm>
            <a:off x="5715000" y="3931920"/>
            <a:ext cx="731520" cy="274320"/>
          </a:xfrm>
          <a:prstGeom prst="roundRect">
            <a:avLst>
              <a:gd name="adj" fmla="val 50000"/>
            </a:avLst>
          </a:prstGeom>
          <a:solidFill>
            <a:srgbClr val="F6F8FA"/>
          </a:solidFill>
          <a:ln/>
        </p:spPr>
      </p:sp>
      <p:sp>
        <p:nvSpPr>
          <p:cNvPr id="34" name="Text 28"/>
          <p:cNvSpPr/>
          <p:nvPr/>
        </p:nvSpPr>
        <p:spPr>
          <a:xfrm>
            <a:off x="571500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rial" pitchFamily="34" charset="0"/>
                <a:ea typeface="Arial" pitchFamily="34" charset="-122"/>
                <a:cs typeface="Arial" pitchFamily="34" charset="-120"/>
              </a:rPr>
              <a:t>Doc 04</a:t>
            </a:r>
            <a:endParaRPr lang="en-US" sz="1000" dirty="0"/>
          </a:p>
        </p:txBody>
      </p:sp>
      <p:sp>
        <p:nvSpPr>
          <p:cNvPr id="35" name="Shape 29"/>
          <p:cNvSpPr/>
          <p:nvPr/>
        </p:nvSpPr>
        <p:spPr>
          <a:xfrm>
            <a:off x="6793992" y="3264408"/>
            <a:ext cx="82296" cy="0"/>
          </a:xfrm>
          <a:prstGeom prst="line">
            <a:avLst/>
          </a:prstGeom>
          <a:noFill/>
          <a:ln w="25400">
            <a:solidFill>
              <a:srgbClr val="7B3FE4"/>
            </a:solidFill>
            <a:prstDash val="solid"/>
            <a:tailEnd type="triangle"/>
          </a:ln>
        </p:spPr>
      </p:sp>
      <p:sp>
        <p:nvSpPr>
          <p:cNvPr id="36" name="Shape 30"/>
          <p:cNvSpPr/>
          <p:nvPr/>
        </p:nvSpPr>
        <p:spPr>
          <a:xfrm>
            <a:off x="690372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37" name="Shape 31"/>
          <p:cNvSpPr/>
          <p:nvPr/>
        </p:nvSpPr>
        <p:spPr>
          <a:xfrm>
            <a:off x="7296912" y="2377440"/>
            <a:ext cx="585216" cy="585216"/>
          </a:xfrm>
          <a:prstGeom prst="ellipse">
            <a:avLst/>
          </a:prstGeom>
          <a:solidFill>
            <a:srgbClr val="7B3FE4"/>
          </a:solidFill>
          <a:ln/>
        </p:spPr>
      </p:sp>
      <p:pic>
        <p:nvPicPr>
          <p:cNvPr id="38" name="Image 4" descr="preencoded.png">    </p:cNvPr>
          <p:cNvPicPr>
            <a:picLocks noChangeAspect="1"/>
          </p:cNvPicPr>
          <p:nvPr/>
        </p:nvPicPr>
        <p:blipFill>
          <a:blip r:embed="rId5"/>
          <a:stretch>
            <a:fillRect/>
          </a:stretch>
        </p:blipFill>
        <p:spPr>
          <a:xfrm>
            <a:off x="7454920" y="2535448"/>
            <a:ext cx="269199" cy="269199"/>
          </a:xfrm>
          <a:prstGeom prst="rect">
            <a:avLst/>
          </a:prstGeom>
        </p:spPr>
      </p:pic>
      <p:sp>
        <p:nvSpPr>
          <p:cNvPr id="39" name="Text 32"/>
          <p:cNvSpPr/>
          <p:nvPr/>
        </p:nvSpPr>
        <p:spPr>
          <a:xfrm>
            <a:off x="690372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Review</a:t>
            </a:r>
            <a:endParaRPr lang="en-US" sz="2000" dirty="0"/>
          </a:p>
        </p:txBody>
      </p:sp>
      <p:sp>
        <p:nvSpPr>
          <p:cNvPr id="40" name="Text 33"/>
          <p:cNvSpPr/>
          <p:nvPr/>
        </p:nvSpPr>
        <p:spPr>
          <a:xfrm>
            <a:off x="692200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code-reviewer</a:t>
            </a:r>
            <a:endParaRPr lang="en-US" sz="1050" dirty="0"/>
          </a:p>
        </p:txBody>
      </p:sp>
      <p:sp>
        <p:nvSpPr>
          <p:cNvPr id="41" name="Shape 34"/>
          <p:cNvSpPr/>
          <p:nvPr/>
        </p:nvSpPr>
        <p:spPr>
          <a:xfrm>
            <a:off x="7223760" y="3931920"/>
            <a:ext cx="731520" cy="274320"/>
          </a:xfrm>
          <a:prstGeom prst="roundRect">
            <a:avLst>
              <a:gd name="adj" fmla="val 50000"/>
            </a:avLst>
          </a:prstGeom>
          <a:solidFill>
            <a:srgbClr val="F6F8FA"/>
          </a:solidFill>
          <a:ln/>
        </p:spPr>
      </p:sp>
      <p:sp>
        <p:nvSpPr>
          <p:cNvPr id="42" name="Text 35"/>
          <p:cNvSpPr/>
          <p:nvPr/>
        </p:nvSpPr>
        <p:spPr>
          <a:xfrm>
            <a:off x="722376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rial" pitchFamily="34" charset="0"/>
                <a:ea typeface="Arial" pitchFamily="34" charset="-122"/>
                <a:cs typeface="Arial" pitchFamily="34" charset="-120"/>
              </a:rPr>
              <a:t>Doc 05</a:t>
            </a:r>
            <a:endParaRPr lang="en-US" sz="1000" dirty="0"/>
          </a:p>
        </p:txBody>
      </p:sp>
      <p:sp>
        <p:nvSpPr>
          <p:cNvPr id="43" name="Shape 36"/>
          <p:cNvSpPr/>
          <p:nvPr/>
        </p:nvSpPr>
        <p:spPr>
          <a:xfrm>
            <a:off x="8302752" y="3264408"/>
            <a:ext cx="402336" cy="0"/>
          </a:xfrm>
          <a:prstGeom prst="line">
            <a:avLst/>
          </a:prstGeom>
          <a:noFill/>
          <a:ln w="25400">
            <a:solidFill>
              <a:srgbClr val="7B3FE4"/>
            </a:solidFill>
            <a:prstDash val="solid"/>
            <a:tailEnd type="triangle"/>
          </a:ln>
        </p:spPr>
      </p:sp>
      <p:sp>
        <p:nvSpPr>
          <p:cNvPr id="44" name="Shape 37"/>
          <p:cNvSpPr/>
          <p:nvPr/>
        </p:nvSpPr>
        <p:spPr>
          <a:xfrm>
            <a:off x="873252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45" name="Shape 38"/>
          <p:cNvSpPr/>
          <p:nvPr/>
        </p:nvSpPr>
        <p:spPr>
          <a:xfrm>
            <a:off x="9125712" y="2377440"/>
            <a:ext cx="585216" cy="585216"/>
          </a:xfrm>
          <a:prstGeom prst="ellipse">
            <a:avLst/>
          </a:prstGeom>
          <a:solidFill>
            <a:srgbClr val="7B3FE4"/>
          </a:solidFill>
          <a:ln/>
        </p:spPr>
      </p:sp>
      <p:pic>
        <p:nvPicPr>
          <p:cNvPr id="46" name="Image 5" descr="preencoded.png">    </p:cNvPr>
          <p:cNvPicPr>
            <a:picLocks noChangeAspect="1"/>
          </p:cNvPicPr>
          <p:nvPr/>
        </p:nvPicPr>
        <p:blipFill>
          <a:blip r:embed="rId6"/>
          <a:stretch>
            <a:fillRect/>
          </a:stretch>
        </p:blipFill>
        <p:spPr>
          <a:xfrm>
            <a:off x="9283720" y="2535448"/>
            <a:ext cx="269199" cy="269199"/>
          </a:xfrm>
          <a:prstGeom prst="rect">
            <a:avLst/>
          </a:prstGeom>
        </p:spPr>
      </p:pic>
      <p:sp>
        <p:nvSpPr>
          <p:cNvPr id="47" name="Text 39"/>
          <p:cNvSpPr/>
          <p:nvPr/>
        </p:nvSpPr>
        <p:spPr>
          <a:xfrm>
            <a:off x="873252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Deploy</a:t>
            </a:r>
            <a:endParaRPr lang="en-US" sz="2000" dirty="0"/>
          </a:p>
        </p:txBody>
      </p:sp>
      <p:sp>
        <p:nvSpPr>
          <p:cNvPr id="48" name="Text 40"/>
          <p:cNvSpPr/>
          <p:nvPr/>
        </p:nvSpPr>
        <p:spPr>
          <a:xfrm>
            <a:off x="875080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release-manager</a:t>
            </a:r>
            <a:endParaRPr lang="en-US" sz="1050" dirty="0"/>
          </a:p>
        </p:txBody>
      </p:sp>
      <p:sp>
        <p:nvSpPr>
          <p:cNvPr id="49" name="Shape 41"/>
          <p:cNvSpPr/>
          <p:nvPr/>
        </p:nvSpPr>
        <p:spPr>
          <a:xfrm>
            <a:off x="9052560" y="3931920"/>
            <a:ext cx="731520" cy="274320"/>
          </a:xfrm>
          <a:prstGeom prst="roundRect">
            <a:avLst>
              <a:gd name="adj" fmla="val 50000"/>
            </a:avLst>
          </a:prstGeom>
          <a:solidFill>
            <a:srgbClr val="F6F8FA"/>
          </a:solidFill>
          <a:ln/>
        </p:spPr>
      </p:sp>
      <p:sp>
        <p:nvSpPr>
          <p:cNvPr id="50" name="Text 42"/>
          <p:cNvSpPr/>
          <p:nvPr/>
        </p:nvSpPr>
        <p:spPr>
          <a:xfrm>
            <a:off x="905256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rial" pitchFamily="34" charset="0"/>
                <a:ea typeface="Arial" pitchFamily="34" charset="-122"/>
                <a:cs typeface="Arial" pitchFamily="34" charset="-120"/>
              </a:rPr>
              <a:t>Doc 06</a:t>
            </a:r>
            <a:endParaRPr lang="en-US" sz="1000" dirty="0"/>
          </a:p>
        </p:txBody>
      </p:sp>
      <p:sp>
        <p:nvSpPr>
          <p:cNvPr id="51" name="Shape 43"/>
          <p:cNvSpPr/>
          <p:nvPr/>
        </p:nvSpPr>
        <p:spPr>
          <a:xfrm>
            <a:off x="10131552" y="3264408"/>
            <a:ext cx="82296" cy="0"/>
          </a:xfrm>
          <a:prstGeom prst="line">
            <a:avLst/>
          </a:prstGeom>
          <a:noFill/>
          <a:ln w="25400">
            <a:solidFill>
              <a:srgbClr val="7B3FE4"/>
            </a:solidFill>
            <a:prstDash val="solid"/>
            <a:tailEnd type="triangle"/>
          </a:ln>
        </p:spPr>
      </p:sp>
      <p:sp>
        <p:nvSpPr>
          <p:cNvPr id="52" name="Shape 44"/>
          <p:cNvSpPr/>
          <p:nvPr/>
        </p:nvSpPr>
        <p:spPr>
          <a:xfrm>
            <a:off x="1024128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53" name="Shape 45"/>
          <p:cNvSpPr/>
          <p:nvPr/>
        </p:nvSpPr>
        <p:spPr>
          <a:xfrm>
            <a:off x="10634472" y="2377440"/>
            <a:ext cx="585216" cy="585216"/>
          </a:xfrm>
          <a:prstGeom prst="ellipse">
            <a:avLst/>
          </a:prstGeom>
          <a:solidFill>
            <a:srgbClr val="7B3FE4"/>
          </a:solidFill>
          <a:ln/>
        </p:spPr>
      </p:sp>
      <p:pic>
        <p:nvPicPr>
          <p:cNvPr id="54" name="Image 6" descr="preencoded.png">    </p:cNvPr>
          <p:cNvPicPr>
            <a:picLocks noChangeAspect="1"/>
          </p:cNvPicPr>
          <p:nvPr/>
        </p:nvPicPr>
        <p:blipFill>
          <a:blip r:embed="rId7"/>
          <a:stretch>
            <a:fillRect/>
          </a:stretch>
        </p:blipFill>
        <p:spPr>
          <a:xfrm>
            <a:off x="10792480" y="2535448"/>
            <a:ext cx="269199" cy="269199"/>
          </a:xfrm>
          <a:prstGeom prst="rect">
            <a:avLst/>
          </a:prstGeom>
        </p:spPr>
      </p:pic>
      <p:sp>
        <p:nvSpPr>
          <p:cNvPr id="55" name="Text 46"/>
          <p:cNvSpPr/>
          <p:nvPr/>
        </p:nvSpPr>
        <p:spPr>
          <a:xfrm>
            <a:off x="1024128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Operate</a:t>
            </a:r>
            <a:endParaRPr lang="en-US" sz="2000" dirty="0"/>
          </a:p>
        </p:txBody>
      </p:sp>
      <p:sp>
        <p:nvSpPr>
          <p:cNvPr id="56" name="Text 47"/>
          <p:cNvSpPr/>
          <p:nvPr/>
        </p:nvSpPr>
        <p:spPr>
          <a:xfrm>
            <a:off x="1025956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ops-analyst</a:t>
            </a:r>
            <a:endParaRPr lang="en-US" sz="1050" dirty="0"/>
          </a:p>
        </p:txBody>
      </p:sp>
      <p:sp>
        <p:nvSpPr>
          <p:cNvPr id="57" name="Shape 48"/>
          <p:cNvSpPr/>
          <p:nvPr/>
        </p:nvSpPr>
        <p:spPr>
          <a:xfrm>
            <a:off x="10561320" y="3931920"/>
            <a:ext cx="731520" cy="274320"/>
          </a:xfrm>
          <a:prstGeom prst="roundRect">
            <a:avLst>
              <a:gd name="adj" fmla="val 50000"/>
            </a:avLst>
          </a:prstGeom>
          <a:solidFill>
            <a:srgbClr val="F6F8FA"/>
          </a:solidFill>
          <a:ln/>
        </p:spPr>
      </p:sp>
      <p:sp>
        <p:nvSpPr>
          <p:cNvPr id="58" name="Text 49"/>
          <p:cNvSpPr/>
          <p:nvPr/>
        </p:nvSpPr>
        <p:spPr>
          <a:xfrm>
            <a:off x="1056132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rial" pitchFamily="34" charset="0"/>
                <a:ea typeface="Arial" pitchFamily="34" charset="-122"/>
                <a:cs typeface="Arial" pitchFamily="34" charset="-120"/>
              </a:rPr>
              <a:t>Doc 07</a:t>
            </a:r>
            <a:endParaRPr lang="en-US" sz="1000" dirty="0"/>
          </a:p>
        </p:txBody>
      </p:sp>
      <p:sp>
        <p:nvSpPr>
          <p:cNvPr id="59" name="Shape 50"/>
          <p:cNvSpPr/>
          <p:nvPr/>
        </p:nvSpPr>
        <p:spPr>
          <a:xfrm>
            <a:off x="3410712" y="1490472"/>
            <a:ext cx="493776" cy="493776"/>
          </a:xfrm>
          <a:prstGeom prst="ellipse">
            <a:avLst/>
          </a:prstGeom>
          <a:solidFill>
            <a:srgbClr val="F0B429"/>
          </a:solidFill>
          <a:ln/>
        </p:spPr>
      </p:sp>
      <p:pic>
        <p:nvPicPr>
          <p:cNvPr id="60" name="Image 7" descr="preencoded.png">    </p:cNvPr>
          <p:cNvPicPr>
            <a:picLocks noChangeAspect="1"/>
          </p:cNvPicPr>
          <p:nvPr/>
        </p:nvPicPr>
        <p:blipFill>
          <a:blip r:embed="rId8"/>
          <a:stretch>
            <a:fillRect/>
          </a:stretch>
        </p:blipFill>
        <p:spPr>
          <a:xfrm>
            <a:off x="3529584" y="1609344"/>
            <a:ext cx="256032" cy="256032"/>
          </a:xfrm>
          <a:prstGeom prst="rect">
            <a:avLst/>
          </a:prstGeom>
        </p:spPr>
      </p:pic>
      <p:sp>
        <p:nvSpPr>
          <p:cNvPr id="61" name="Shape 51"/>
          <p:cNvSpPr/>
          <p:nvPr/>
        </p:nvSpPr>
        <p:spPr>
          <a:xfrm>
            <a:off x="3657600" y="1984248"/>
            <a:ext cx="0" cy="1280160"/>
          </a:xfrm>
          <a:prstGeom prst="line">
            <a:avLst/>
          </a:prstGeom>
          <a:noFill/>
          <a:ln w="25400">
            <a:solidFill>
              <a:srgbClr val="F0B429"/>
            </a:solidFill>
            <a:prstDash val="dash"/>
          </a:ln>
        </p:spPr>
      </p:sp>
      <p:sp>
        <p:nvSpPr>
          <p:cNvPr id="62" name="Text 52"/>
          <p:cNvSpPr/>
          <p:nvPr/>
        </p:nvSpPr>
        <p:spPr>
          <a:xfrm>
            <a:off x="2560320" y="1188720"/>
            <a:ext cx="2194560" cy="274320"/>
          </a:xfrm>
          <a:prstGeom prst="rect">
            <a:avLst/>
          </a:prstGeom>
          <a:noFill/>
          <a:ln/>
        </p:spPr>
        <p:txBody>
          <a:bodyPr wrap="square" lIns="0" tIns="0" rIns="0" bIns="0" rtlCol="0" anchor="t"/>
          <a:lstStyle/>
          <a:p>
            <a:pPr algn="ctr" indent="0" marL="0">
              <a:buNone/>
            </a:pPr>
            <a:r>
              <a:rPr lang="en-US" sz="1400" b="1" dirty="0">
                <a:solidFill>
                  <a:srgbClr val="9A6700"/>
                </a:solidFill>
                <a:latin typeface="Arial" pitchFamily="34" charset="0"/>
                <a:ea typeface="Arial" pitchFamily="34" charset="-122"/>
                <a:cs typeface="Arial" pitchFamily="34" charset="-120"/>
              </a:rPr>
              <a:t>① Design approval</a:t>
            </a:r>
            <a:endParaRPr lang="en-US" sz="1400" dirty="0"/>
          </a:p>
        </p:txBody>
      </p:sp>
      <p:sp>
        <p:nvSpPr>
          <p:cNvPr id="63" name="Shape 53"/>
          <p:cNvSpPr/>
          <p:nvPr/>
        </p:nvSpPr>
        <p:spPr>
          <a:xfrm>
            <a:off x="8257032" y="1490472"/>
            <a:ext cx="493776" cy="493776"/>
          </a:xfrm>
          <a:prstGeom prst="ellipse">
            <a:avLst/>
          </a:prstGeom>
          <a:solidFill>
            <a:srgbClr val="F0B429"/>
          </a:solidFill>
          <a:ln/>
        </p:spPr>
      </p:sp>
      <p:pic>
        <p:nvPicPr>
          <p:cNvPr id="64" name="Image 8" descr="preencoded.png">    </p:cNvPr>
          <p:cNvPicPr>
            <a:picLocks noChangeAspect="1"/>
          </p:cNvPicPr>
          <p:nvPr/>
        </p:nvPicPr>
        <p:blipFill>
          <a:blip r:embed="rId9"/>
          <a:stretch>
            <a:fillRect/>
          </a:stretch>
        </p:blipFill>
        <p:spPr>
          <a:xfrm>
            <a:off x="8375904" y="1609344"/>
            <a:ext cx="256032" cy="256032"/>
          </a:xfrm>
          <a:prstGeom prst="rect">
            <a:avLst/>
          </a:prstGeom>
        </p:spPr>
      </p:pic>
      <p:sp>
        <p:nvSpPr>
          <p:cNvPr id="65" name="Shape 54"/>
          <p:cNvSpPr/>
          <p:nvPr/>
        </p:nvSpPr>
        <p:spPr>
          <a:xfrm>
            <a:off x="8503920" y="1984248"/>
            <a:ext cx="0" cy="1280160"/>
          </a:xfrm>
          <a:prstGeom prst="line">
            <a:avLst/>
          </a:prstGeom>
          <a:noFill/>
          <a:ln w="25400">
            <a:solidFill>
              <a:srgbClr val="F0B429"/>
            </a:solidFill>
            <a:prstDash val="dash"/>
          </a:ln>
        </p:spPr>
      </p:sp>
      <p:sp>
        <p:nvSpPr>
          <p:cNvPr id="66" name="Text 55"/>
          <p:cNvSpPr/>
          <p:nvPr/>
        </p:nvSpPr>
        <p:spPr>
          <a:xfrm>
            <a:off x="7406640" y="1188720"/>
            <a:ext cx="2194560" cy="274320"/>
          </a:xfrm>
          <a:prstGeom prst="rect">
            <a:avLst/>
          </a:prstGeom>
          <a:noFill/>
          <a:ln/>
        </p:spPr>
        <p:txBody>
          <a:bodyPr wrap="square" lIns="0" tIns="0" rIns="0" bIns="0" rtlCol="0" anchor="t"/>
          <a:lstStyle/>
          <a:p>
            <a:pPr algn="ctr" indent="0" marL="0">
              <a:buNone/>
            </a:pPr>
            <a:r>
              <a:rPr lang="en-US" sz="1400" b="1" dirty="0">
                <a:solidFill>
                  <a:srgbClr val="9A6700"/>
                </a:solidFill>
                <a:latin typeface="Arial" pitchFamily="34" charset="0"/>
                <a:ea typeface="Arial" pitchFamily="34" charset="-122"/>
                <a:cs typeface="Arial" pitchFamily="34" charset="-120"/>
              </a:rPr>
              <a:t>② Code approval</a:t>
            </a:r>
            <a:endParaRPr lang="en-US" sz="1400" dirty="0"/>
          </a:p>
        </p:txBody>
      </p:sp>
      <p:sp>
        <p:nvSpPr>
          <p:cNvPr id="67" name="Shape 56"/>
          <p:cNvSpPr/>
          <p:nvPr/>
        </p:nvSpPr>
        <p:spPr>
          <a:xfrm>
            <a:off x="9829800" y="1490472"/>
            <a:ext cx="493776" cy="493776"/>
          </a:xfrm>
          <a:prstGeom prst="ellipse">
            <a:avLst/>
          </a:prstGeom>
          <a:solidFill>
            <a:srgbClr val="F0B429"/>
          </a:solidFill>
          <a:ln/>
        </p:spPr>
      </p:sp>
      <p:pic>
        <p:nvPicPr>
          <p:cNvPr id="68" name="Image 9" descr="preencoded.png">    </p:cNvPr>
          <p:cNvPicPr>
            <a:picLocks noChangeAspect="1"/>
          </p:cNvPicPr>
          <p:nvPr/>
        </p:nvPicPr>
        <p:blipFill>
          <a:blip r:embed="rId10"/>
          <a:stretch>
            <a:fillRect/>
          </a:stretch>
        </p:blipFill>
        <p:spPr>
          <a:xfrm>
            <a:off x="9948672" y="1609344"/>
            <a:ext cx="256032" cy="256032"/>
          </a:xfrm>
          <a:prstGeom prst="rect">
            <a:avLst/>
          </a:prstGeom>
        </p:spPr>
      </p:pic>
      <p:sp>
        <p:nvSpPr>
          <p:cNvPr id="69" name="Text 57"/>
          <p:cNvSpPr/>
          <p:nvPr/>
        </p:nvSpPr>
        <p:spPr>
          <a:xfrm>
            <a:off x="9418320" y="1188720"/>
            <a:ext cx="2103120" cy="274320"/>
          </a:xfrm>
          <a:prstGeom prst="rect">
            <a:avLst/>
          </a:prstGeom>
          <a:noFill/>
          <a:ln/>
        </p:spPr>
        <p:txBody>
          <a:bodyPr wrap="square" lIns="0" tIns="0" rIns="0" bIns="0" rtlCol="0" anchor="t"/>
          <a:lstStyle/>
          <a:p>
            <a:pPr algn="ctr" indent="0" marL="0">
              <a:buNone/>
            </a:pPr>
            <a:r>
              <a:rPr lang="en-US" sz="1400" b="1" dirty="0">
                <a:solidFill>
                  <a:srgbClr val="9A6700"/>
                </a:solidFill>
                <a:latin typeface="Arial" pitchFamily="34" charset="0"/>
                <a:ea typeface="Arial" pitchFamily="34" charset="-122"/>
                <a:cs typeface="Arial" pitchFamily="34" charset="-120"/>
              </a:rPr>
              <a:t>③ Production approval</a:t>
            </a:r>
            <a:endParaRPr lang="en-US" sz="1400" dirty="0"/>
          </a:p>
        </p:txBody>
      </p:sp>
      <p:sp>
        <p:nvSpPr>
          <p:cNvPr id="70" name="Shape 58"/>
          <p:cNvSpPr/>
          <p:nvPr/>
        </p:nvSpPr>
        <p:spPr>
          <a:xfrm>
            <a:off x="548640" y="4846320"/>
            <a:ext cx="11064240" cy="1371600"/>
          </a:xfrm>
          <a:prstGeom prst="roundRect">
            <a:avLst>
              <a:gd name="adj" fmla="val 9333"/>
            </a:avLst>
          </a:prstGeom>
          <a:solidFill>
            <a:srgbClr val="F6F8FA"/>
          </a:solidFill>
          <a:ln/>
        </p:spPr>
      </p:sp>
      <p:sp>
        <p:nvSpPr>
          <p:cNvPr id="71" name="Shape 59"/>
          <p:cNvSpPr/>
          <p:nvPr/>
        </p:nvSpPr>
        <p:spPr>
          <a:xfrm>
            <a:off x="822960" y="5029200"/>
            <a:ext cx="274320" cy="274320"/>
          </a:xfrm>
          <a:prstGeom prst="ellipse">
            <a:avLst/>
          </a:prstGeom>
          <a:solidFill>
            <a:srgbClr val="F0B429"/>
          </a:solidFill>
          <a:ln/>
        </p:spPr>
      </p:sp>
      <p:sp>
        <p:nvSpPr>
          <p:cNvPr id="72" name="Text 60"/>
          <p:cNvSpPr/>
          <p:nvPr/>
        </p:nvSpPr>
        <p:spPr>
          <a:xfrm>
            <a:off x="1234440" y="4983480"/>
            <a:ext cx="2926080" cy="365760"/>
          </a:xfrm>
          <a:prstGeom prst="rect">
            <a:avLst/>
          </a:prstGeom>
          <a:noFill/>
          <a:ln/>
        </p:spPr>
        <p:txBody>
          <a:bodyPr wrap="square" lIns="0" tIns="0" rIns="0" bIns="0" rtlCol="0" anchor="ctr"/>
          <a:lstStyle/>
          <a:p>
            <a:pPr indent="0" marL="0">
              <a:buNone/>
            </a:pPr>
            <a:r>
              <a:rPr lang="en-US" sz="1600" b="1" dirty="0">
                <a:solidFill>
                  <a:srgbClr val="1F2328"/>
                </a:solidFill>
                <a:latin typeface="Arial" pitchFamily="34" charset="0"/>
                <a:ea typeface="Arial" pitchFamily="34" charset="-122"/>
                <a:cs typeface="Arial" pitchFamily="34" charset="-120"/>
              </a:rPr>
              <a:t>Human approval points</a:t>
            </a:r>
            <a:endParaRPr lang="en-US" sz="1600" dirty="0"/>
          </a:p>
        </p:txBody>
      </p:sp>
      <p:sp>
        <p:nvSpPr>
          <p:cNvPr id="73" name="Shape 61"/>
          <p:cNvSpPr/>
          <p:nvPr/>
        </p:nvSpPr>
        <p:spPr>
          <a:xfrm>
            <a:off x="4206240" y="5029200"/>
            <a:ext cx="457200" cy="274320"/>
          </a:xfrm>
          <a:prstGeom prst="roundRect">
            <a:avLst>
              <a:gd name="adj" fmla="val 26667"/>
            </a:avLst>
          </a:prstGeom>
          <a:solidFill>
            <a:srgbClr val="7B3FE4"/>
          </a:solidFill>
          <a:ln/>
        </p:spPr>
      </p:sp>
      <p:sp>
        <p:nvSpPr>
          <p:cNvPr id="74" name="Text 62"/>
          <p:cNvSpPr/>
          <p:nvPr/>
        </p:nvSpPr>
        <p:spPr>
          <a:xfrm>
            <a:off x="4800600" y="4983480"/>
            <a:ext cx="2743200" cy="365760"/>
          </a:xfrm>
          <a:prstGeom prst="rect">
            <a:avLst/>
          </a:prstGeom>
          <a:noFill/>
          <a:ln/>
        </p:spPr>
        <p:txBody>
          <a:bodyPr wrap="square" lIns="0" tIns="0" rIns="0" bIns="0" rtlCol="0" anchor="ctr"/>
          <a:lstStyle/>
          <a:p>
            <a:pPr indent="0" marL="0">
              <a:buNone/>
            </a:pPr>
            <a:r>
              <a:rPr lang="en-US" sz="1600" b="1" dirty="0">
                <a:solidFill>
                  <a:srgbClr val="1F2328"/>
                </a:solidFill>
                <a:latin typeface="Arial" pitchFamily="34" charset="0"/>
                <a:ea typeface="Arial" pitchFamily="34" charset="-122"/>
                <a:cs typeface="Arial" pitchFamily="34" charset="-120"/>
              </a:rPr>
              <a:t>Done by AI agents</a:t>
            </a:r>
            <a:endParaRPr lang="en-US" sz="1600" dirty="0"/>
          </a:p>
        </p:txBody>
      </p:sp>
      <p:sp>
        <p:nvSpPr>
          <p:cNvPr id="75" name="Text 63"/>
          <p:cNvSpPr/>
          <p:nvPr/>
        </p:nvSpPr>
        <p:spPr>
          <a:xfrm>
            <a:off x="822960" y="5440680"/>
            <a:ext cx="10607040" cy="320040"/>
          </a:xfrm>
          <a:prstGeom prst="rect">
            <a:avLst/>
          </a:prstGeom>
          <a:noFill/>
          <a:ln/>
        </p:spPr>
        <p:txBody>
          <a:bodyPr wrap="square" lIns="0" tIns="0" rIns="0" bIns="0" rtlCol="0" anchor="ctr"/>
          <a:lstStyle/>
          <a:p>
            <a:pPr indent="0" marL="0">
              <a:buNone/>
            </a:pPr>
            <a:r>
              <a:rPr lang="en-US" sz="1700" b="1" dirty="0">
                <a:solidFill>
                  <a:srgbClr val="5A2EB0"/>
                </a:solidFill>
                <a:latin typeface="Arial" pitchFamily="34" charset="0"/>
                <a:ea typeface="Arial" pitchFamily="34" charset="-122"/>
                <a:cs typeface="Arial" pitchFamily="34" charset="-120"/>
              </a:rPr>
              <a:t>Six human interventions in total — 3 approvals + 3 decisions in the design stage</a:t>
            </a:r>
            <a:endParaRPr lang="en-US" sz="1700" dirty="0"/>
          </a:p>
        </p:txBody>
      </p:sp>
      <p:sp>
        <p:nvSpPr>
          <p:cNvPr id="76" name="Text 64"/>
          <p:cNvSpPr/>
          <p:nvPr/>
        </p:nvSpPr>
        <p:spPr>
          <a:xfrm>
            <a:off x="822960" y="5806440"/>
            <a:ext cx="10607040" cy="320040"/>
          </a:xfrm>
          <a:prstGeom prst="rect">
            <a:avLst/>
          </a:prstGeom>
          <a:noFill/>
          <a:ln/>
        </p:spPr>
        <p:txBody>
          <a:bodyPr wrap="square" lIns="0" tIns="0" rIns="0" bIns="0" rtlCol="0" anchor="ctr"/>
          <a:lstStyle/>
          <a:p>
            <a:pPr indent="0" marL="0">
              <a:buNone/>
            </a:pPr>
            <a:r>
              <a:rPr lang="en-US" sz="1500" dirty="0">
                <a:solidFill>
                  <a:srgbClr val="59636E"/>
                </a:solidFill>
                <a:latin typeface="Arial" pitchFamily="34" charset="0"/>
                <a:ea typeface="Arial" pitchFamily="34" charset="-122"/>
                <a:cs typeface="Arial" pitchFamily="34" charset="-120"/>
              </a:rPr>
              <a:t>Each stage leaves a numbered document (01–07) in docs/cr/ that business and audit teams can read as is.</a:t>
            </a:r>
            <a:endParaRPr lang="en-US" sz="1500" dirty="0"/>
          </a:p>
        </p:txBody>
      </p:sp>
      <p:sp>
        <p:nvSpPr>
          <p:cNvPr id="77" name="Text 65"/>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78" name="Text 66"/>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2 · DEMO</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7 AI teammates with role-specific permissions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gridCol w="3383280"/>
                <a:gridCol w="2743200"/>
                <a:gridCol w="2560320"/>
              </a:tblGrid>
              <a:tr h="52120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AI teammate</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7B3FE4"/>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What it does</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7B3FE4"/>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Where it can write</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7B3FE4"/>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Key trait</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7B3FE4"/>
                    </a:solidFill>
                  </a:tcPr>
                </a:tc>
              </a:tr>
              <a:tr h="521208">
                <a:tc>
                  <a:txBody>
                    <a:bodyPr/>
                    <a:lstStyle/>
                    <a:p>
                      <a:pPr algn="l" indent="0" marL="0">
                        <a:buNone/>
                      </a:pPr>
                      <a:r>
                        <a:rPr lang="en-US" sz="1500" b="1" dirty="0">
                          <a:solidFill>
                            <a:srgbClr val="1F2328"/>
                          </a:solidFill>
                          <a:latin typeface="Arial" pitchFamily="34" charset="0"/>
                          <a:ea typeface="Arial" pitchFamily="34" charset="-122"/>
                          <a:cs typeface="Arial" pitchFamily="34" charset="-120"/>
                        </a:rPr>
                        <a:t>Change Analyst</a:t>
                      </a:r>
                      <a:endParaRPr lang="en-US" sz="1200" dirty="0"/>
                    </a:p>
                    <a:p>
                      <a:pPr algn="l" indent="0" marL="0">
                        <a:buNone/>
                      </a:pPr>
                      <a:r>
                        <a:rPr lang="en-US" sz="1100" dirty="0">
                          <a:solidFill>
                            <a:srgbClr val="59636E"/>
                          </a:solidFill>
                          <a:latin typeface="Consolas" pitchFamily="34" charset="0"/>
                          <a:ea typeface="Consolas" pitchFamily="34" charset="-122"/>
                          <a:cs typeface="Consolas" pitchFamily="34" charset="-120"/>
                        </a:rPr>
                        <a:t>change-analyst</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328"/>
                          </a:solidFill>
                          <a:latin typeface="Arial" pitchFamily="34" charset="0"/>
                          <a:ea typeface="Arial" pitchFamily="34" charset="-122"/>
                          <a:cs typeface="Arial" pitchFamily="34" charset="-120"/>
                        </a:rPr>
                        <a:t>Finds impact scope and DB issues, surfaces decisions</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300" b="1" dirty="0">
                          <a:solidFill>
                            <a:srgbClr val="5A2EB0"/>
                          </a:solidFill>
                          <a:latin typeface="Arial" pitchFamily="34" charset="0"/>
                          <a:ea typeface="Arial" pitchFamily="34" charset="-122"/>
                          <a:cs typeface="Arial" pitchFamily="34" charset="-120"/>
                        </a:rPr>
                        <a:t>Result documents only</a:t>
                      </a:r>
                      <a:endParaRPr lang="en-US" sz="13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59636E"/>
                          </a:solidFill>
                          <a:latin typeface="Arial" pitchFamily="34" charset="0"/>
                          <a:ea typeface="Arial" pitchFamily="34" charset="-122"/>
                          <a:cs typeface="Arial" pitchFamily="34" charset="-120"/>
                        </a:rPr>
                        <a:t>Read-only</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1208">
                <a:tc>
                  <a:txBody>
                    <a:bodyPr/>
                    <a:lstStyle/>
                    <a:p>
                      <a:pPr algn="l" indent="0" marL="0">
                        <a:buNone/>
                      </a:pPr>
                      <a:r>
                        <a:rPr lang="en-US" sz="1500" b="1" dirty="0">
                          <a:solidFill>
                            <a:srgbClr val="1F2328"/>
                          </a:solidFill>
                          <a:latin typeface="Arial" pitchFamily="34" charset="0"/>
                          <a:ea typeface="Arial" pitchFamily="34" charset="-122"/>
                          <a:cs typeface="Arial" pitchFamily="34" charset="-120"/>
                        </a:rPr>
                        <a:t>Solution Architect</a:t>
                      </a:r>
                      <a:endParaRPr lang="en-US" sz="1200" dirty="0"/>
                    </a:p>
                    <a:p>
                      <a:pPr algn="l" indent="0" marL="0">
                        <a:buNone/>
                      </a:pPr>
                      <a:r>
                        <a:rPr lang="en-US" sz="1100" dirty="0">
                          <a:solidFill>
                            <a:srgbClr val="59636E"/>
                          </a:solidFill>
                          <a:latin typeface="Consolas" pitchFamily="34" charset="0"/>
                          <a:ea typeface="Consolas" pitchFamily="34" charset="-122"/>
                          <a:cs typeface="Consolas" pitchFamily="34" charset="-120"/>
                        </a:rPr>
                        <a:t>solution-architect</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328"/>
                          </a:solidFill>
                          <a:latin typeface="Arial" pitchFamily="34" charset="0"/>
                          <a:ea typeface="Arial" pitchFamily="34" charset="-122"/>
                          <a:cs typeface="Arial" pitchFamily="34" charset="-120"/>
                        </a:rPr>
                        <a:t>Writes the design document; asks people to decide</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5A2EB0"/>
                          </a:solidFill>
                          <a:latin typeface="Arial" pitchFamily="34" charset="0"/>
                          <a:ea typeface="Arial" pitchFamily="34" charset="-122"/>
                          <a:cs typeface="Arial" pitchFamily="34" charset="-120"/>
                        </a:rPr>
                        <a:t>Result documents only</a:t>
                      </a:r>
                      <a:endParaRPr lang="en-US" sz="13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9636E"/>
                          </a:solidFill>
                          <a:latin typeface="Arial" pitchFamily="34" charset="0"/>
                          <a:ea typeface="Arial" pitchFamily="34" charset="-122"/>
                          <a:cs typeface="Arial" pitchFamily="34" charset="-120"/>
                        </a:rPr>
                        <a:t>Requests design approval</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1208">
                <a:tc>
                  <a:txBody>
                    <a:bodyPr/>
                    <a:lstStyle/>
                    <a:p>
                      <a:pPr algn="l" indent="0" marL="0">
                        <a:buNone/>
                      </a:pPr>
                      <a:r>
                        <a:rPr lang="en-US" sz="1500" b="1" dirty="0">
                          <a:solidFill>
                            <a:srgbClr val="1F2328"/>
                          </a:solidFill>
                          <a:latin typeface="Arial" pitchFamily="34" charset="0"/>
                          <a:ea typeface="Arial" pitchFamily="34" charset="-122"/>
                          <a:cs typeface="Arial" pitchFamily="34" charset="-120"/>
                        </a:rPr>
                        <a:t>Developer</a:t>
                      </a:r>
                      <a:endParaRPr lang="en-US" sz="1200" dirty="0"/>
                    </a:p>
                    <a:p>
                      <a:pPr algn="l" indent="0" marL="0">
                        <a:buNone/>
                      </a:pPr>
                      <a:r>
                        <a:rPr lang="en-US" sz="1100" dirty="0">
                          <a:solidFill>
                            <a:srgbClr val="59636E"/>
                          </a:solidFill>
                          <a:latin typeface="Consolas" pitchFamily="34" charset="0"/>
                          <a:ea typeface="Consolas" pitchFamily="34" charset="-122"/>
                          <a:cs typeface="Consolas" pitchFamily="34" charset="-120"/>
                        </a:rPr>
                        <a:t>app-developer</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328"/>
                          </a:solidFill>
                          <a:latin typeface="Arial" pitchFamily="34" charset="0"/>
                          <a:ea typeface="Arial" pitchFamily="34" charset="-122"/>
                          <a:cs typeface="Arial" pitchFamily="34" charset="-120"/>
                        </a:rPr>
                        <a:t>Implements and commits the approved design</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300" b="1" dirty="0">
                          <a:solidFill>
                            <a:srgbClr val="5A2EB0"/>
                          </a:solidFill>
                          <a:latin typeface="Arial" pitchFamily="34" charset="0"/>
                          <a:ea typeface="Arial" pitchFamily="34" charset="-122"/>
                          <a:cs typeface="Arial" pitchFamily="34" charset="-120"/>
                        </a:rPr>
                        <a:t>App · DB · tests · policy docs</a:t>
                      </a:r>
                      <a:endParaRPr lang="en-US" sz="13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59636E"/>
                          </a:solidFill>
                          <a:latin typeface="Arial" pitchFamily="34" charset="0"/>
                          <a:ea typeface="Arial" pitchFamily="34" charset="-122"/>
                          <a:cs typeface="Arial" pitchFamily="34" charset="-120"/>
                        </a:rPr>
                        <a:t>Edits blocked before design approval</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1208">
                <a:tc>
                  <a:txBody>
                    <a:bodyPr/>
                    <a:lstStyle/>
                    <a:p>
                      <a:pPr algn="l" indent="0" marL="0">
                        <a:buNone/>
                      </a:pPr>
                      <a:r>
                        <a:rPr lang="en-US" sz="1500" b="1" dirty="0">
                          <a:solidFill>
                            <a:srgbClr val="1F2328"/>
                          </a:solidFill>
                          <a:latin typeface="Arial" pitchFamily="34" charset="0"/>
                          <a:ea typeface="Arial" pitchFamily="34" charset="-122"/>
                          <a:cs typeface="Arial" pitchFamily="34" charset="-120"/>
                        </a:rPr>
                        <a:t>Tester</a:t>
                      </a:r>
                      <a:endParaRPr lang="en-US" sz="1200" dirty="0"/>
                    </a:p>
                    <a:p>
                      <a:pPr algn="l" indent="0" marL="0">
                        <a:buNone/>
                      </a:pPr>
                      <a:r>
                        <a:rPr lang="en-US" sz="1100" dirty="0">
                          <a:solidFill>
                            <a:srgbClr val="59636E"/>
                          </a:solidFill>
                          <a:latin typeface="Consolas" pitchFamily="34" charset="0"/>
                          <a:ea typeface="Consolas" pitchFamily="34" charset="-122"/>
                          <a:cs typeface="Consolas" pitchFamily="34" charset="-120"/>
                        </a:rPr>
                        <a:t>qa-engineer</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328"/>
                          </a:solidFill>
                          <a:latin typeface="Arial" pitchFamily="34" charset="0"/>
                          <a:ea typeface="Arial" pitchFamily="34" charset="-122"/>
                          <a:cs typeface="Arial" pitchFamily="34" charset="-120"/>
                        </a:rPr>
                        <a:t>Writes and runs tests for each requirement</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5A2EB0"/>
                          </a:solidFill>
                          <a:latin typeface="Arial" pitchFamily="34" charset="0"/>
                          <a:ea typeface="Arial" pitchFamily="34" charset="-122"/>
                          <a:cs typeface="Arial" pitchFamily="34" charset="-120"/>
                        </a:rPr>
                        <a:t>Tests · result documents</a:t>
                      </a:r>
                      <a:endParaRPr lang="en-US" sz="13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9636E"/>
                          </a:solidFill>
                          <a:latin typeface="Arial" pitchFamily="34" charset="0"/>
                          <a:ea typeface="Arial" pitchFamily="34" charset="-122"/>
                          <a:cs typeface="Arial" pitchFamily="34" charset="-120"/>
                        </a:rPr>
                        <a:t>Cannot change production code</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1208">
                <a:tc>
                  <a:txBody>
                    <a:bodyPr/>
                    <a:lstStyle/>
                    <a:p>
                      <a:pPr algn="l" indent="0" marL="0">
                        <a:buNone/>
                      </a:pPr>
                      <a:r>
                        <a:rPr lang="en-US" sz="1500" b="1" dirty="0">
                          <a:solidFill>
                            <a:srgbClr val="1F2328"/>
                          </a:solidFill>
                          <a:latin typeface="Arial" pitchFamily="34" charset="0"/>
                          <a:ea typeface="Arial" pitchFamily="34" charset="-122"/>
                          <a:cs typeface="Arial" pitchFamily="34" charset="-120"/>
                        </a:rPr>
                        <a:t>Reviewer</a:t>
                      </a:r>
                      <a:endParaRPr lang="en-US" sz="1200" dirty="0"/>
                    </a:p>
                    <a:p>
                      <a:pPr algn="l" indent="0" marL="0">
                        <a:buNone/>
                      </a:pPr>
                      <a:r>
                        <a:rPr lang="en-US" sz="1100" dirty="0">
                          <a:solidFill>
                            <a:srgbClr val="59636E"/>
                          </a:solidFill>
                          <a:latin typeface="Consolas" pitchFamily="34" charset="0"/>
                          <a:ea typeface="Consolas" pitchFamily="34" charset="-122"/>
                          <a:cs typeface="Consolas" pitchFamily="34" charset="-120"/>
                        </a:rPr>
                        <a:t>code-reviewer</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328"/>
                          </a:solidFill>
                          <a:latin typeface="Arial" pitchFamily="34" charset="0"/>
                          <a:ea typeface="Arial" pitchFamily="34" charset="-122"/>
                          <a:cs typeface="Arial" pitchFamily="34" charset="-120"/>
                        </a:rPr>
                        <a:t>Checks design, company standards and security</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300" b="1" dirty="0">
                          <a:solidFill>
                            <a:srgbClr val="5A2EB0"/>
                          </a:solidFill>
                          <a:latin typeface="Arial" pitchFamily="34" charset="0"/>
                          <a:ea typeface="Arial" pitchFamily="34" charset="-122"/>
                          <a:cs typeface="Arial" pitchFamily="34" charset="-120"/>
                        </a:rPr>
                        <a:t>Result documents only</a:t>
                      </a:r>
                      <a:endParaRPr lang="en-US" sz="13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59636E"/>
                          </a:solidFill>
                          <a:latin typeface="Arial" pitchFamily="34" charset="0"/>
                          <a:ea typeface="Arial" pitchFamily="34" charset="-122"/>
                          <a:cs typeface="Arial" pitchFamily="34" charset="-120"/>
                        </a:rPr>
                        <a:t>Requests code approval</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1208">
                <a:tc>
                  <a:txBody>
                    <a:bodyPr/>
                    <a:lstStyle/>
                    <a:p>
                      <a:pPr algn="l" indent="0" marL="0">
                        <a:buNone/>
                      </a:pPr>
                      <a:r>
                        <a:rPr lang="en-US" sz="1500" b="1" dirty="0">
                          <a:solidFill>
                            <a:srgbClr val="1F2328"/>
                          </a:solidFill>
                          <a:latin typeface="Arial" pitchFamily="34" charset="0"/>
                          <a:ea typeface="Arial" pitchFamily="34" charset="-122"/>
                          <a:cs typeface="Arial" pitchFamily="34" charset="-120"/>
                        </a:rPr>
                        <a:t>Release Manager</a:t>
                      </a:r>
                      <a:endParaRPr lang="en-US" sz="1200" dirty="0"/>
                    </a:p>
                    <a:p>
                      <a:pPr algn="l" indent="0" marL="0">
                        <a:buNone/>
                      </a:pPr>
                      <a:r>
                        <a:rPr lang="en-US" sz="1100" dirty="0">
                          <a:solidFill>
                            <a:srgbClr val="59636E"/>
                          </a:solidFill>
                          <a:latin typeface="Consolas" pitchFamily="34" charset="0"/>
                          <a:ea typeface="Consolas" pitchFamily="34" charset="-122"/>
                          <a:cs typeface="Consolas" pitchFamily="34" charset="-120"/>
                        </a:rPr>
                        <a:t>release-manager</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328"/>
                          </a:solidFill>
                          <a:latin typeface="Arial" pitchFamily="34" charset="0"/>
                          <a:ea typeface="Arial" pitchFamily="34" charset="-122"/>
                          <a:cs typeface="Arial" pitchFamily="34" charset="-120"/>
                        </a:rPr>
                        <a:t>Merges, plans the release and deploys</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5A2EB0"/>
                          </a:solidFill>
                          <a:latin typeface="Arial" pitchFamily="34" charset="0"/>
                          <a:ea typeface="Arial" pitchFamily="34" charset="-122"/>
                          <a:cs typeface="Arial" pitchFamily="34" charset="-120"/>
                        </a:rPr>
                        <a:t>Result documents · version file</a:t>
                      </a:r>
                      <a:endParaRPr lang="en-US" sz="13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9636E"/>
                          </a:solidFill>
                          <a:latin typeface="Arial" pitchFamily="34" charset="0"/>
                          <a:ea typeface="Arial" pitchFamily="34" charset="-122"/>
                          <a:cs typeface="Arial" pitchFamily="34" charset="-120"/>
                        </a:rPr>
                        <a:t>Production deploy needs an approval pop-up</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1208">
                <a:tc>
                  <a:txBody>
                    <a:bodyPr/>
                    <a:lstStyle/>
                    <a:p>
                      <a:pPr algn="l" indent="0" marL="0">
                        <a:buNone/>
                      </a:pPr>
                      <a:r>
                        <a:rPr lang="en-US" sz="1500" b="1" dirty="0">
                          <a:solidFill>
                            <a:srgbClr val="1F2328"/>
                          </a:solidFill>
                          <a:latin typeface="Arial" pitchFamily="34" charset="0"/>
                          <a:ea typeface="Arial" pitchFamily="34" charset="-122"/>
                          <a:cs typeface="Arial" pitchFamily="34" charset="-120"/>
                        </a:rPr>
                        <a:t>Ops Analyst</a:t>
                      </a:r>
                      <a:endParaRPr lang="en-US" sz="1200" dirty="0"/>
                    </a:p>
                    <a:p>
                      <a:pPr algn="l" indent="0" marL="0">
                        <a:buNone/>
                      </a:pPr>
                      <a:r>
                        <a:rPr lang="en-US" sz="1100" dirty="0">
                          <a:solidFill>
                            <a:srgbClr val="59636E"/>
                          </a:solidFill>
                          <a:latin typeface="Consolas" pitchFamily="34" charset="0"/>
                          <a:ea typeface="Consolas" pitchFamily="34" charset="-122"/>
                          <a:cs typeface="Consolas" pitchFamily="34" charset="-120"/>
                        </a:rPr>
                        <a:t>ops-analyst</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328"/>
                          </a:solidFill>
                          <a:latin typeface="Arial" pitchFamily="34" charset="0"/>
                          <a:ea typeface="Arial" pitchFamily="34" charset="-122"/>
                          <a:cs typeface="Arial" pitchFamily="34" charset="-120"/>
                        </a:rPr>
                        <a:t>Read-only analysis of logs and DB</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300" b="1" dirty="0">
                          <a:solidFill>
                            <a:srgbClr val="5A2EB0"/>
                          </a:solidFill>
                          <a:latin typeface="Arial" pitchFamily="34" charset="0"/>
                          <a:ea typeface="Arial" pitchFamily="34" charset="-122"/>
                          <a:cs typeface="Arial" pitchFamily="34" charset="-120"/>
                        </a:rPr>
                        <a:t>Result documents only</a:t>
                      </a:r>
                      <a:endParaRPr lang="en-US" sz="13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59636E"/>
                          </a:solidFill>
                          <a:latin typeface="Arial" pitchFamily="34" charset="0"/>
                          <a:ea typeface="Arial" pitchFamily="34" charset="-122"/>
                          <a:cs typeface="Arial" pitchFamily="34" charset="-120"/>
                        </a:rPr>
                        <a:t>Cannot change production data</a:t>
                      </a:r>
                      <a:endParaRPr lang="en-US" sz="1400" dirty="0">
                        <a:latin typeface="Arial" charset="0"/>
                        <a:ea typeface="Arial" charset="0"/>
                        <a:cs typeface="Arial"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5" name="Text 2"/>
          <p:cNvSpPr/>
          <p:nvPr/>
        </p:nvSpPr>
        <p:spPr>
          <a:xfrm>
            <a:off x="548640" y="5852160"/>
            <a:ext cx="11064240" cy="274320"/>
          </a:xfrm>
          <a:prstGeom prst="rect">
            <a:avLst/>
          </a:prstGeom>
          <a:noFill/>
          <a:ln/>
        </p:spPr>
        <p:txBody>
          <a:bodyPr wrap="square" lIns="0" tIns="0" rIns="0" bIns="0" rtlCol="0" anchor="t"/>
          <a:lstStyle/>
          <a:p>
            <a:pPr indent="0" marL="0">
              <a:buNone/>
            </a:pPr>
            <a:r>
              <a:rPr lang="en-US" sz="1400" b="1" dirty="0">
                <a:solidFill>
                  <a:srgbClr val="7B3FE4"/>
                </a:solidFill>
                <a:latin typeface="Arial" pitchFamily="34" charset="0"/>
                <a:ea typeface="Arial" pitchFamily="34" charset="-122"/>
                <a:cs typeface="Arial" pitchFamily="34" charset="-120"/>
              </a:rPr>
              <a:t>Write scope is enforced by a hook that checks each tool call right before it runs (verified live in the demo)</a:t>
            </a:r>
            <a:endParaRPr lang="en-US" sz="1400" dirty="0"/>
          </a:p>
        </p:txBody>
      </p:sp>
      <p:sp>
        <p:nvSpPr>
          <p:cNvPr id="6" name="Text 3"/>
          <p:cNvSpPr/>
          <p:nvPr/>
        </p:nvSpPr>
        <p:spPr>
          <a:xfrm>
            <a:off x="548640" y="6144768"/>
            <a:ext cx="11064240" cy="228600"/>
          </a:xfrm>
          <a:prstGeom prst="rect">
            <a:avLst/>
          </a:prstGeom>
          <a:noFill/>
          <a:ln/>
        </p:spPr>
        <p:txBody>
          <a:bodyPr wrap="square" lIns="0" tIns="0" rIns="0" bIns="0" rtlCol="0" anchor="t"/>
          <a:lstStyle/>
          <a:p>
            <a:pPr indent="0" marL="0">
              <a:buNone/>
            </a:pPr>
            <a:r>
              <a:rPr lang="en-US" sz="1200" dirty="0">
                <a:solidFill>
                  <a:srgbClr val="59636E"/>
                </a:solidFill>
                <a:latin typeface="Arial" pitchFamily="34" charset="0"/>
                <a:ea typeface="Arial" pitchFamily="34" charset="-122"/>
                <a:cs typeface="Arial" pitchFamily="34" charset="-120"/>
              </a:rPr>
              <a:t>Result documents = docs/cr folder  ·  App · DB = service code and DB change scripts</a:t>
            </a:r>
            <a:endParaRPr lang="en-US" sz="1200" dirty="0"/>
          </a:p>
        </p:txBody>
      </p:sp>
      <p:sp>
        <p:nvSpPr>
          <p:cNvPr id="7"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8" name="Text 5"/>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2 · DEMO</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Three human approvals, enforced by the system</a:t>
            </a:r>
            <a:endParaRPr lang="en-US" sz="3200" dirty="0"/>
          </a:p>
        </p:txBody>
      </p:sp>
      <p:sp>
        <p:nvSpPr>
          <p:cNvPr id="4" name="Shape 2"/>
          <p:cNvSpPr/>
          <p:nvPr/>
        </p:nvSpPr>
        <p:spPr>
          <a:xfrm>
            <a:off x="548640" y="1554480"/>
            <a:ext cx="5303520" cy="1261872"/>
          </a:xfrm>
          <a:prstGeom prst="roundRect">
            <a:avLst>
              <a:gd name="adj" fmla="val 10145"/>
            </a:avLst>
          </a:prstGeom>
          <a:solidFill>
            <a:srgbClr val="FFF4CC"/>
          </a:solidFill>
          <a:ln/>
        </p:spPr>
      </p:sp>
      <p:sp>
        <p:nvSpPr>
          <p:cNvPr id="5" name="Shape 3"/>
          <p:cNvSpPr/>
          <p:nvPr/>
        </p:nvSpPr>
        <p:spPr>
          <a:xfrm>
            <a:off x="749808" y="1865376"/>
            <a:ext cx="640080" cy="640080"/>
          </a:xfrm>
          <a:prstGeom prst="ellipse">
            <a:avLst/>
          </a:prstGeom>
          <a:solidFill>
            <a:srgbClr val="F0B429"/>
          </a:solidFill>
          <a:ln/>
        </p:spPr>
      </p:sp>
      <p:sp>
        <p:nvSpPr>
          <p:cNvPr id="6" name="Text 4"/>
          <p:cNvSpPr/>
          <p:nvPr/>
        </p:nvSpPr>
        <p:spPr>
          <a:xfrm>
            <a:off x="749808" y="1865376"/>
            <a:ext cx="640080" cy="640080"/>
          </a:xfrm>
          <a:prstGeom prst="rect">
            <a:avLst/>
          </a:prstGeom>
          <a:noFill/>
          <a:ln/>
        </p:spPr>
        <p:txBody>
          <a:bodyPr wrap="square" lIns="0" tIns="0" rIns="0" bIns="0" rtlCol="0" anchor="ctr"/>
          <a:lstStyle/>
          <a:p>
            <a:pPr algn="ctr" indent="0" marL="0">
              <a:buNone/>
            </a:pPr>
            <a:r>
              <a:rPr lang="en-US" sz="2400" b="1" dirty="0">
                <a:solidFill>
                  <a:srgbClr val="1F2328"/>
                </a:solidFill>
                <a:latin typeface="Arial" pitchFamily="34" charset="0"/>
                <a:ea typeface="Arial" pitchFamily="34" charset="-122"/>
                <a:cs typeface="Arial" pitchFamily="34" charset="-120"/>
              </a:rPr>
              <a:t>①</a:t>
            </a:r>
            <a:endParaRPr lang="en-US" sz="2400" dirty="0"/>
          </a:p>
        </p:txBody>
      </p:sp>
      <p:sp>
        <p:nvSpPr>
          <p:cNvPr id="7" name="Text 5"/>
          <p:cNvSpPr/>
          <p:nvPr/>
        </p:nvSpPr>
        <p:spPr>
          <a:xfrm>
            <a:off x="1600200" y="1645920"/>
            <a:ext cx="4114800" cy="347472"/>
          </a:xfrm>
          <a:prstGeom prst="rect">
            <a:avLst/>
          </a:prstGeom>
          <a:noFill/>
          <a:ln/>
        </p:spPr>
        <p:txBody>
          <a:bodyPr wrap="square" lIns="0" tIns="0" rIns="0" bIns="0" rtlCol="0" anchor="t"/>
          <a:lstStyle/>
          <a:p>
            <a:pPr indent="0" marL="0">
              <a:buNone/>
            </a:pPr>
            <a:r>
              <a:rPr lang="en-US" sz="2000" b="1" dirty="0">
                <a:solidFill>
                  <a:srgbClr val="1F2328"/>
                </a:solidFill>
                <a:latin typeface="Arial" pitchFamily="34" charset="0"/>
                <a:ea typeface="Arial" pitchFamily="34" charset="-122"/>
                <a:cs typeface="Arial" pitchFamily="34" charset="-120"/>
              </a:rPr>
              <a:t>Design approval</a:t>
            </a:r>
            <a:endParaRPr lang="en-US" sz="2000" dirty="0"/>
          </a:p>
        </p:txBody>
      </p:sp>
      <p:sp>
        <p:nvSpPr>
          <p:cNvPr id="8" name="Text 6"/>
          <p:cNvSpPr/>
          <p:nvPr/>
        </p:nvSpPr>
        <p:spPr>
          <a:xfrm>
            <a:off x="1600200" y="2011680"/>
            <a:ext cx="4114800" cy="457200"/>
          </a:xfrm>
          <a:prstGeom prst="rect">
            <a:avLst/>
          </a:prstGeom>
          <a:noFill/>
          <a:ln/>
        </p:spPr>
        <p:txBody>
          <a:bodyPr wrap="square" lIns="0" tIns="0" rIns="0" bIns="0" rtlCol="0" anchor="t"/>
          <a:lstStyle/>
          <a:p>
            <a:pPr indent="0" marL="0">
              <a:buNone/>
            </a:pPr>
            <a:r>
              <a:rPr lang="en-US" sz="1300" dirty="0">
                <a:solidFill>
                  <a:srgbClr val="1F2328"/>
                </a:solidFill>
                <a:latin typeface="Arial" pitchFamily="34" charset="0"/>
                <a:ea typeface="Arial" pitchFamily="34" charset="-122"/>
                <a:cs typeface="Arial" pitchFamily="34" charset="-120"/>
              </a:rPr>
              <a:t>Approve the design document. The approval is tied to its fingerprint (hash); any later change voids it.</a:t>
            </a:r>
            <a:endParaRPr lang="en-US" sz="1300" dirty="0"/>
          </a:p>
        </p:txBody>
      </p:sp>
      <p:sp>
        <p:nvSpPr>
          <p:cNvPr id="9" name="Shape 7"/>
          <p:cNvSpPr/>
          <p:nvPr/>
        </p:nvSpPr>
        <p:spPr>
          <a:xfrm>
            <a:off x="1600200" y="2505456"/>
            <a:ext cx="3017520" cy="237744"/>
          </a:xfrm>
          <a:prstGeom prst="roundRect">
            <a:avLst>
              <a:gd name="adj" fmla="val 50000"/>
            </a:avLst>
          </a:prstGeom>
          <a:solidFill>
            <a:srgbClr val="FFFFFF"/>
          </a:solidFill>
          <a:ln/>
        </p:spPr>
      </p:sp>
      <p:sp>
        <p:nvSpPr>
          <p:cNvPr id="10" name="Text 8"/>
          <p:cNvSpPr/>
          <p:nvPr/>
        </p:nvSpPr>
        <p:spPr>
          <a:xfrm>
            <a:off x="1600200" y="2505456"/>
            <a:ext cx="3017520" cy="237744"/>
          </a:xfrm>
          <a:prstGeom prst="rect">
            <a:avLst/>
          </a:prstGeom>
          <a:noFill/>
          <a:ln/>
        </p:spPr>
        <p:txBody>
          <a:bodyPr wrap="square" lIns="0" tIns="0" rIns="0" bIns="0" rtlCol="0" anchor="ctr"/>
          <a:lstStyle/>
          <a:p>
            <a:pPr algn="ctr" indent="0" marL="0">
              <a:buNone/>
            </a:pPr>
            <a:r>
              <a:rPr lang="en-US" sz="1100" b="1" dirty="0">
                <a:solidFill>
                  <a:srgbClr val="9A6700"/>
                </a:solidFill>
                <a:latin typeface="Arial" pitchFamily="34" charset="0"/>
                <a:ea typeface="Arial" pitchFamily="34" charset="-122"/>
                <a:cs typeface="Arial" pitchFamily="34" charset="-120"/>
              </a:rPr>
              <a:t>Code edits blocked until approved</a:t>
            </a:r>
            <a:endParaRPr lang="en-US" sz="1100" dirty="0"/>
          </a:p>
        </p:txBody>
      </p:sp>
      <p:sp>
        <p:nvSpPr>
          <p:cNvPr id="11" name="Shape 9"/>
          <p:cNvSpPr/>
          <p:nvPr/>
        </p:nvSpPr>
        <p:spPr>
          <a:xfrm>
            <a:off x="548640" y="2926080"/>
            <a:ext cx="5303520" cy="1261872"/>
          </a:xfrm>
          <a:prstGeom prst="roundRect">
            <a:avLst>
              <a:gd name="adj" fmla="val 10145"/>
            </a:avLst>
          </a:prstGeom>
          <a:solidFill>
            <a:srgbClr val="FFF4CC"/>
          </a:solidFill>
          <a:ln/>
        </p:spPr>
      </p:sp>
      <p:sp>
        <p:nvSpPr>
          <p:cNvPr id="12" name="Shape 10"/>
          <p:cNvSpPr/>
          <p:nvPr/>
        </p:nvSpPr>
        <p:spPr>
          <a:xfrm>
            <a:off x="749808" y="3236976"/>
            <a:ext cx="640080" cy="640080"/>
          </a:xfrm>
          <a:prstGeom prst="ellipse">
            <a:avLst/>
          </a:prstGeom>
          <a:solidFill>
            <a:srgbClr val="F0B429"/>
          </a:solidFill>
          <a:ln/>
        </p:spPr>
      </p:sp>
      <p:sp>
        <p:nvSpPr>
          <p:cNvPr id="13" name="Text 11"/>
          <p:cNvSpPr/>
          <p:nvPr/>
        </p:nvSpPr>
        <p:spPr>
          <a:xfrm>
            <a:off x="749808" y="3236976"/>
            <a:ext cx="640080" cy="640080"/>
          </a:xfrm>
          <a:prstGeom prst="rect">
            <a:avLst/>
          </a:prstGeom>
          <a:noFill/>
          <a:ln/>
        </p:spPr>
        <p:txBody>
          <a:bodyPr wrap="square" lIns="0" tIns="0" rIns="0" bIns="0" rtlCol="0" anchor="ctr"/>
          <a:lstStyle/>
          <a:p>
            <a:pPr algn="ctr" indent="0" marL="0">
              <a:buNone/>
            </a:pPr>
            <a:r>
              <a:rPr lang="en-US" sz="2400" b="1" dirty="0">
                <a:solidFill>
                  <a:srgbClr val="1F2328"/>
                </a:solidFill>
                <a:latin typeface="Arial" pitchFamily="34" charset="0"/>
                <a:ea typeface="Arial" pitchFamily="34" charset="-122"/>
                <a:cs typeface="Arial" pitchFamily="34" charset="-120"/>
              </a:rPr>
              <a:t>②</a:t>
            </a:r>
            <a:endParaRPr lang="en-US" sz="2400" dirty="0"/>
          </a:p>
        </p:txBody>
      </p:sp>
      <p:sp>
        <p:nvSpPr>
          <p:cNvPr id="14" name="Text 12"/>
          <p:cNvSpPr/>
          <p:nvPr/>
        </p:nvSpPr>
        <p:spPr>
          <a:xfrm>
            <a:off x="1600200" y="3017520"/>
            <a:ext cx="4114800" cy="347472"/>
          </a:xfrm>
          <a:prstGeom prst="rect">
            <a:avLst/>
          </a:prstGeom>
          <a:noFill/>
          <a:ln/>
        </p:spPr>
        <p:txBody>
          <a:bodyPr wrap="square" lIns="0" tIns="0" rIns="0" bIns="0" rtlCol="0" anchor="t"/>
          <a:lstStyle/>
          <a:p>
            <a:pPr indent="0" marL="0">
              <a:buNone/>
            </a:pPr>
            <a:r>
              <a:rPr lang="en-US" sz="2000" b="1" dirty="0">
                <a:solidFill>
                  <a:srgbClr val="1F2328"/>
                </a:solidFill>
                <a:latin typeface="Arial" pitchFamily="34" charset="0"/>
                <a:ea typeface="Arial" pitchFamily="34" charset="-122"/>
                <a:cs typeface="Arial" pitchFamily="34" charset="-120"/>
              </a:rPr>
              <a:t>Code approval</a:t>
            </a:r>
            <a:endParaRPr lang="en-US" sz="2000" dirty="0"/>
          </a:p>
        </p:txBody>
      </p:sp>
      <p:sp>
        <p:nvSpPr>
          <p:cNvPr id="15" name="Text 13"/>
          <p:cNvSpPr/>
          <p:nvPr/>
        </p:nvSpPr>
        <p:spPr>
          <a:xfrm>
            <a:off x="1600200" y="3383280"/>
            <a:ext cx="4114800" cy="457200"/>
          </a:xfrm>
          <a:prstGeom prst="rect">
            <a:avLst/>
          </a:prstGeom>
          <a:noFill/>
          <a:ln/>
        </p:spPr>
        <p:txBody>
          <a:bodyPr wrap="square" lIns="0" tIns="0" rIns="0" bIns="0" rtlCol="0" anchor="t"/>
          <a:lstStyle/>
          <a:p>
            <a:pPr indent="0" marL="0">
              <a:buNone/>
            </a:pPr>
            <a:r>
              <a:rPr lang="en-US" sz="1300" dirty="0">
                <a:solidFill>
                  <a:srgbClr val="1F2328"/>
                </a:solidFill>
                <a:latin typeface="Arial" pitchFamily="34" charset="0"/>
                <a:ea typeface="Arial" pitchFamily="34" charset="-122"/>
                <a:cs typeface="Arial" pitchFamily="34" charset="-120"/>
              </a:rPr>
              <a:t>Approve after checking the review and test results. Only code with the same fingerprint (hash) can deploy.</a:t>
            </a:r>
            <a:endParaRPr lang="en-US" sz="1300" dirty="0"/>
          </a:p>
        </p:txBody>
      </p:sp>
      <p:sp>
        <p:nvSpPr>
          <p:cNvPr id="16" name="Shape 14"/>
          <p:cNvSpPr/>
          <p:nvPr/>
        </p:nvSpPr>
        <p:spPr>
          <a:xfrm>
            <a:off x="1600200" y="3877056"/>
            <a:ext cx="3017520" cy="237744"/>
          </a:xfrm>
          <a:prstGeom prst="roundRect">
            <a:avLst>
              <a:gd name="adj" fmla="val 50000"/>
            </a:avLst>
          </a:prstGeom>
          <a:solidFill>
            <a:srgbClr val="FFFFFF"/>
          </a:solidFill>
          <a:ln/>
        </p:spPr>
      </p:sp>
      <p:sp>
        <p:nvSpPr>
          <p:cNvPr id="17" name="Text 15"/>
          <p:cNvSpPr/>
          <p:nvPr/>
        </p:nvSpPr>
        <p:spPr>
          <a:xfrm>
            <a:off x="1600200" y="3877056"/>
            <a:ext cx="3017520" cy="237744"/>
          </a:xfrm>
          <a:prstGeom prst="rect">
            <a:avLst/>
          </a:prstGeom>
          <a:noFill/>
          <a:ln/>
        </p:spPr>
        <p:txBody>
          <a:bodyPr wrap="square" lIns="0" tIns="0" rIns="0" bIns="0" rtlCol="0" anchor="ctr"/>
          <a:lstStyle/>
          <a:p>
            <a:pPr algn="ctr" indent="0" marL="0">
              <a:buNone/>
            </a:pPr>
            <a:r>
              <a:rPr lang="en-US" sz="1100" b="1" dirty="0">
                <a:solidFill>
                  <a:srgbClr val="9A6700"/>
                </a:solidFill>
                <a:latin typeface="Arial" pitchFamily="34" charset="0"/>
                <a:ea typeface="Arial" pitchFamily="34" charset="-122"/>
                <a:cs typeface="Arial" pitchFamily="34" charset="-120"/>
              </a:rPr>
              <a:t>Deploy blocked if code changes later</a:t>
            </a:r>
            <a:endParaRPr lang="en-US" sz="1100" dirty="0"/>
          </a:p>
        </p:txBody>
      </p:sp>
      <p:sp>
        <p:nvSpPr>
          <p:cNvPr id="18" name="Shape 16"/>
          <p:cNvSpPr/>
          <p:nvPr/>
        </p:nvSpPr>
        <p:spPr>
          <a:xfrm>
            <a:off x="548640" y="4297680"/>
            <a:ext cx="5303520" cy="1261872"/>
          </a:xfrm>
          <a:prstGeom prst="roundRect">
            <a:avLst>
              <a:gd name="adj" fmla="val 10145"/>
            </a:avLst>
          </a:prstGeom>
          <a:solidFill>
            <a:srgbClr val="FFF4CC"/>
          </a:solidFill>
          <a:ln/>
        </p:spPr>
      </p:sp>
      <p:sp>
        <p:nvSpPr>
          <p:cNvPr id="19" name="Shape 17"/>
          <p:cNvSpPr/>
          <p:nvPr/>
        </p:nvSpPr>
        <p:spPr>
          <a:xfrm>
            <a:off x="749808" y="4608576"/>
            <a:ext cx="640080" cy="640080"/>
          </a:xfrm>
          <a:prstGeom prst="ellipse">
            <a:avLst/>
          </a:prstGeom>
          <a:solidFill>
            <a:srgbClr val="F0B429"/>
          </a:solidFill>
          <a:ln/>
        </p:spPr>
      </p:sp>
      <p:sp>
        <p:nvSpPr>
          <p:cNvPr id="20" name="Text 18"/>
          <p:cNvSpPr/>
          <p:nvPr/>
        </p:nvSpPr>
        <p:spPr>
          <a:xfrm>
            <a:off x="749808" y="4608576"/>
            <a:ext cx="640080" cy="640080"/>
          </a:xfrm>
          <a:prstGeom prst="rect">
            <a:avLst/>
          </a:prstGeom>
          <a:noFill/>
          <a:ln/>
        </p:spPr>
        <p:txBody>
          <a:bodyPr wrap="square" lIns="0" tIns="0" rIns="0" bIns="0" rtlCol="0" anchor="ctr"/>
          <a:lstStyle/>
          <a:p>
            <a:pPr algn="ctr" indent="0" marL="0">
              <a:buNone/>
            </a:pPr>
            <a:r>
              <a:rPr lang="en-US" sz="2400" b="1" dirty="0">
                <a:solidFill>
                  <a:srgbClr val="1F2328"/>
                </a:solidFill>
                <a:latin typeface="Arial" pitchFamily="34" charset="0"/>
                <a:ea typeface="Arial" pitchFamily="34" charset="-122"/>
                <a:cs typeface="Arial" pitchFamily="34" charset="-120"/>
              </a:rPr>
              <a:t>③</a:t>
            </a:r>
            <a:endParaRPr lang="en-US" sz="2400" dirty="0"/>
          </a:p>
        </p:txBody>
      </p:sp>
      <p:sp>
        <p:nvSpPr>
          <p:cNvPr id="21" name="Text 19"/>
          <p:cNvSpPr/>
          <p:nvPr/>
        </p:nvSpPr>
        <p:spPr>
          <a:xfrm>
            <a:off x="1600200" y="4389120"/>
            <a:ext cx="4114800" cy="347472"/>
          </a:xfrm>
          <a:prstGeom prst="rect">
            <a:avLst/>
          </a:prstGeom>
          <a:noFill/>
          <a:ln/>
        </p:spPr>
        <p:txBody>
          <a:bodyPr wrap="square" lIns="0" tIns="0" rIns="0" bIns="0" rtlCol="0" anchor="t"/>
          <a:lstStyle/>
          <a:p>
            <a:pPr indent="0" marL="0">
              <a:buNone/>
            </a:pPr>
            <a:r>
              <a:rPr lang="en-US" sz="2000" b="1" dirty="0">
                <a:solidFill>
                  <a:srgbClr val="1F2328"/>
                </a:solidFill>
                <a:latin typeface="Arial" pitchFamily="34" charset="0"/>
                <a:ea typeface="Arial" pitchFamily="34" charset="-122"/>
                <a:cs typeface="Arial" pitchFamily="34" charset="-120"/>
              </a:rPr>
              <a:t>Production deploy approval</a:t>
            </a:r>
            <a:endParaRPr lang="en-US" sz="2000" dirty="0"/>
          </a:p>
        </p:txBody>
      </p:sp>
      <p:sp>
        <p:nvSpPr>
          <p:cNvPr id="22" name="Text 20"/>
          <p:cNvSpPr/>
          <p:nvPr/>
        </p:nvSpPr>
        <p:spPr>
          <a:xfrm>
            <a:off x="1600200" y="4754880"/>
            <a:ext cx="4114800" cy="457200"/>
          </a:xfrm>
          <a:prstGeom prst="rect">
            <a:avLst/>
          </a:prstGeom>
          <a:noFill/>
          <a:ln/>
        </p:spPr>
        <p:txBody>
          <a:bodyPr wrap="square" lIns="0" tIns="0" rIns="0" bIns="0" rtlCol="0" anchor="t"/>
          <a:lstStyle/>
          <a:p>
            <a:pPr indent="0" marL="0">
              <a:buNone/>
            </a:pPr>
            <a:r>
              <a:rPr lang="en-US" sz="1300" dirty="0">
                <a:solidFill>
                  <a:srgbClr val="1F2328"/>
                </a:solidFill>
                <a:latin typeface="Arial" pitchFamily="34" charset="0"/>
                <a:ea typeface="Arial" pitchFamily="34" charset="-122"/>
                <a:cs typeface="Arial" pitchFamily="34" charset="-120"/>
              </a:rPr>
              <a:t>An approval pop-up appears just before the production deploy command. It runs only if a person clicks Yes.</a:t>
            </a:r>
            <a:endParaRPr lang="en-US" sz="1300" dirty="0"/>
          </a:p>
        </p:txBody>
      </p:sp>
      <p:sp>
        <p:nvSpPr>
          <p:cNvPr id="23" name="Shape 21"/>
          <p:cNvSpPr/>
          <p:nvPr/>
        </p:nvSpPr>
        <p:spPr>
          <a:xfrm>
            <a:off x="1600200" y="5248656"/>
            <a:ext cx="3017520" cy="237744"/>
          </a:xfrm>
          <a:prstGeom prst="roundRect">
            <a:avLst>
              <a:gd name="adj" fmla="val 50000"/>
            </a:avLst>
          </a:prstGeom>
          <a:solidFill>
            <a:srgbClr val="FFFFFF"/>
          </a:solidFill>
          <a:ln/>
        </p:spPr>
      </p:sp>
      <p:sp>
        <p:nvSpPr>
          <p:cNvPr id="24" name="Text 22"/>
          <p:cNvSpPr/>
          <p:nvPr/>
        </p:nvSpPr>
        <p:spPr>
          <a:xfrm>
            <a:off x="1600200" y="5248656"/>
            <a:ext cx="3017520" cy="237744"/>
          </a:xfrm>
          <a:prstGeom prst="rect">
            <a:avLst/>
          </a:prstGeom>
          <a:noFill/>
          <a:ln/>
        </p:spPr>
        <p:txBody>
          <a:bodyPr wrap="square" lIns="0" tIns="0" rIns="0" bIns="0" rtlCol="0" anchor="ctr"/>
          <a:lstStyle/>
          <a:p>
            <a:pPr algn="ctr" indent="0" marL="0">
              <a:buNone/>
            </a:pPr>
            <a:r>
              <a:rPr lang="en-US" sz="1100" b="1" dirty="0">
                <a:solidFill>
                  <a:srgbClr val="9A6700"/>
                </a:solidFill>
                <a:latin typeface="Arial" pitchFamily="34" charset="0"/>
                <a:ea typeface="Arial" pitchFamily="34" charset="-122"/>
                <a:cs typeface="Arial" pitchFamily="34" charset="-120"/>
              </a:rPr>
              <a:t>Always prompts, even in auto-approve</a:t>
            </a:r>
            <a:endParaRPr lang="en-US" sz="1100" dirty="0"/>
          </a:p>
        </p:txBody>
      </p:sp>
      <p:pic>
        <p:nvPicPr>
          <p:cNvPr id="25" name="Image 0" descr="Production deploy approval pop-up (hook permission request) in the real Copilot CLI">    </p:cNvPr>
          <p:cNvPicPr>
            <a:picLocks noChangeAspect="1"/>
          </p:cNvPicPr>
          <p:nvPr/>
        </p:nvPicPr>
        <p:blipFill>
          <a:blip r:embed="rId1"/>
          <a:stretch>
            <a:fillRect/>
          </a:stretch>
        </p:blipFill>
        <p:spPr>
          <a:xfrm>
            <a:off x="6126480" y="1554480"/>
            <a:ext cx="5486400" cy="2460269"/>
          </a:xfrm>
          <a:prstGeom prst="rect">
            <a:avLst/>
          </a:prstGeom>
        </p:spPr>
      </p:pic>
      <p:sp>
        <p:nvSpPr>
          <p:cNvPr id="26" name="Shape 23"/>
          <p:cNvSpPr/>
          <p:nvPr/>
        </p:nvSpPr>
        <p:spPr>
          <a:xfrm>
            <a:off x="6126480" y="1554480"/>
            <a:ext cx="5486400" cy="2460269"/>
          </a:xfrm>
          <a:prstGeom prst="roundRect">
            <a:avLst>
              <a:gd name="adj" fmla="val 2230"/>
            </a:avLst>
          </a:prstGeom>
          <a:ln w="15875">
            <a:solidFill>
              <a:srgbClr val="30363D"/>
            </a:solidFill>
            <a:prstDash val="solid"/>
          </a:ln>
        </p:spPr>
      </p:sp>
      <p:sp>
        <p:nvSpPr>
          <p:cNvPr id="27" name="Text 24"/>
          <p:cNvSpPr/>
          <p:nvPr/>
        </p:nvSpPr>
        <p:spPr>
          <a:xfrm>
            <a:off x="6126480" y="4069613"/>
            <a:ext cx="5486400" cy="256032"/>
          </a:xfrm>
          <a:prstGeom prst="rect">
            <a:avLst/>
          </a:prstGeom>
          <a:noFill/>
          <a:ln/>
        </p:spPr>
        <p:txBody>
          <a:bodyPr wrap="square" lIns="0" tIns="0" rIns="0" bIns="0" rtlCol="0" anchor="t"/>
          <a:lstStyle/>
          <a:p>
            <a:pPr algn="ctr" indent="0" marL="0">
              <a:buNone/>
            </a:pPr>
            <a:r>
              <a:rPr lang="en-US" sz="1200" dirty="0">
                <a:solidFill>
                  <a:srgbClr val="59636E"/>
                </a:solidFill>
                <a:latin typeface="Arial" pitchFamily="34" charset="0"/>
                <a:ea typeface="Arial" pitchFamily="34" charset="-122"/>
                <a:cs typeface="Arial" pitchFamily="34" charset="-120"/>
              </a:rPr>
              <a:t>③ Production deploy approval — real Copilot CLI screen</a:t>
            </a:r>
            <a:endParaRPr lang="en-US" sz="1200" dirty="0"/>
          </a:p>
        </p:txBody>
      </p:sp>
      <p:sp>
        <p:nvSpPr>
          <p:cNvPr id="28" name="Shape 25"/>
          <p:cNvSpPr/>
          <p:nvPr/>
        </p:nvSpPr>
        <p:spPr>
          <a:xfrm>
            <a:off x="6126480" y="4389120"/>
            <a:ext cx="5486400" cy="1170432"/>
          </a:xfrm>
          <a:prstGeom prst="roundRect">
            <a:avLst>
              <a:gd name="adj" fmla="val 10938"/>
            </a:avLst>
          </a:prstGeom>
          <a:solidFill>
            <a:srgbClr val="F6F8FA"/>
          </a:solidFill>
          <a:ln/>
        </p:spPr>
      </p:sp>
      <p:sp>
        <p:nvSpPr>
          <p:cNvPr id="29" name="Text 26"/>
          <p:cNvSpPr/>
          <p:nvPr/>
        </p:nvSpPr>
        <p:spPr>
          <a:xfrm>
            <a:off x="6309360" y="4480560"/>
            <a:ext cx="5120640" cy="274320"/>
          </a:xfrm>
          <a:prstGeom prst="rect">
            <a:avLst/>
          </a:prstGeom>
          <a:noFill/>
          <a:ln/>
        </p:spPr>
        <p:txBody>
          <a:bodyPr wrap="square" lIns="0" tIns="0" rIns="0" bIns="0" rtlCol="0" anchor="t"/>
          <a:lstStyle/>
          <a:p>
            <a:pPr indent="0" marL="0">
              <a:buNone/>
            </a:pPr>
            <a:r>
              <a:rPr lang="en-US" sz="1300" b="1" dirty="0">
                <a:solidFill>
                  <a:srgbClr val="59636E"/>
                </a:solidFill>
                <a:latin typeface="Arial" pitchFamily="34" charset="0"/>
                <a:ea typeface="Arial" pitchFamily="34" charset="-122"/>
                <a:cs typeface="Arial" pitchFamily="34" charset="-120"/>
              </a:rPr>
              <a:t>What the human checks in this pop-up</a:t>
            </a:r>
            <a:endParaRPr lang="en-US" sz="1300" dirty="0"/>
          </a:p>
        </p:txBody>
      </p:sp>
      <p:sp>
        <p:nvSpPr>
          <p:cNvPr id="30" name="Text 27"/>
          <p:cNvSpPr/>
          <p:nvPr/>
        </p:nvSpPr>
        <p:spPr>
          <a:xfrm>
            <a:off x="6309360" y="4791456"/>
            <a:ext cx="5120640"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rgbClr val="1F2328"/>
                </a:solidFill>
                <a:latin typeface="Arial" pitchFamily="34" charset="0"/>
                <a:ea typeface="Arial" pitchFamily="34" charset="-122"/>
                <a:cs typeface="Arial" pitchFamily="34" charset="-120"/>
              </a:rPr>
              <a:t>What is about to run (the command)</a:t>
            </a:r>
            <a:endParaRPr lang="en-US" sz="1400" dirty="0"/>
          </a:p>
          <a:p>
            <a:pPr marL="177800" indent="-177800">
              <a:spcAft>
                <a:spcPts val="200"/>
              </a:spcAft>
              <a:buSzPct val="100000"/>
              <a:buChar char="•"/>
            </a:pPr>
            <a:r>
              <a:rPr lang="en-US" sz="1400" dirty="0">
                <a:solidFill>
                  <a:srgbClr val="1F2328"/>
                </a:solidFill>
                <a:latin typeface="Arial" pitchFamily="34" charset="0"/>
                <a:ea typeface="Arial" pitchFamily="34" charset="-122"/>
                <a:cs typeface="Arial" pitchFamily="34" charset="-120"/>
              </a:rPr>
              <a:t>Why approval is needed (impact)</a:t>
            </a:r>
            <a:endParaRPr lang="en-US" sz="1400" dirty="0"/>
          </a:p>
          <a:p>
            <a:pPr marL="177800" indent="-177800">
              <a:spcAft>
                <a:spcPts val="200"/>
              </a:spcAft>
              <a:buSzPct val="100000"/>
              <a:buChar char="•"/>
            </a:pPr>
            <a:r>
              <a:rPr lang="en-US" sz="1400" dirty="0">
                <a:solidFill>
                  <a:srgbClr val="1F2328"/>
                </a:solidFill>
                <a:latin typeface="Arial" pitchFamily="34" charset="0"/>
                <a:ea typeface="Arial" pitchFamily="34" charset="-122"/>
                <a:cs typeface="Arial" pitchFamily="34" charset="-120"/>
              </a:rPr>
              <a:t>Choose Yes or No</a:t>
            </a:r>
            <a:endParaRPr lang="en-US" sz="1400" dirty="0"/>
          </a:p>
        </p:txBody>
      </p:sp>
      <p:sp>
        <p:nvSpPr>
          <p:cNvPr id="31" name="Shape 28"/>
          <p:cNvSpPr/>
          <p:nvPr/>
        </p:nvSpPr>
        <p:spPr>
          <a:xfrm>
            <a:off x="548640" y="5669280"/>
            <a:ext cx="11064240" cy="530352"/>
          </a:xfrm>
          <a:prstGeom prst="roundRect">
            <a:avLst>
              <a:gd name="adj" fmla="val 24138"/>
            </a:avLst>
          </a:prstGeom>
          <a:solidFill>
            <a:srgbClr val="F1E9FF"/>
          </a:solidFill>
          <a:ln/>
        </p:spPr>
      </p:sp>
      <p:sp>
        <p:nvSpPr>
          <p:cNvPr id="32" name="Text 29"/>
          <p:cNvSpPr/>
          <p:nvPr/>
        </p:nvSpPr>
        <p:spPr>
          <a:xfrm>
            <a:off x="777240" y="5669280"/>
            <a:ext cx="10607040" cy="530352"/>
          </a:xfrm>
          <a:prstGeom prst="rect">
            <a:avLst/>
          </a:prstGeom>
          <a:noFill/>
          <a:ln/>
        </p:spPr>
        <p:txBody>
          <a:bodyPr wrap="square" lIns="0" tIns="0" rIns="0" bIns="0" rtlCol="0" anchor="ctr"/>
          <a:lstStyle/>
          <a:p>
            <a:pPr indent="0" marL="0">
              <a:buNone/>
            </a:pPr>
            <a:r>
              <a:rPr lang="en-US" sz="1600" b="1" dirty="0">
                <a:solidFill>
                  <a:srgbClr val="5A2EB0"/>
                </a:solidFill>
                <a:latin typeface="Arial" pitchFamily="34" charset="0"/>
                <a:ea typeface="Arial" pitchFamily="34" charset="-122"/>
                <a:cs typeface="Arial" pitchFamily="34" charset="-120"/>
              </a:rPr>
              <a:t>Approval is structure, not a request — the system blocks any AI that tries to skip it</a:t>
            </a:r>
            <a:endParaRPr lang="en-US" sz="1600" dirty="0"/>
          </a:p>
        </p:txBody>
      </p:sp>
      <p:sp>
        <p:nvSpPr>
          <p:cNvPr id="33" name="Text 3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34" name="Text 3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STEP 1 · ANALYZE</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Found 10 impact areas and 3 data anomalies</a:t>
            </a:r>
            <a:endParaRPr lang="en-US" sz="3000" dirty="0"/>
          </a:p>
        </p:txBody>
      </p:sp>
      <p:sp>
        <p:nvSpPr>
          <p:cNvPr id="4" name="Shape 2"/>
          <p:cNvSpPr/>
          <p:nvPr/>
        </p:nvSpPr>
        <p:spPr>
          <a:xfrm>
            <a:off x="5312664" y="310896"/>
            <a:ext cx="841248" cy="310896"/>
          </a:xfrm>
          <a:prstGeom prst="roundRect">
            <a:avLst>
              <a:gd name="adj" fmla="val 50000"/>
            </a:avLst>
          </a:prstGeom>
          <a:solidFill>
            <a:srgbClr val="7B3FE4"/>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 Analyze</a:t>
            </a:r>
            <a:endParaRPr lang="en-US" sz="1200" dirty="0"/>
          </a:p>
        </p:txBody>
      </p:sp>
      <p:sp>
        <p:nvSpPr>
          <p:cNvPr id="6" name="Shape 4"/>
          <p:cNvSpPr/>
          <p:nvPr/>
        </p:nvSpPr>
        <p:spPr>
          <a:xfrm>
            <a:off x="6227064" y="310896"/>
            <a:ext cx="841248" cy="310896"/>
          </a:xfrm>
          <a:prstGeom prst="roundRect">
            <a:avLst>
              <a:gd name="adj" fmla="val 50000"/>
            </a:avLst>
          </a:prstGeom>
          <a:solidFill>
            <a:srgbClr val="EEF1F4"/>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2 Design</a:t>
            </a:r>
            <a:endParaRPr lang="en-US" sz="1200" dirty="0"/>
          </a:p>
        </p:txBody>
      </p:sp>
      <p:sp>
        <p:nvSpPr>
          <p:cNvPr id="8" name="Shape 6"/>
          <p:cNvSpPr/>
          <p:nvPr/>
        </p:nvSpPr>
        <p:spPr>
          <a:xfrm>
            <a:off x="7141464" y="310896"/>
            <a:ext cx="841248" cy="310896"/>
          </a:xfrm>
          <a:prstGeom prst="roundRect">
            <a:avLst>
              <a:gd name="adj" fmla="val 50000"/>
            </a:avLst>
          </a:prstGeom>
          <a:solidFill>
            <a:srgbClr val="EEF1F4"/>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3 Build</a:t>
            </a:r>
            <a:endParaRPr lang="en-US" sz="1200" dirty="0"/>
          </a:p>
        </p:txBody>
      </p:sp>
      <p:sp>
        <p:nvSpPr>
          <p:cNvPr id="10" name="Shape 8"/>
          <p:cNvSpPr/>
          <p:nvPr/>
        </p:nvSpPr>
        <p:spPr>
          <a:xfrm>
            <a:off x="8055864" y="310896"/>
            <a:ext cx="841248" cy="310896"/>
          </a:xfrm>
          <a:prstGeom prst="roundRect">
            <a:avLst>
              <a:gd name="adj" fmla="val 50000"/>
            </a:avLst>
          </a:prstGeom>
          <a:solidFill>
            <a:srgbClr val="EEF1F4"/>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4 Test</a:t>
            </a:r>
            <a:endParaRPr lang="en-US" sz="1200" dirty="0"/>
          </a:p>
        </p:txBody>
      </p:sp>
      <p:sp>
        <p:nvSpPr>
          <p:cNvPr id="12" name="Shape 10"/>
          <p:cNvSpPr/>
          <p:nvPr/>
        </p:nvSpPr>
        <p:spPr>
          <a:xfrm>
            <a:off x="8970264" y="310896"/>
            <a:ext cx="841248" cy="310896"/>
          </a:xfrm>
          <a:prstGeom prst="roundRect">
            <a:avLst>
              <a:gd name="adj" fmla="val 50000"/>
            </a:avLst>
          </a:prstGeom>
          <a:solidFill>
            <a:srgbClr val="EEF1F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5 Review</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6 Deploy</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7 Operate</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Read code, docs and tests directly; listed the impact with file and line evidence</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Queried the DB read-only and found mixed customer-grade spellings (vip · 'VIP ' · NULL)</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Warned up front that legacy mobile app versions risk failed submissions</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change-analyst</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Writes: result docs only</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10</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impact areas</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3</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customers with grade data errors</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2</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decisions needed</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Actual time</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2m 42s</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Video length</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45s</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AI usage</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14.1</a:t>
            </a:r>
            <a:pPr indent="0" marL="0">
              <a:buNone/>
            </a:pPr>
            <a:r>
              <a:rPr lang="en-US" sz="1100" b="1" dirty="0">
                <a:solidFill>
                  <a:srgbClr val="59636E"/>
                </a:solidFill>
                <a:latin typeface="Arial" pitchFamily="34" charset="0"/>
                <a:ea typeface="Arial" pitchFamily="34" charset="-122"/>
                <a:cs typeface="Arial" pitchFamily="34" charset="-120"/>
              </a:rPr>
              <a:t> credits</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rial" pitchFamily="34" charset="0"/>
                <a:ea typeface="Arial" pitchFamily="34" charset="-122"/>
                <a:cs typeface="Arial" pitchFamily="34" charset="-120"/>
              </a:rPr>
              <a:t>Waits sped up · 1 credit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6F8FA"/>
          </a:solidFill>
          <a:ln/>
        </p:spPr>
      </p:sp>
      <p:sp>
        <p:nvSpPr>
          <p:cNvPr id="40" name="Text 37"/>
          <p:cNvSpPr/>
          <p:nvPr/>
        </p:nvSpPr>
        <p:spPr>
          <a:xfrm>
            <a:off x="9107424" y="5093208"/>
            <a:ext cx="2359152" cy="1200199"/>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The AI wrote the analysis report (01) but changed no code or data (read-only permissions).</a:t>
            </a:r>
            <a:endParaRPr lang="en-US" sz="1200" dirty="0"/>
          </a:p>
        </p:txBody>
      </p:sp>
      <p:sp>
        <p:nvSpPr>
          <p:cNvPr id="41" name="Text 3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2" name="Text 3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STEP 2 · DESIGN</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The AI offered options; people made the decisions</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1 Analyze</a:t>
            </a:r>
            <a:endParaRPr lang="en-US" sz="1200" dirty="0"/>
          </a:p>
        </p:txBody>
      </p:sp>
      <p:sp>
        <p:nvSpPr>
          <p:cNvPr id="6" name="Shape 4"/>
          <p:cNvSpPr/>
          <p:nvPr/>
        </p:nvSpPr>
        <p:spPr>
          <a:xfrm>
            <a:off x="6227064" y="310896"/>
            <a:ext cx="841248" cy="310896"/>
          </a:xfrm>
          <a:prstGeom prst="roundRect">
            <a:avLst>
              <a:gd name="adj" fmla="val 50000"/>
            </a:avLst>
          </a:prstGeom>
          <a:solidFill>
            <a:srgbClr val="7B3FE4"/>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 Design</a:t>
            </a:r>
            <a:endParaRPr lang="en-US" sz="1200" dirty="0"/>
          </a:p>
        </p:txBody>
      </p:sp>
      <p:sp>
        <p:nvSpPr>
          <p:cNvPr id="8" name="Shape 6"/>
          <p:cNvSpPr/>
          <p:nvPr/>
        </p:nvSpPr>
        <p:spPr>
          <a:xfrm>
            <a:off x="7141464" y="310896"/>
            <a:ext cx="841248" cy="310896"/>
          </a:xfrm>
          <a:prstGeom prst="roundRect">
            <a:avLst>
              <a:gd name="adj" fmla="val 50000"/>
            </a:avLst>
          </a:prstGeom>
          <a:solidFill>
            <a:srgbClr val="EEF1F4"/>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3 Build</a:t>
            </a:r>
            <a:endParaRPr lang="en-US" sz="1200" dirty="0"/>
          </a:p>
        </p:txBody>
      </p:sp>
      <p:sp>
        <p:nvSpPr>
          <p:cNvPr id="10" name="Shape 8"/>
          <p:cNvSpPr/>
          <p:nvPr/>
        </p:nvSpPr>
        <p:spPr>
          <a:xfrm>
            <a:off x="8055864" y="310896"/>
            <a:ext cx="841248" cy="310896"/>
          </a:xfrm>
          <a:prstGeom prst="roundRect">
            <a:avLst>
              <a:gd name="adj" fmla="val 50000"/>
            </a:avLst>
          </a:prstGeom>
          <a:solidFill>
            <a:srgbClr val="EEF1F4"/>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4 Test</a:t>
            </a:r>
            <a:endParaRPr lang="en-US" sz="1200" dirty="0"/>
          </a:p>
        </p:txBody>
      </p:sp>
      <p:sp>
        <p:nvSpPr>
          <p:cNvPr id="12" name="Shape 10"/>
          <p:cNvSpPr/>
          <p:nvPr/>
        </p:nvSpPr>
        <p:spPr>
          <a:xfrm>
            <a:off x="8970264" y="310896"/>
            <a:ext cx="841248" cy="310896"/>
          </a:xfrm>
          <a:prstGeom prst="roundRect">
            <a:avLst>
              <a:gd name="adj" fmla="val 50000"/>
            </a:avLst>
          </a:prstGeom>
          <a:solidFill>
            <a:srgbClr val="EEF1F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5 Review</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6 Deploy</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7 Operate</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3 questions with recommendations and pros/cons: legacy-app reasons · tier rules · exception expiry</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A person overrode the AI's legacy-app recommendation ('missing reasons OK until 12/1')</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Approving the design binds the approval record to the design doc's fingerprint (hash)</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solution-architect</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Writes: result docs only</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3</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decisions made by people</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1</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design approval (①)</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70</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lines in the design doc</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Actual time</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3m 24s</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Video length</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1m 29s</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AI usage</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20.8</a:t>
            </a:r>
            <a:pPr indent="0" marL="0">
              <a:buNone/>
            </a:pPr>
            <a:r>
              <a:rPr lang="en-US" sz="1100" b="1" dirty="0">
                <a:solidFill>
                  <a:srgbClr val="59636E"/>
                </a:solidFill>
                <a:latin typeface="Arial" pitchFamily="34" charset="0"/>
                <a:ea typeface="Arial" pitchFamily="34" charset="-122"/>
                <a:cs typeface="Arial" pitchFamily="34" charset="-120"/>
              </a:rPr>
              <a:t> credits</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rial" pitchFamily="34" charset="0"/>
                <a:ea typeface="Arial" pitchFamily="34" charset="-122"/>
                <a:cs typeface="Arial" pitchFamily="34" charset="-120"/>
              </a:rPr>
              <a:t>Waits sped up · 1 credit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FF4CC"/>
          </a:solidFill>
          <a:ln/>
        </p:spPr>
      </p:sp>
      <p:sp>
        <p:nvSpPr>
          <p:cNvPr id="40" name="Shape 37"/>
          <p:cNvSpPr/>
          <p:nvPr/>
        </p:nvSpPr>
        <p:spPr>
          <a:xfrm>
            <a:off x="9089136" y="5221224"/>
            <a:ext cx="1920240" cy="310896"/>
          </a:xfrm>
          <a:prstGeom prst="roundRect">
            <a:avLst>
              <a:gd name="adj" fmla="val 50000"/>
            </a:avLst>
          </a:prstGeom>
          <a:solidFill>
            <a:srgbClr val="F0B429"/>
          </a:solidFill>
          <a:ln/>
        </p:spPr>
      </p:sp>
      <p:pic>
        <p:nvPicPr>
          <p:cNvPr id="41" name="Image 0" descr="preencoded.png">    </p:cNvPr>
          <p:cNvPicPr>
            <a:picLocks noChangeAspect="1"/>
          </p:cNvPicPr>
          <p:nvPr/>
        </p:nvPicPr>
        <p:blipFill>
          <a:blip r:embed="rId4"/>
          <a:stretch>
            <a:fillRect/>
          </a:stretch>
        </p:blipFill>
        <p:spPr>
          <a:xfrm>
            <a:off x="9235440" y="5266944"/>
            <a:ext cx="219456" cy="219456"/>
          </a:xfrm>
          <a:prstGeom prst="rect">
            <a:avLst/>
          </a:prstGeom>
        </p:spPr>
      </p:pic>
      <p:sp>
        <p:nvSpPr>
          <p:cNvPr id="42" name="Text 38"/>
          <p:cNvSpPr/>
          <p:nvPr/>
        </p:nvSpPr>
        <p:spPr>
          <a:xfrm>
            <a:off x="9546336" y="5221224"/>
            <a:ext cx="1389888" cy="310896"/>
          </a:xfrm>
          <a:prstGeom prst="rect">
            <a:avLst/>
          </a:prstGeom>
          <a:noFill/>
          <a:ln/>
        </p:spPr>
        <p:txBody>
          <a:bodyPr wrap="square" lIns="0" tIns="0" rIns="0" bIns="0" rtlCol="0" anchor="ctr"/>
          <a:lstStyle/>
          <a:p>
            <a:pPr indent="0" marL="0">
              <a:buNone/>
            </a:pPr>
            <a:r>
              <a:rPr lang="en-US" sz="1150" b="1" dirty="0">
                <a:solidFill>
                  <a:srgbClr val="1F2328"/>
                </a:solidFill>
                <a:latin typeface="Arial" pitchFamily="34" charset="0"/>
                <a:ea typeface="Arial" pitchFamily="34" charset="-122"/>
                <a:cs typeface="Arial" pitchFamily="34" charset="-120"/>
              </a:rPr>
              <a:t>Human approval ①</a:t>
            </a:r>
            <a:endParaRPr lang="en-US" sz="1150" dirty="0"/>
          </a:p>
        </p:txBody>
      </p:sp>
      <p:sp>
        <p:nvSpPr>
          <p:cNvPr id="43" name="Text 39"/>
          <p:cNvSpPr/>
          <p:nvPr/>
        </p:nvSpPr>
        <p:spPr>
          <a:xfrm>
            <a:off x="9107424" y="5568696"/>
            <a:ext cx="2359152" cy="633271"/>
          </a:xfrm>
          <a:prstGeom prst="rect">
            <a:avLst/>
          </a:prstGeom>
          <a:noFill/>
          <a:ln/>
        </p:spPr>
        <p:txBody>
          <a:bodyPr wrap="square" lIns="0" tIns="0" rIns="0" bIns="0" rtlCol="0" anchor="ctr"/>
          <a:lstStyle/>
          <a:p>
            <a:pPr indent="0" marL="0">
              <a:buNone/>
            </a:pPr>
            <a:r>
              <a:rPr lang="en-US" sz="1200" dirty="0">
                <a:solidFill>
                  <a:srgbClr val="1F2328"/>
                </a:solidFill>
                <a:latin typeface="Arial" pitchFamily="34" charset="0"/>
                <a:ea typeface="Arial" pitchFamily="34" charset="-122"/>
                <a:cs typeface="Arial" pitchFamily="34" charset="-120"/>
              </a:rPr>
              <a:t>Clicked Yes in the pop-up — approval is void if the design changes later</a:t>
            </a:r>
            <a:endParaRPr lang="en-US" sz="1200" dirty="0"/>
          </a:p>
        </p:txBody>
      </p:sp>
      <p:sp>
        <p:nvSpPr>
          <p:cNvPr id="44" name="Text 4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5" name="Text 4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STEP 3 · BUILD</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Code, DB and screens changed exactly as approved</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1 Analyze</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2 Design</a:t>
            </a:r>
            <a:endParaRPr lang="en-US" sz="1200" dirty="0"/>
          </a:p>
        </p:txBody>
      </p:sp>
      <p:sp>
        <p:nvSpPr>
          <p:cNvPr id="8" name="Shape 6"/>
          <p:cNvSpPr/>
          <p:nvPr/>
        </p:nvSpPr>
        <p:spPr>
          <a:xfrm>
            <a:off x="7141464" y="310896"/>
            <a:ext cx="841248" cy="310896"/>
          </a:xfrm>
          <a:prstGeom prst="roundRect">
            <a:avLst>
              <a:gd name="adj" fmla="val 50000"/>
            </a:avLst>
          </a:prstGeom>
          <a:solidFill>
            <a:srgbClr val="7B3FE4"/>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 Build</a:t>
            </a:r>
            <a:endParaRPr lang="en-US" sz="1200" dirty="0"/>
          </a:p>
        </p:txBody>
      </p:sp>
      <p:sp>
        <p:nvSpPr>
          <p:cNvPr id="10" name="Shape 8"/>
          <p:cNvSpPr/>
          <p:nvPr/>
        </p:nvSpPr>
        <p:spPr>
          <a:xfrm>
            <a:off x="8055864" y="310896"/>
            <a:ext cx="841248" cy="310896"/>
          </a:xfrm>
          <a:prstGeom prst="roundRect">
            <a:avLst>
              <a:gd name="adj" fmla="val 50000"/>
            </a:avLst>
          </a:prstGeom>
          <a:solidFill>
            <a:srgbClr val="EEF1F4"/>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4 Test</a:t>
            </a:r>
            <a:endParaRPr lang="en-US" sz="1200" dirty="0"/>
          </a:p>
        </p:txBody>
      </p:sp>
      <p:sp>
        <p:nvSpPr>
          <p:cNvPr id="12" name="Shape 10"/>
          <p:cNvSpPr/>
          <p:nvPr/>
        </p:nvSpPr>
        <p:spPr>
          <a:xfrm>
            <a:off x="8970264" y="310896"/>
            <a:ext cx="841248" cy="310896"/>
          </a:xfrm>
          <a:prstGeom prst="roundRect">
            <a:avLst>
              <a:gd name="adj" fmla="val 50000"/>
            </a:avLst>
          </a:prstGeom>
          <a:solidFill>
            <a:srgbClr val="EEF1F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5 Review</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6 Deploy</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7 Operate</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DB change is only a new nullable column — existing data kept, legacy versions still work</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Policy numbers (30/60 days, ₩1,000,000) are kept in one place</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Screen, e-mail and policy-document wording changed together</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app-developer</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Writes: app, DB, tests, policy</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8</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app and DB files changed</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+171</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lines of app and DB code added</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26</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existing tests still pass</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Actual time</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6m 58s</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Video length</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1m 07s</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AI usage</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43.9</a:t>
            </a:r>
            <a:pPr indent="0" marL="0">
              <a:buNone/>
            </a:pPr>
            <a:r>
              <a:rPr lang="en-US" sz="1100" b="1" dirty="0">
                <a:solidFill>
                  <a:srgbClr val="59636E"/>
                </a:solidFill>
                <a:latin typeface="Arial" pitchFamily="34" charset="0"/>
                <a:ea typeface="Arial" pitchFamily="34" charset="-122"/>
                <a:cs typeface="Arial" pitchFamily="34" charset="-120"/>
              </a:rPr>
              <a:t> credits</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rial" pitchFamily="34" charset="0"/>
                <a:ea typeface="Arial" pitchFamily="34" charset="-122"/>
                <a:cs typeface="Arial" pitchFamily="34" charset="-120"/>
              </a:rPr>
              <a:t>Waits sped up · 1 credit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6F8FA"/>
          </a:solidFill>
          <a:ln/>
        </p:spPr>
      </p:sp>
      <p:sp>
        <p:nvSpPr>
          <p:cNvPr id="40" name="Text 37"/>
          <p:cNvSpPr/>
          <p:nvPr/>
        </p:nvSpPr>
        <p:spPr>
          <a:xfrm>
            <a:off x="9107424" y="5093208"/>
            <a:ext cx="2359152" cy="1200199"/>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Without a design approval record, the system blocks code edits (see slide 20).</a:t>
            </a:r>
            <a:endParaRPr lang="en-US" sz="1200" dirty="0"/>
          </a:p>
        </p:txBody>
      </p:sp>
      <p:sp>
        <p:nvSpPr>
          <p:cNvPr id="41" name="Text 3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2" name="Text 3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STEP 4 · TEST</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Separately from the developer, QA added 74 tests</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1 Analyze</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2 Design</a:t>
            </a:r>
            <a:endParaRPr lang="en-US" sz="1200" dirty="0"/>
          </a:p>
        </p:txBody>
      </p:sp>
      <p:sp>
        <p:nvSpPr>
          <p:cNvPr id="8" name="Shape 6"/>
          <p:cNvSpPr/>
          <p:nvPr/>
        </p:nvSpPr>
        <p:spPr>
          <a:xfrm>
            <a:off x="7141464" y="310896"/>
            <a:ext cx="841248" cy="310896"/>
          </a:xfrm>
          <a:prstGeom prst="roundRect">
            <a:avLst>
              <a:gd name="adj" fmla="val 50000"/>
            </a:avLst>
          </a:prstGeom>
          <a:solidFill>
            <a:srgbClr val="F1E9FF"/>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3 Build</a:t>
            </a:r>
            <a:endParaRPr lang="en-US" sz="1200" dirty="0"/>
          </a:p>
        </p:txBody>
      </p:sp>
      <p:sp>
        <p:nvSpPr>
          <p:cNvPr id="10" name="Shape 8"/>
          <p:cNvSpPr/>
          <p:nvPr/>
        </p:nvSpPr>
        <p:spPr>
          <a:xfrm>
            <a:off x="8055864" y="310896"/>
            <a:ext cx="841248" cy="310896"/>
          </a:xfrm>
          <a:prstGeom prst="roundRect">
            <a:avLst>
              <a:gd name="adj" fmla="val 50000"/>
            </a:avLst>
          </a:prstGeom>
          <a:solidFill>
            <a:srgbClr val="7B3FE4"/>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 Test</a:t>
            </a:r>
            <a:endParaRPr lang="en-US" sz="1200" dirty="0"/>
          </a:p>
        </p:txBody>
      </p:sp>
      <p:sp>
        <p:nvSpPr>
          <p:cNvPr id="12" name="Shape 10"/>
          <p:cNvSpPr/>
          <p:nvPr/>
        </p:nvSpPr>
        <p:spPr>
          <a:xfrm>
            <a:off x="8970264" y="310896"/>
            <a:ext cx="841248" cy="310896"/>
          </a:xfrm>
          <a:prstGeom prst="roundRect">
            <a:avLst>
              <a:gd name="adj" fmla="val 50000"/>
            </a:avLst>
          </a:prstGeom>
          <a:solidFill>
            <a:srgbClr val="EEF1F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5 Review</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6 Deploy</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7 Operate</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Traceability table for R1–R4: which requirement is verified by which test</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Includes boundaries (30/31 days · 60/61 days · ₩1,000,000), legacy grade data and legacy apps</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Test count: 26 (before) → 100 (after QA) — every new test was written by QA</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qa-engineer</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Writes: tests · result docs</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+74</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tests added by QA</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100</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all pass (0 failures)</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99%</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app code coverage</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Actual time</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8m 11s</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Video length</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1m 19s</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AI usage</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57.0</a:t>
            </a:r>
            <a:pPr indent="0" marL="0">
              <a:buNone/>
            </a:pPr>
            <a:r>
              <a:rPr lang="en-US" sz="1100" b="1" dirty="0">
                <a:solidFill>
                  <a:srgbClr val="59636E"/>
                </a:solidFill>
                <a:latin typeface="Arial" pitchFamily="34" charset="0"/>
                <a:ea typeface="Arial" pitchFamily="34" charset="-122"/>
                <a:cs typeface="Arial" pitchFamily="34" charset="-120"/>
              </a:rPr>
              <a:t> credits</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rial" pitchFamily="34" charset="0"/>
                <a:ea typeface="Arial" pitchFamily="34" charset="-122"/>
                <a:cs typeface="Arial" pitchFamily="34" charset="-120"/>
              </a:rPr>
              <a:t>Waits sped up · 1 credit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6F8FA"/>
          </a:solidFill>
          <a:ln/>
        </p:spPr>
      </p:sp>
      <p:sp>
        <p:nvSpPr>
          <p:cNvPr id="40" name="Text 37"/>
          <p:cNvSpPr/>
          <p:nvPr/>
        </p:nvSpPr>
        <p:spPr>
          <a:xfrm>
            <a:off x="9107424" y="5093208"/>
            <a:ext cx="2359152" cy="1200199"/>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The QA agent cannot change production code and only reports defects — the AI that builds and the AI that verifies have separate permissions.</a:t>
            </a:r>
            <a:endParaRPr lang="en-US" sz="1200" dirty="0"/>
          </a:p>
        </p:txBody>
      </p:sp>
      <p:sp>
        <p:nvSpPr>
          <p:cNvPr id="41" name="Text 3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2" name="Text 3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STEP 5 · REVIEW</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Reviewer checked the work and requested code approval</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1 Analyze</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2 Design</a:t>
            </a:r>
            <a:endParaRPr lang="en-US" sz="1200" dirty="0"/>
          </a:p>
        </p:txBody>
      </p:sp>
      <p:sp>
        <p:nvSpPr>
          <p:cNvPr id="8" name="Shape 6"/>
          <p:cNvSpPr/>
          <p:nvPr/>
        </p:nvSpPr>
        <p:spPr>
          <a:xfrm>
            <a:off x="7141464" y="310896"/>
            <a:ext cx="841248" cy="310896"/>
          </a:xfrm>
          <a:prstGeom prst="roundRect">
            <a:avLst>
              <a:gd name="adj" fmla="val 50000"/>
            </a:avLst>
          </a:prstGeom>
          <a:solidFill>
            <a:srgbClr val="F1E9FF"/>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3 Build</a:t>
            </a:r>
            <a:endParaRPr lang="en-US" sz="1200" dirty="0"/>
          </a:p>
        </p:txBody>
      </p:sp>
      <p:sp>
        <p:nvSpPr>
          <p:cNvPr id="10" name="Shape 8"/>
          <p:cNvSpPr/>
          <p:nvPr/>
        </p:nvSpPr>
        <p:spPr>
          <a:xfrm>
            <a:off x="8055864" y="310896"/>
            <a:ext cx="841248" cy="310896"/>
          </a:xfrm>
          <a:prstGeom prst="roundRect">
            <a:avLst>
              <a:gd name="adj" fmla="val 50000"/>
            </a:avLst>
          </a:prstGeom>
          <a:solidFill>
            <a:srgbClr val="F1E9FF"/>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4 Test</a:t>
            </a:r>
            <a:endParaRPr lang="en-US" sz="1200" dirty="0"/>
          </a:p>
        </p:txBody>
      </p:sp>
      <p:sp>
        <p:nvSpPr>
          <p:cNvPr id="12" name="Shape 10"/>
          <p:cNvSpPr/>
          <p:nvPr/>
        </p:nvSpPr>
        <p:spPr>
          <a:xfrm>
            <a:off x="8970264" y="310896"/>
            <a:ext cx="841248" cy="310896"/>
          </a:xfrm>
          <a:prstGeom prst="roundRect">
            <a:avLst>
              <a:gd name="adj" fmla="val 50000"/>
            </a:avLst>
          </a:prstGeom>
          <a:solidFill>
            <a:srgbClr val="7B3FE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 Review</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6 Deploy</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7 Operate</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Checked design match, security checklist, DB change guide and coding standards</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Deep security review delegated to a dedicated agent (security-review) — 0 vulnerabilities</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The Reviewer's attempt to commit its own report was blocked by the hook (read-only role)</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code-reviewer</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Writes: result docs only</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0</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blocker</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0</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major</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0</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minor</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Actual time</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4m 08s</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Video length</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57s</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AI usage</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68.0</a:t>
            </a:r>
            <a:pPr indent="0" marL="0">
              <a:buNone/>
            </a:pPr>
            <a:r>
              <a:rPr lang="en-US" sz="1100" b="1" dirty="0">
                <a:solidFill>
                  <a:srgbClr val="59636E"/>
                </a:solidFill>
                <a:latin typeface="Arial" pitchFamily="34" charset="0"/>
                <a:ea typeface="Arial" pitchFamily="34" charset="-122"/>
                <a:cs typeface="Arial" pitchFamily="34" charset="-120"/>
              </a:rPr>
              <a:t> credits</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rial" pitchFamily="34" charset="0"/>
                <a:ea typeface="Arial" pitchFamily="34" charset="-122"/>
                <a:cs typeface="Arial" pitchFamily="34" charset="-120"/>
              </a:rPr>
              <a:t>Waits sped up · 1 credit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FF4CC"/>
          </a:solidFill>
          <a:ln/>
        </p:spPr>
      </p:sp>
      <p:sp>
        <p:nvSpPr>
          <p:cNvPr id="40" name="Shape 37"/>
          <p:cNvSpPr/>
          <p:nvPr/>
        </p:nvSpPr>
        <p:spPr>
          <a:xfrm>
            <a:off x="9089136" y="5221224"/>
            <a:ext cx="1920240" cy="310896"/>
          </a:xfrm>
          <a:prstGeom prst="roundRect">
            <a:avLst>
              <a:gd name="adj" fmla="val 50000"/>
            </a:avLst>
          </a:prstGeom>
          <a:solidFill>
            <a:srgbClr val="F0B429"/>
          </a:solidFill>
          <a:ln/>
        </p:spPr>
      </p:sp>
      <p:pic>
        <p:nvPicPr>
          <p:cNvPr id="41" name="Image 0" descr="preencoded.png">    </p:cNvPr>
          <p:cNvPicPr>
            <a:picLocks noChangeAspect="1"/>
          </p:cNvPicPr>
          <p:nvPr/>
        </p:nvPicPr>
        <p:blipFill>
          <a:blip r:embed="rId4"/>
          <a:stretch>
            <a:fillRect/>
          </a:stretch>
        </p:blipFill>
        <p:spPr>
          <a:xfrm>
            <a:off x="9235440" y="5266944"/>
            <a:ext cx="219456" cy="219456"/>
          </a:xfrm>
          <a:prstGeom prst="rect">
            <a:avLst/>
          </a:prstGeom>
        </p:spPr>
      </p:pic>
      <p:sp>
        <p:nvSpPr>
          <p:cNvPr id="42" name="Text 38"/>
          <p:cNvSpPr/>
          <p:nvPr/>
        </p:nvSpPr>
        <p:spPr>
          <a:xfrm>
            <a:off x="9546336" y="5221224"/>
            <a:ext cx="1389888" cy="310896"/>
          </a:xfrm>
          <a:prstGeom prst="rect">
            <a:avLst/>
          </a:prstGeom>
          <a:noFill/>
          <a:ln/>
        </p:spPr>
        <p:txBody>
          <a:bodyPr wrap="square" lIns="0" tIns="0" rIns="0" bIns="0" rtlCol="0" anchor="ctr"/>
          <a:lstStyle/>
          <a:p>
            <a:pPr indent="0" marL="0">
              <a:buNone/>
            </a:pPr>
            <a:r>
              <a:rPr lang="en-US" sz="1150" b="1" dirty="0">
                <a:solidFill>
                  <a:srgbClr val="1F2328"/>
                </a:solidFill>
                <a:latin typeface="Arial" pitchFamily="34" charset="0"/>
                <a:ea typeface="Arial" pitchFamily="34" charset="-122"/>
                <a:cs typeface="Arial" pitchFamily="34" charset="-120"/>
              </a:rPr>
              <a:t>Human approval ②</a:t>
            </a:r>
            <a:endParaRPr lang="en-US" sz="1150" dirty="0"/>
          </a:p>
        </p:txBody>
      </p:sp>
      <p:sp>
        <p:nvSpPr>
          <p:cNvPr id="43" name="Text 39"/>
          <p:cNvSpPr/>
          <p:nvPr/>
        </p:nvSpPr>
        <p:spPr>
          <a:xfrm>
            <a:off x="9107424" y="5568696"/>
            <a:ext cx="2359152" cy="633271"/>
          </a:xfrm>
          <a:prstGeom prst="rect">
            <a:avLst/>
          </a:prstGeom>
          <a:noFill/>
          <a:ln/>
        </p:spPr>
        <p:txBody>
          <a:bodyPr wrap="square" lIns="0" tIns="0" rIns="0" bIns="0" rtlCol="0" anchor="ctr"/>
          <a:lstStyle/>
          <a:p>
            <a:pPr indent="0" marL="0">
              <a:buNone/>
            </a:pPr>
            <a:r>
              <a:rPr lang="en-US" sz="1200" dirty="0">
                <a:solidFill>
                  <a:srgbClr val="1F2328"/>
                </a:solidFill>
                <a:latin typeface="Arial" pitchFamily="34" charset="0"/>
                <a:ea typeface="Arial" pitchFamily="34" charset="-122"/>
                <a:cs typeface="Arial" pitchFamily="34" charset="-120"/>
              </a:rPr>
              <a:t>Clicked Yes in the pop-up — only code matching the approved fingerprint (hash) can deploy</a:t>
            </a:r>
            <a:endParaRPr lang="en-US" sz="1200" dirty="0"/>
          </a:p>
        </p:txBody>
      </p:sp>
      <p:sp>
        <p:nvSpPr>
          <p:cNvPr id="44" name="Text 4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5" name="Text 4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STEP 6 · DEPLOY</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Verified in staging, deployed to production with approval</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1 Analyze</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2 Design</a:t>
            </a:r>
            <a:endParaRPr lang="en-US" sz="1200" dirty="0"/>
          </a:p>
        </p:txBody>
      </p:sp>
      <p:sp>
        <p:nvSpPr>
          <p:cNvPr id="8" name="Shape 6"/>
          <p:cNvSpPr/>
          <p:nvPr/>
        </p:nvSpPr>
        <p:spPr>
          <a:xfrm>
            <a:off x="7141464" y="310896"/>
            <a:ext cx="841248" cy="310896"/>
          </a:xfrm>
          <a:prstGeom prst="roundRect">
            <a:avLst>
              <a:gd name="adj" fmla="val 50000"/>
            </a:avLst>
          </a:prstGeom>
          <a:solidFill>
            <a:srgbClr val="F1E9FF"/>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3 Build</a:t>
            </a:r>
            <a:endParaRPr lang="en-US" sz="1200" dirty="0"/>
          </a:p>
        </p:txBody>
      </p:sp>
      <p:sp>
        <p:nvSpPr>
          <p:cNvPr id="10" name="Shape 8"/>
          <p:cNvSpPr/>
          <p:nvPr/>
        </p:nvSpPr>
        <p:spPr>
          <a:xfrm>
            <a:off x="8055864" y="310896"/>
            <a:ext cx="841248" cy="310896"/>
          </a:xfrm>
          <a:prstGeom prst="roundRect">
            <a:avLst>
              <a:gd name="adj" fmla="val 50000"/>
            </a:avLst>
          </a:prstGeom>
          <a:solidFill>
            <a:srgbClr val="F1E9FF"/>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4 Test</a:t>
            </a:r>
            <a:endParaRPr lang="en-US" sz="1200" dirty="0"/>
          </a:p>
        </p:txBody>
      </p:sp>
      <p:sp>
        <p:nvSpPr>
          <p:cNvPr id="12" name="Shape 10"/>
          <p:cNvSpPr/>
          <p:nvPr/>
        </p:nvSpPr>
        <p:spPr>
          <a:xfrm>
            <a:off x="8970264" y="310896"/>
            <a:ext cx="841248" cy="310896"/>
          </a:xfrm>
          <a:prstGeom prst="roundRect">
            <a:avLst>
              <a:gd name="adj" fmla="val 50000"/>
            </a:avLst>
          </a:prstGeom>
          <a:solidFill>
            <a:srgbClr val="F1E9FF"/>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5 Review</a:t>
            </a:r>
            <a:endParaRPr lang="en-US" sz="1200" dirty="0"/>
          </a:p>
        </p:txBody>
      </p:sp>
      <p:sp>
        <p:nvSpPr>
          <p:cNvPr id="14" name="Shape 12"/>
          <p:cNvSpPr/>
          <p:nvPr/>
        </p:nvSpPr>
        <p:spPr>
          <a:xfrm>
            <a:off x="9884664" y="310896"/>
            <a:ext cx="841248" cy="310896"/>
          </a:xfrm>
          <a:prstGeom prst="roundRect">
            <a:avLst>
              <a:gd name="adj" fmla="val 50000"/>
            </a:avLst>
          </a:prstGeom>
          <a:solidFill>
            <a:srgbClr val="7B3FE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 Deploy</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rial" pitchFamily="34" charset="0"/>
                <a:ea typeface="Arial" pitchFamily="34" charset="-122"/>
                <a:cs typeface="Arial" pitchFamily="34" charset="-120"/>
              </a:rPr>
              <a:t>7 Operate</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main merge → v1.1.0 → staging deploy → smoke test 6/6 → independent health and screen checks</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Approval pop-up right before the production deploy — runs only if a person clicks Yes</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DB backup, health check and rollback commands prepared in advance</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release-manager</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Writes: result docs · version file</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6/6</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basic checks passed</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1</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DB change (applied after backup)</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1</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production deploy approval (③)</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Actual time</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4m 12s</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Video length</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1m 01s</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AI usage</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64.9</a:t>
            </a:r>
            <a:pPr indent="0" marL="0">
              <a:buNone/>
            </a:pPr>
            <a:r>
              <a:rPr lang="en-US" sz="1100" b="1" dirty="0">
                <a:solidFill>
                  <a:srgbClr val="59636E"/>
                </a:solidFill>
                <a:latin typeface="Arial" pitchFamily="34" charset="0"/>
                <a:ea typeface="Arial" pitchFamily="34" charset="-122"/>
                <a:cs typeface="Arial" pitchFamily="34" charset="-120"/>
              </a:rPr>
              <a:t> credits</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rial" pitchFamily="34" charset="0"/>
                <a:ea typeface="Arial" pitchFamily="34" charset="-122"/>
                <a:cs typeface="Arial" pitchFamily="34" charset="-120"/>
              </a:rPr>
              <a:t>Waits sped up · 1 credit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FF4CC"/>
          </a:solidFill>
          <a:ln/>
        </p:spPr>
      </p:sp>
      <p:sp>
        <p:nvSpPr>
          <p:cNvPr id="40" name="Shape 37"/>
          <p:cNvSpPr/>
          <p:nvPr/>
        </p:nvSpPr>
        <p:spPr>
          <a:xfrm>
            <a:off x="9089136" y="5221224"/>
            <a:ext cx="1920240" cy="310896"/>
          </a:xfrm>
          <a:prstGeom prst="roundRect">
            <a:avLst>
              <a:gd name="adj" fmla="val 50000"/>
            </a:avLst>
          </a:prstGeom>
          <a:solidFill>
            <a:srgbClr val="F0B429"/>
          </a:solidFill>
          <a:ln/>
        </p:spPr>
      </p:sp>
      <p:pic>
        <p:nvPicPr>
          <p:cNvPr id="41" name="Image 0" descr="preencoded.png">    </p:cNvPr>
          <p:cNvPicPr>
            <a:picLocks noChangeAspect="1"/>
          </p:cNvPicPr>
          <p:nvPr/>
        </p:nvPicPr>
        <p:blipFill>
          <a:blip r:embed="rId4"/>
          <a:stretch>
            <a:fillRect/>
          </a:stretch>
        </p:blipFill>
        <p:spPr>
          <a:xfrm>
            <a:off x="9235440" y="5266944"/>
            <a:ext cx="219456" cy="219456"/>
          </a:xfrm>
          <a:prstGeom prst="rect">
            <a:avLst/>
          </a:prstGeom>
        </p:spPr>
      </p:pic>
      <p:sp>
        <p:nvSpPr>
          <p:cNvPr id="42" name="Text 38"/>
          <p:cNvSpPr/>
          <p:nvPr/>
        </p:nvSpPr>
        <p:spPr>
          <a:xfrm>
            <a:off x="9546336" y="5221224"/>
            <a:ext cx="1389888" cy="310896"/>
          </a:xfrm>
          <a:prstGeom prst="rect">
            <a:avLst/>
          </a:prstGeom>
          <a:noFill/>
          <a:ln/>
        </p:spPr>
        <p:txBody>
          <a:bodyPr wrap="square" lIns="0" tIns="0" rIns="0" bIns="0" rtlCol="0" anchor="ctr"/>
          <a:lstStyle/>
          <a:p>
            <a:pPr indent="0" marL="0">
              <a:buNone/>
            </a:pPr>
            <a:r>
              <a:rPr lang="en-US" sz="1150" b="1" dirty="0">
                <a:solidFill>
                  <a:srgbClr val="1F2328"/>
                </a:solidFill>
                <a:latin typeface="Arial" pitchFamily="34" charset="0"/>
                <a:ea typeface="Arial" pitchFamily="34" charset="-122"/>
                <a:cs typeface="Arial" pitchFamily="34" charset="-120"/>
              </a:rPr>
              <a:t>Human approval ③</a:t>
            </a:r>
            <a:endParaRPr lang="en-US" sz="1150" dirty="0"/>
          </a:p>
        </p:txBody>
      </p:sp>
      <p:sp>
        <p:nvSpPr>
          <p:cNvPr id="43" name="Text 39"/>
          <p:cNvSpPr/>
          <p:nvPr/>
        </p:nvSpPr>
        <p:spPr>
          <a:xfrm>
            <a:off x="9107424" y="5568696"/>
            <a:ext cx="2359152" cy="633271"/>
          </a:xfrm>
          <a:prstGeom prst="rect">
            <a:avLst/>
          </a:prstGeom>
          <a:noFill/>
          <a:ln/>
        </p:spPr>
        <p:txBody>
          <a:bodyPr wrap="square" lIns="0" tIns="0" rIns="0" bIns="0" rtlCol="0" anchor="ctr"/>
          <a:lstStyle/>
          <a:p>
            <a:pPr indent="0" marL="0">
              <a:buNone/>
            </a:pPr>
            <a:r>
              <a:rPr lang="en-US" sz="1200" dirty="0">
                <a:solidFill>
                  <a:srgbClr val="1F2328"/>
                </a:solidFill>
                <a:latin typeface="Arial" pitchFamily="34" charset="0"/>
                <a:ea typeface="Arial" pitchFamily="34" charset="-122"/>
                <a:cs typeface="Arial" pitchFamily="34" charset="-120"/>
              </a:rPr>
              <a:t>Pop-up before the production deploy — always shown, even in auto-approve mode</a:t>
            </a:r>
            <a:endParaRPr lang="en-US" sz="1200" dirty="0"/>
          </a:p>
        </p:txBody>
      </p:sp>
      <p:sp>
        <p:nvSpPr>
          <p:cNvPr id="44" name="Text 4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5" name="Text 4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STEP 7 · OPERATE</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rial" pitchFamily="34" charset="0"/>
                <a:ea typeface="Arial" pitchFamily="34" charset="-122"/>
                <a:cs typeface="Arial" pitchFamily="34" charset="-120"/>
              </a:rPr>
              <a:t>Production data was analyzed right after deployment</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1 Analyze</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2 Design</a:t>
            </a:r>
            <a:endParaRPr lang="en-US" sz="1200" dirty="0"/>
          </a:p>
        </p:txBody>
      </p:sp>
      <p:sp>
        <p:nvSpPr>
          <p:cNvPr id="8" name="Shape 6"/>
          <p:cNvSpPr/>
          <p:nvPr/>
        </p:nvSpPr>
        <p:spPr>
          <a:xfrm>
            <a:off x="7141464" y="310896"/>
            <a:ext cx="841248" cy="310896"/>
          </a:xfrm>
          <a:prstGeom prst="roundRect">
            <a:avLst>
              <a:gd name="adj" fmla="val 50000"/>
            </a:avLst>
          </a:prstGeom>
          <a:solidFill>
            <a:srgbClr val="F1E9FF"/>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3 Build</a:t>
            </a:r>
            <a:endParaRPr lang="en-US" sz="1200" dirty="0"/>
          </a:p>
        </p:txBody>
      </p:sp>
      <p:sp>
        <p:nvSpPr>
          <p:cNvPr id="10" name="Shape 8"/>
          <p:cNvSpPr/>
          <p:nvPr/>
        </p:nvSpPr>
        <p:spPr>
          <a:xfrm>
            <a:off x="8055864" y="310896"/>
            <a:ext cx="841248" cy="310896"/>
          </a:xfrm>
          <a:prstGeom prst="roundRect">
            <a:avLst>
              <a:gd name="adj" fmla="val 50000"/>
            </a:avLst>
          </a:prstGeom>
          <a:solidFill>
            <a:srgbClr val="F1E9FF"/>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4 Test</a:t>
            </a:r>
            <a:endParaRPr lang="en-US" sz="1200" dirty="0"/>
          </a:p>
        </p:txBody>
      </p:sp>
      <p:sp>
        <p:nvSpPr>
          <p:cNvPr id="12" name="Shape 10"/>
          <p:cNvSpPr/>
          <p:nvPr/>
        </p:nvSpPr>
        <p:spPr>
          <a:xfrm>
            <a:off x="8970264" y="310896"/>
            <a:ext cx="841248" cy="310896"/>
          </a:xfrm>
          <a:prstGeom prst="roundRect">
            <a:avLst>
              <a:gd name="adj" fmla="val 50000"/>
            </a:avLst>
          </a:prstGeom>
          <a:solidFill>
            <a:srgbClr val="F1E9FF"/>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5 Review</a:t>
            </a:r>
            <a:endParaRPr lang="en-US" sz="1200" dirty="0"/>
          </a:p>
        </p:txBody>
      </p:sp>
      <p:sp>
        <p:nvSpPr>
          <p:cNvPr id="14" name="Shape 12"/>
          <p:cNvSpPr/>
          <p:nvPr/>
        </p:nvSpPr>
        <p:spPr>
          <a:xfrm>
            <a:off x="9884664" y="310896"/>
            <a:ext cx="841248" cy="310896"/>
          </a:xfrm>
          <a:prstGeom prst="roundRect">
            <a:avLst>
              <a:gd name="adj" fmla="val 50000"/>
            </a:avLst>
          </a:prstGeom>
          <a:solidFill>
            <a:srgbClr val="F1E9FF"/>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rial" pitchFamily="34" charset="0"/>
                <a:ea typeface="Arial" pitchFamily="34" charset="-122"/>
                <a:cs typeface="Arial" pitchFamily="34" charset="-120"/>
              </a:rPr>
              <a:t>6 Deploy</a:t>
            </a:r>
            <a:endParaRPr lang="en-US" sz="1200" dirty="0"/>
          </a:p>
        </p:txBody>
      </p:sp>
      <p:sp>
        <p:nvSpPr>
          <p:cNvPr id="16" name="Shape 14"/>
          <p:cNvSpPr/>
          <p:nvPr/>
        </p:nvSpPr>
        <p:spPr>
          <a:xfrm>
            <a:off x="10799064" y="310896"/>
            <a:ext cx="841248" cy="310896"/>
          </a:xfrm>
          <a:prstGeom prst="roundRect">
            <a:avLst>
              <a:gd name="adj" fmla="val 50000"/>
            </a:avLst>
          </a:prstGeom>
          <a:solidFill>
            <a:srgbClr val="7B3FE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 Operate</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150 refunds: 80 approved · 25 pending approval · 45 outside the refund window</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20 legacy-app requests lacked a reason → notice needed before the exception ends on 12/1</a:t>
            </a:r>
            <a:endParaRPr lang="en-US" sz="1400" dirty="0"/>
          </a:p>
          <a:p>
            <a:pPr marL="177800" indent="-177800">
              <a:spcAft>
                <a:spcPts val="300"/>
              </a:spcAft>
              <a:buSzPct val="100000"/>
              <a:buChar char="•"/>
            </a:pPr>
            <a:r>
              <a:rPr lang="en-US" sz="1400" dirty="0">
                <a:solidFill>
                  <a:srgbClr val="1F2328"/>
                </a:solidFill>
                <a:latin typeface="Arial" pitchFamily="34" charset="0"/>
                <a:ea typeface="Arial" pitchFamily="34" charset="-122"/>
                <a:cs typeface="Arial" pitchFamily="34" charset="-120"/>
              </a:rPr>
              <a:t>Confirmed 0 e-mail or phone-number exposure patterns (privacy check)</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ops-analyst</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Writes: result docs · DB read-only</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311</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requests analyzed (0 server errors)</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25</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pending approval (₩45,000,000)</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rial" pitchFamily="34" charset="0"/>
                <a:ea typeface="Arial" pitchFamily="34" charset="-122"/>
                <a:cs typeface="Arial" pitchFamily="34" charset="-120"/>
              </a:rPr>
              <a:t>20</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legacy-app reason omissions</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Actual time</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8m 22s</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Video length</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1m 48s</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rial" pitchFamily="34" charset="0"/>
                <a:ea typeface="Arial" pitchFamily="34" charset="-122"/>
                <a:cs typeface="Arial" pitchFamily="34" charset="-120"/>
              </a:rPr>
              <a:t>AI usage</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71.0</a:t>
            </a:r>
            <a:pPr indent="0" marL="0">
              <a:buNone/>
            </a:pPr>
            <a:r>
              <a:rPr lang="en-US" sz="1100" b="1" dirty="0">
                <a:solidFill>
                  <a:srgbClr val="59636E"/>
                </a:solidFill>
                <a:latin typeface="Arial" pitchFamily="34" charset="0"/>
                <a:ea typeface="Arial" pitchFamily="34" charset="-122"/>
                <a:cs typeface="Arial" pitchFamily="34" charset="-120"/>
              </a:rPr>
              <a:t> credits</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rial" pitchFamily="34" charset="0"/>
                <a:ea typeface="Arial" pitchFamily="34" charset="-122"/>
                <a:cs typeface="Arial" pitchFamily="34" charset="-120"/>
              </a:rPr>
              <a:t>Waits sped up · 1 credit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6F8FA"/>
          </a:solidFill>
          <a:ln/>
        </p:spPr>
      </p:sp>
      <p:sp>
        <p:nvSpPr>
          <p:cNvPr id="40" name="Text 37"/>
          <p:cNvSpPr/>
          <p:nvPr/>
        </p:nvSpPr>
        <p:spPr>
          <a:xfrm>
            <a:off x="9107424" y="5093208"/>
            <a:ext cx="2359152" cy="1200199"/>
          </a:xfrm>
          <a:prstGeom prst="rect">
            <a:avLst/>
          </a:prstGeom>
          <a:noFill/>
          <a:ln/>
        </p:spPr>
        <p:txBody>
          <a:bodyPr wrap="square" lIns="0" tIns="0" rIns="0" bIns="0" rtlCol="0" anchor="ctr"/>
          <a:lstStyle/>
          <a:p>
            <a:pPr indent="0" marL="0">
              <a:buNone/>
            </a:pPr>
            <a:r>
              <a:rPr lang="en-US" sz="1200" dirty="0">
                <a:solidFill>
                  <a:srgbClr val="59636E"/>
                </a:solidFill>
                <a:latin typeface="Arial" pitchFamily="34" charset="0"/>
                <a:ea typeface="Arial" pitchFamily="34" charset="-122"/>
                <a:cs typeface="Arial" pitchFamily="34" charset="-120"/>
              </a:rPr>
              <a:t>Decisions for the business: who reviews high-value refunds and by when, and how to announce the legacy app's end of support (the AI only proposes).</a:t>
            </a:r>
            <a:endParaRPr lang="en-US" sz="1200" dirty="0"/>
          </a:p>
        </p:txBody>
      </p:sp>
      <p:sp>
        <p:nvSpPr>
          <p:cNvPr id="41" name="Text 3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2" name="Text 3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2 · DEMO RESULTS</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Result screens the business can see for itself</a:t>
            </a:r>
            <a:endParaRPr lang="en-US" sz="3200" dirty="0"/>
          </a:p>
        </p:txBody>
      </p:sp>
      <p:sp>
        <p:nvSpPr>
          <p:cNvPr id="4" name="Text 2"/>
          <p:cNvSpPr/>
          <p:nvPr/>
        </p:nvSpPr>
        <p:spPr>
          <a:xfrm>
            <a:off x="548640" y="1188720"/>
            <a:ext cx="2011680" cy="329184"/>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Customer screen</a:t>
            </a:r>
            <a:endParaRPr lang="en-US" sz="1800" dirty="0"/>
          </a:p>
        </p:txBody>
      </p:sp>
      <p:sp>
        <p:nvSpPr>
          <p:cNvPr id="5" name="Text 3"/>
          <p:cNvSpPr/>
          <p:nvPr/>
        </p:nvSpPr>
        <p:spPr>
          <a:xfrm>
            <a:off x="2651760" y="1188720"/>
            <a:ext cx="8961120" cy="329184"/>
          </a:xfrm>
          <a:prstGeom prst="rect">
            <a:avLst/>
          </a:prstGeom>
          <a:noFill/>
          <a:ln/>
        </p:spPr>
        <p:txBody>
          <a:bodyPr wrap="square" lIns="0" tIns="0" rIns="0" bIns="0" rtlCol="0" anchor="ctr"/>
          <a:lstStyle/>
          <a:p>
            <a:pPr indent="0" marL="0">
              <a:buNone/>
            </a:pPr>
            <a:r>
              <a:rPr lang="en-US" sz="1400" dirty="0">
                <a:solidFill>
                  <a:srgbClr val="59636E"/>
                </a:solidFill>
                <a:latin typeface="Arial" pitchFamily="34" charset="0"/>
                <a:ea typeface="Arial" pitchFamily="34" charset="-122"/>
                <a:cs typeface="Arial" pitchFamily="34" charset="-120"/>
              </a:rPr>
              <a:t>VIP customer Seoyun Han requests a refund on an order placed 45 days ago</a:t>
            </a:r>
            <a:endParaRPr lang="en-US" sz="1400" dirty="0"/>
          </a:p>
        </p:txBody>
      </p:sp>
      <p:pic>
        <p:nvPicPr>
          <p:cNvPr id="6" name="Image 0" descr="Customer screen before the change (v1.0.0): ✕ Refund rejected: 30 days have passed">    </p:cNvPr>
          <p:cNvPicPr>
            <a:picLocks noChangeAspect="1"/>
          </p:cNvPicPr>
          <p:nvPr/>
        </p:nvPicPr>
        <p:blipFill>
          <a:blip r:embed="rId1"/>
          <a:stretch>
            <a:fillRect/>
          </a:stretch>
        </p:blipFill>
        <p:spPr>
          <a:xfrm>
            <a:off x="548640" y="1572768"/>
            <a:ext cx="5303520" cy="2115293"/>
          </a:xfrm>
          <a:prstGeom prst="rect">
            <a:avLst/>
          </a:prstGeom>
        </p:spPr>
      </p:pic>
      <p:sp>
        <p:nvSpPr>
          <p:cNvPr id="7" name="Shape 4"/>
          <p:cNvSpPr/>
          <p:nvPr/>
        </p:nvSpPr>
        <p:spPr>
          <a:xfrm>
            <a:off x="548640" y="1572768"/>
            <a:ext cx="5303520" cy="2115293"/>
          </a:xfrm>
          <a:prstGeom prst="roundRect">
            <a:avLst>
              <a:gd name="adj" fmla="val 2161"/>
            </a:avLst>
          </a:prstGeom>
          <a:ln w="15875">
            <a:solidFill>
              <a:srgbClr val="D0D7DE"/>
            </a:solidFill>
            <a:prstDash val="solid"/>
          </a:ln>
        </p:spPr>
      </p:sp>
      <p:sp>
        <p:nvSpPr>
          <p:cNvPr id="8" name="Shape 5"/>
          <p:cNvSpPr/>
          <p:nvPr/>
        </p:nvSpPr>
        <p:spPr>
          <a:xfrm>
            <a:off x="4325112" y="1618488"/>
            <a:ext cx="1417320" cy="256032"/>
          </a:xfrm>
          <a:prstGeom prst="roundRect">
            <a:avLst>
              <a:gd name="adj" fmla="val 50000"/>
            </a:avLst>
          </a:prstGeom>
          <a:solidFill>
            <a:srgbClr val="E6EAF0"/>
          </a:solidFill>
          <a:ln/>
        </p:spPr>
      </p:sp>
      <p:sp>
        <p:nvSpPr>
          <p:cNvPr id="9" name="Text 6"/>
          <p:cNvSpPr/>
          <p:nvPr/>
        </p:nvSpPr>
        <p:spPr>
          <a:xfrm>
            <a:off x="4325112" y="1618488"/>
            <a:ext cx="1417320" cy="256032"/>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Before · v1.0.0</a:t>
            </a:r>
            <a:endParaRPr lang="en-US" sz="1200" dirty="0"/>
          </a:p>
        </p:txBody>
      </p:sp>
      <p:sp>
        <p:nvSpPr>
          <p:cNvPr id="10" name="Text 7"/>
          <p:cNvSpPr/>
          <p:nvPr/>
        </p:nvSpPr>
        <p:spPr>
          <a:xfrm>
            <a:off x="548640" y="3733781"/>
            <a:ext cx="5303520" cy="274320"/>
          </a:xfrm>
          <a:prstGeom prst="rect">
            <a:avLst/>
          </a:prstGeom>
          <a:noFill/>
          <a:ln/>
        </p:spPr>
        <p:txBody>
          <a:bodyPr wrap="square" lIns="0" tIns="0" rIns="0" bIns="0" rtlCol="0" anchor="ctr"/>
          <a:lstStyle/>
          <a:p>
            <a:pPr indent="0" marL="0">
              <a:buNone/>
            </a:pPr>
            <a:r>
              <a:rPr lang="en-US" sz="1500" b="1" dirty="0">
                <a:solidFill>
                  <a:srgbClr val="CF222E"/>
                </a:solidFill>
                <a:latin typeface="Arial" pitchFamily="34" charset="0"/>
                <a:ea typeface="Arial" pitchFamily="34" charset="-122"/>
                <a:cs typeface="Arial" pitchFamily="34" charset="-120"/>
              </a:rPr>
              <a:t>✕ Refund rejected: 30 days have passed</a:t>
            </a:r>
            <a:endParaRPr lang="en-US" sz="1500" dirty="0"/>
          </a:p>
        </p:txBody>
      </p:sp>
      <p:pic>
        <p:nvPicPr>
          <p:cNvPr id="11" name="Image 1" descr="Customer screen after the change (v1.1.0): ✓ VIP gets 60 days — accepted once a reason is entered">    </p:cNvPr>
          <p:cNvPicPr>
            <a:picLocks noChangeAspect="1"/>
          </p:cNvPicPr>
          <p:nvPr/>
        </p:nvPicPr>
        <p:blipFill>
          <a:blip r:embed="rId2"/>
          <a:stretch>
            <a:fillRect/>
          </a:stretch>
        </p:blipFill>
        <p:spPr>
          <a:xfrm>
            <a:off x="6309360" y="1572768"/>
            <a:ext cx="5303520" cy="2115293"/>
          </a:xfrm>
          <a:prstGeom prst="rect">
            <a:avLst/>
          </a:prstGeom>
        </p:spPr>
      </p:pic>
      <p:sp>
        <p:nvSpPr>
          <p:cNvPr id="12" name="Shape 8"/>
          <p:cNvSpPr/>
          <p:nvPr/>
        </p:nvSpPr>
        <p:spPr>
          <a:xfrm>
            <a:off x="6309360" y="1572768"/>
            <a:ext cx="5303520" cy="2115293"/>
          </a:xfrm>
          <a:prstGeom prst="roundRect">
            <a:avLst>
              <a:gd name="adj" fmla="val 2161"/>
            </a:avLst>
          </a:prstGeom>
          <a:ln w="25400">
            <a:solidFill>
              <a:srgbClr val="7B3FE4"/>
            </a:solidFill>
            <a:prstDash val="solid"/>
          </a:ln>
        </p:spPr>
      </p:sp>
      <p:sp>
        <p:nvSpPr>
          <p:cNvPr id="13" name="Shape 9"/>
          <p:cNvSpPr/>
          <p:nvPr/>
        </p:nvSpPr>
        <p:spPr>
          <a:xfrm>
            <a:off x="10177272" y="1618488"/>
            <a:ext cx="1325880" cy="256032"/>
          </a:xfrm>
          <a:prstGeom prst="roundRect">
            <a:avLst>
              <a:gd name="adj" fmla="val 50000"/>
            </a:avLst>
          </a:prstGeom>
          <a:solidFill>
            <a:srgbClr val="7B3FE4"/>
          </a:solidFill>
          <a:ln/>
        </p:spPr>
      </p:sp>
      <p:sp>
        <p:nvSpPr>
          <p:cNvPr id="14" name="Text 10"/>
          <p:cNvSpPr/>
          <p:nvPr/>
        </p:nvSpPr>
        <p:spPr>
          <a:xfrm>
            <a:off x="10177272" y="1618488"/>
            <a:ext cx="13258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After · v1.1.0</a:t>
            </a:r>
            <a:endParaRPr lang="en-US" sz="1200" dirty="0"/>
          </a:p>
        </p:txBody>
      </p:sp>
      <p:sp>
        <p:nvSpPr>
          <p:cNvPr id="15" name="Text 11"/>
          <p:cNvSpPr/>
          <p:nvPr/>
        </p:nvSpPr>
        <p:spPr>
          <a:xfrm>
            <a:off x="6309360" y="3733781"/>
            <a:ext cx="5303520" cy="274320"/>
          </a:xfrm>
          <a:prstGeom prst="rect">
            <a:avLst/>
          </a:prstGeom>
          <a:noFill/>
          <a:ln/>
        </p:spPr>
        <p:txBody>
          <a:bodyPr wrap="square" lIns="0" tIns="0" rIns="0" bIns="0" rtlCol="0" anchor="ctr"/>
          <a:lstStyle/>
          <a:p>
            <a:pPr indent="0" marL="0">
              <a:buNone/>
            </a:pPr>
            <a:r>
              <a:rPr lang="en-US" sz="1500" b="1" dirty="0">
                <a:solidFill>
                  <a:srgbClr val="1A7F37"/>
                </a:solidFill>
                <a:latin typeface="Arial" pitchFamily="34" charset="0"/>
                <a:ea typeface="Arial" pitchFamily="34" charset="-122"/>
                <a:cs typeface="Arial" pitchFamily="34" charset="-120"/>
              </a:rPr>
              <a:t>✓ VIP gets 60 days — accepted once a reason is entered</a:t>
            </a:r>
            <a:endParaRPr lang="en-US" sz="1500" dirty="0"/>
          </a:p>
        </p:txBody>
      </p:sp>
      <p:sp>
        <p:nvSpPr>
          <p:cNvPr id="16" name="Text 12"/>
          <p:cNvSpPr/>
          <p:nvPr/>
        </p:nvSpPr>
        <p:spPr>
          <a:xfrm>
            <a:off x="548640" y="4117829"/>
            <a:ext cx="2011680" cy="329184"/>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Admin console</a:t>
            </a:r>
            <a:endParaRPr lang="en-US" sz="1800" dirty="0"/>
          </a:p>
        </p:txBody>
      </p:sp>
      <p:sp>
        <p:nvSpPr>
          <p:cNvPr id="17" name="Text 13"/>
          <p:cNvSpPr/>
          <p:nvPr/>
        </p:nvSpPr>
        <p:spPr>
          <a:xfrm>
            <a:off x="2651760" y="4117829"/>
            <a:ext cx="8961120" cy="329184"/>
          </a:xfrm>
          <a:prstGeom prst="rect">
            <a:avLst/>
          </a:prstGeom>
          <a:noFill/>
          <a:ln/>
        </p:spPr>
        <p:txBody>
          <a:bodyPr wrap="square" lIns="0" tIns="0" rIns="0" bIns="0" rtlCol="0" anchor="ctr"/>
          <a:lstStyle/>
          <a:p>
            <a:pPr indent="0" marL="0">
              <a:buNone/>
            </a:pPr>
            <a:r>
              <a:rPr lang="en-US" sz="1400" dirty="0">
                <a:solidFill>
                  <a:srgbClr val="59636E"/>
                </a:solidFill>
                <a:latin typeface="Arial" pitchFamily="34" charset="0"/>
                <a:ea typeface="Arial" pitchFamily="34" charset="-122"/>
                <a:cs typeface="Arial" pitchFamily="34" charset="-120"/>
              </a:rPr>
              <a:t>Refunds over ₩1,000,000 are accepted as ‘pending approval’</a:t>
            </a:r>
            <a:endParaRPr lang="en-US" sz="1400" dirty="0"/>
          </a:p>
        </p:txBody>
      </p:sp>
      <p:pic>
        <p:nvPicPr>
          <p:cNvPr id="18" name="Image 2" descr="Admin console before the change (v1.0.0): ✕ High-value refunds also processed without approval">    </p:cNvPr>
          <p:cNvPicPr>
            <a:picLocks noChangeAspect="1"/>
          </p:cNvPicPr>
          <p:nvPr/>
        </p:nvPicPr>
        <p:blipFill>
          <a:blip r:embed="rId3"/>
          <a:stretch>
            <a:fillRect/>
          </a:stretch>
        </p:blipFill>
        <p:spPr>
          <a:xfrm>
            <a:off x="548640" y="4501877"/>
            <a:ext cx="5303520" cy="1476077"/>
          </a:xfrm>
          <a:prstGeom prst="rect">
            <a:avLst/>
          </a:prstGeom>
        </p:spPr>
      </p:pic>
      <p:sp>
        <p:nvSpPr>
          <p:cNvPr id="19" name="Shape 14"/>
          <p:cNvSpPr/>
          <p:nvPr/>
        </p:nvSpPr>
        <p:spPr>
          <a:xfrm>
            <a:off x="548640" y="4501877"/>
            <a:ext cx="5303520" cy="1476077"/>
          </a:xfrm>
          <a:prstGeom prst="roundRect">
            <a:avLst>
              <a:gd name="adj" fmla="val 3097"/>
            </a:avLst>
          </a:prstGeom>
          <a:ln w="15875">
            <a:solidFill>
              <a:srgbClr val="D0D7DE"/>
            </a:solidFill>
            <a:prstDash val="solid"/>
          </a:ln>
        </p:spPr>
      </p:sp>
      <p:sp>
        <p:nvSpPr>
          <p:cNvPr id="20" name="Shape 15"/>
          <p:cNvSpPr/>
          <p:nvPr/>
        </p:nvSpPr>
        <p:spPr>
          <a:xfrm>
            <a:off x="4325112" y="4547597"/>
            <a:ext cx="1417320" cy="256032"/>
          </a:xfrm>
          <a:prstGeom prst="roundRect">
            <a:avLst>
              <a:gd name="adj" fmla="val 50000"/>
            </a:avLst>
          </a:prstGeom>
          <a:solidFill>
            <a:srgbClr val="E6EAF0"/>
          </a:solidFill>
          <a:ln/>
        </p:spPr>
      </p:sp>
      <p:sp>
        <p:nvSpPr>
          <p:cNvPr id="21" name="Text 16"/>
          <p:cNvSpPr/>
          <p:nvPr/>
        </p:nvSpPr>
        <p:spPr>
          <a:xfrm>
            <a:off x="4325112" y="4547597"/>
            <a:ext cx="1417320" cy="256032"/>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Before · v1.0.0</a:t>
            </a:r>
            <a:endParaRPr lang="en-US" sz="1200" dirty="0"/>
          </a:p>
        </p:txBody>
      </p:sp>
      <p:sp>
        <p:nvSpPr>
          <p:cNvPr id="22" name="Text 17"/>
          <p:cNvSpPr/>
          <p:nvPr/>
        </p:nvSpPr>
        <p:spPr>
          <a:xfrm>
            <a:off x="548640" y="6023674"/>
            <a:ext cx="5303520" cy="274320"/>
          </a:xfrm>
          <a:prstGeom prst="rect">
            <a:avLst/>
          </a:prstGeom>
          <a:noFill/>
          <a:ln/>
        </p:spPr>
        <p:txBody>
          <a:bodyPr wrap="square" lIns="0" tIns="0" rIns="0" bIns="0" rtlCol="0" anchor="ctr"/>
          <a:lstStyle/>
          <a:p>
            <a:pPr indent="0" marL="0">
              <a:buNone/>
            </a:pPr>
            <a:r>
              <a:rPr lang="en-US" sz="1500" b="1" dirty="0">
                <a:solidFill>
                  <a:srgbClr val="CF222E"/>
                </a:solidFill>
                <a:latin typeface="Arial" pitchFamily="34" charset="0"/>
                <a:ea typeface="Arial" pitchFamily="34" charset="-122"/>
                <a:cs typeface="Arial" pitchFamily="34" charset="-120"/>
              </a:rPr>
              <a:t>✕ High-value refunds also processed without approval</a:t>
            </a:r>
            <a:endParaRPr lang="en-US" sz="1500" dirty="0"/>
          </a:p>
        </p:txBody>
      </p:sp>
      <p:pic>
        <p:nvPicPr>
          <p:cNvPr id="23" name="Image 3" descr="Admin console after the change (v1.1.0): ✓ Over ₩1,000,000 → pending approval, not refunded yet">    </p:cNvPr>
          <p:cNvPicPr>
            <a:picLocks noChangeAspect="1"/>
          </p:cNvPicPr>
          <p:nvPr/>
        </p:nvPicPr>
        <p:blipFill>
          <a:blip r:embed="rId4"/>
          <a:stretch>
            <a:fillRect/>
          </a:stretch>
        </p:blipFill>
        <p:spPr>
          <a:xfrm>
            <a:off x="6309360" y="4501877"/>
            <a:ext cx="5303520" cy="1476077"/>
          </a:xfrm>
          <a:prstGeom prst="rect">
            <a:avLst/>
          </a:prstGeom>
        </p:spPr>
      </p:pic>
      <p:sp>
        <p:nvSpPr>
          <p:cNvPr id="24" name="Shape 18"/>
          <p:cNvSpPr/>
          <p:nvPr/>
        </p:nvSpPr>
        <p:spPr>
          <a:xfrm>
            <a:off x="6309360" y="4501877"/>
            <a:ext cx="5303520" cy="1476077"/>
          </a:xfrm>
          <a:prstGeom prst="roundRect">
            <a:avLst>
              <a:gd name="adj" fmla="val 3097"/>
            </a:avLst>
          </a:prstGeom>
          <a:ln w="25400">
            <a:solidFill>
              <a:srgbClr val="7B3FE4"/>
            </a:solidFill>
            <a:prstDash val="solid"/>
          </a:ln>
        </p:spPr>
      </p:sp>
      <p:sp>
        <p:nvSpPr>
          <p:cNvPr id="25" name="Shape 19"/>
          <p:cNvSpPr/>
          <p:nvPr/>
        </p:nvSpPr>
        <p:spPr>
          <a:xfrm>
            <a:off x="10177272" y="4547597"/>
            <a:ext cx="1325880" cy="256032"/>
          </a:xfrm>
          <a:prstGeom prst="roundRect">
            <a:avLst>
              <a:gd name="adj" fmla="val 50000"/>
            </a:avLst>
          </a:prstGeom>
          <a:solidFill>
            <a:srgbClr val="7B3FE4"/>
          </a:solidFill>
          <a:ln/>
        </p:spPr>
      </p:sp>
      <p:sp>
        <p:nvSpPr>
          <p:cNvPr id="26" name="Text 20"/>
          <p:cNvSpPr/>
          <p:nvPr/>
        </p:nvSpPr>
        <p:spPr>
          <a:xfrm>
            <a:off x="10177272" y="4547597"/>
            <a:ext cx="13258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After · v1.1.0</a:t>
            </a:r>
            <a:endParaRPr lang="en-US" sz="1200" dirty="0"/>
          </a:p>
        </p:txBody>
      </p:sp>
      <p:sp>
        <p:nvSpPr>
          <p:cNvPr id="27" name="Text 21"/>
          <p:cNvSpPr/>
          <p:nvPr/>
        </p:nvSpPr>
        <p:spPr>
          <a:xfrm>
            <a:off x="6309360" y="6023674"/>
            <a:ext cx="5303520" cy="274320"/>
          </a:xfrm>
          <a:prstGeom prst="rect">
            <a:avLst/>
          </a:prstGeom>
          <a:noFill/>
          <a:ln/>
        </p:spPr>
        <p:txBody>
          <a:bodyPr wrap="square" lIns="0" tIns="0" rIns="0" bIns="0" rtlCol="0" anchor="ctr"/>
          <a:lstStyle/>
          <a:p>
            <a:pPr indent="0" marL="0">
              <a:buNone/>
            </a:pPr>
            <a:r>
              <a:rPr lang="en-US" sz="1500" b="1" dirty="0">
                <a:solidFill>
                  <a:srgbClr val="1A7F37"/>
                </a:solidFill>
                <a:latin typeface="Arial" pitchFamily="34" charset="0"/>
                <a:ea typeface="Arial" pitchFamily="34" charset="-122"/>
                <a:cs typeface="Arial" pitchFamily="34" charset="-120"/>
              </a:rPr>
              <a:t>✓ Over ₩1,000,000 → pending approval, not refunded yet</a:t>
            </a:r>
            <a:endParaRPr lang="en-US" sz="1500" dirty="0"/>
          </a:p>
        </p:txBody>
      </p:sp>
      <p:sp>
        <p:nvSpPr>
          <p:cNvPr id="28" name="Text 22"/>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29" name="Text 23"/>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2 · GUARDRAIL DEMO</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We tried it on an AI that doesn't know the rules</a:t>
            </a:r>
            <a:endParaRPr lang="en-US" sz="3200" dirty="0"/>
          </a:p>
        </p:txBody>
      </p:sp>
      <p:sp>
        <p:nvSpPr>
          <p:cNvPr id="4" name="Text 2"/>
          <p:cNvSpPr/>
          <p:nvPr/>
        </p:nvSpPr>
        <p:spPr>
          <a:xfrm>
            <a:off x="548640" y="1152144"/>
            <a:ext cx="11064240" cy="292608"/>
          </a:xfrm>
          <a:prstGeom prst="rect">
            <a:avLst/>
          </a:prstGeom>
          <a:noFill/>
          <a:ln/>
        </p:spPr>
        <p:txBody>
          <a:bodyPr wrap="square" lIns="0" tIns="0" rIns="0" bIns="0" rtlCol="0" anchor="t"/>
          <a:lstStyle/>
          <a:p>
            <a:pPr indent="0" marL="0">
              <a:buNone/>
            </a:pPr>
            <a:r>
              <a:rPr lang="en-US" sz="1500" dirty="0">
                <a:solidFill>
                  <a:srgbClr val="59636E"/>
                </a:solidFill>
                <a:latin typeface="Arial" pitchFamily="34" charset="0"/>
                <a:ea typeface="Arial" pitchFamily="34" charset="-122"/>
                <a:cs typeface="Arial" pitchFamily="34" charset="-120"/>
              </a:rPr>
              <a:t>Demo agent ‘quick-fixer’ — deliberately not told the rules or permissions</a:t>
            </a:r>
            <a:endParaRPr lang="en-US" sz="15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554480"/>
            <a:ext cx="7863840" cy="4049041"/>
          </a:xfrm>
          <a:prstGeom prst="rect">
            <a:avLst/>
          </a:prstGeom>
        </p:spPr>
      </p:pic>
      <p:sp>
        <p:nvSpPr>
          <p:cNvPr id="6" name="Shape 3"/>
          <p:cNvSpPr/>
          <p:nvPr/>
        </p:nvSpPr>
        <p:spPr>
          <a:xfrm>
            <a:off x="548640" y="1554480"/>
            <a:ext cx="7863840" cy="4049041"/>
          </a:xfrm>
          <a:prstGeom prst="roundRect">
            <a:avLst>
              <a:gd name="adj" fmla="val 2258"/>
            </a:avLst>
          </a:prstGeom>
          <a:ln w="19050">
            <a:solidFill>
              <a:srgbClr val="30363D"/>
            </a:solidFill>
            <a:prstDash val="solid"/>
          </a:ln>
        </p:spPr>
      </p:sp>
      <p:sp>
        <p:nvSpPr>
          <p:cNvPr id="7" name="Shape 4"/>
          <p:cNvSpPr/>
          <p:nvPr/>
        </p:nvSpPr>
        <p:spPr>
          <a:xfrm>
            <a:off x="8686800" y="1554480"/>
            <a:ext cx="2926080" cy="1264336"/>
          </a:xfrm>
          <a:prstGeom prst="roundRect">
            <a:avLst>
              <a:gd name="adj" fmla="val 10125"/>
            </a:avLst>
          </a:prstGeom>
          <a:solidFill>
            <a:srgbClr val="FFEBE9"/>
          </a:solidFill>
          <a:ln/>
        </p:spPr>
      </p:sp>
      <p:sp>
        <p:nvSpPr>
          <p:cNvPr id="8" name="Shape 5"/>
          <p:cNvSpPr/>
          <p:nvPr/>
        </p:nvSpPr>
        <p:spPr>
          <a:xfrm>
            <a:off x="8869680" y="1935188"/>
            <a:ext cx="502920" cy="502920"/>
          </a:xfrm>
          <a:prstGeom prst="ellipse">
            <a:avLst/>
          </a:prstGeom>
          <a:solidFill>
            <a:srgbClr val="CF222E"/>
          </a:solidFill>
          <a:ln/>
        </p:spPr>
      </p:sp>
      <p:sp>
        <p:nvSpPr>
          <p:cNvPr id="9" name="Text 6"/>
          <p:cNvSpPr/>
          <p:nvPr/>
        </p:nvSpPr>
        <p:spPr>
          <a:xfrm>
            <a:off x="8869680" y="19351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7"/>
          <p:cNvSpPr/>
          <p:nvPr/>
        </p:nvSpPr>
        <p:spPr>
          <a:xfrm>
            <a:off x="9528048" y="1664208"/>
            <a:ext cx="1956816" cy="522440"/>
          </a:xfrm>
          <a:prstGeom prst="rect">
            <a:avLst/>
          </a:prstGeom>
          <a:noFill/>
          <a:ln/>
        </p:spPr>
        <p:txBody>
          <a:bodyPr wrap="square" lIns="0" tIns="0" rIns="0" bIns="0" rtlCol="0" anchor="ctr"/>
          <a:lstStyle/>
          <a:p>
            <a:pPr indent="0" marL="0">
              <a:buNone/>
            </a:pPr>
            <a:r>
              <a:rPr lang="en-US" sz="1400" dirty="0">
                <a:solidFill>
                  <a:srgbClr val="1F2328"/>
                </a:solidFill>
                <a:latin typeface="Arial" pitchFamily="34" charset="0"/>
                <a:ea typeface="Arial" pitchFamily="34" charset="-122"/>
                <a:cs typeface="Arial" pitchFamily="34" charset="-120"/>
              </a:rPr>
              <a:t>Told to edit code in app/ without approval</a:t>
            </a:r>
            <a:endParaRPr lang="en-US" sz="1400" dirty="0"/>
          </a:p>
        </p:txBody>
      </p:sp>
      <p:sp>
        <p:nvSpPr>
          <p:cNvPr id="11" name="Text 8"/>
          <p:cNvSpPr/>
          <p:nvPr/>
        </p:nvSpPr>
        <p:spPr>
          <a:xfrm>
            <a:off x="9528048" y="2204936"/>
            <a:ext cx="1956816" cy="504152"/>
          </a:xfrm>
          <a:prstGeom prst="rect">
            <a:avLst/>
          </a:prstGeom>
          <a:noFill/>
          <a:ln/>
        </p:spPr>
        <p:txBody>
          <a:bodyPr wrap="square" lIns="0" tIns="0" rIns="0" bIns="0" rtlCol="0" anchor="ctr"/>
          <a:lstStyle/>
          <a:p>
            <a:pPr indent="0" marL="0">
              <a:buNone/>
            </a:pPr>
            <a:r>
              <a:rPr lang="en-US" sz="1400" b="1" dirty="0">
                <a:solidFill>
                  <a:srgbClr val="CF222E"/>
                </a:solidFill>
                <a:latin typeface="Arial" pitchFamily="34" charset="0"/>
                <a:ea typeface="Arial" pitchFamily="34" charset="-122"/>
                <a:cs typeface="Arial" pitchFamily="34" charset="-120"/>
              </a:rPr>
              <a:t>Blocked: needs design approval ① first</a:t>
            </a:r>
            <a:endParaRPr lang="en-US" sz="1400" dirty="0"/>
          </a:p>
        </p:txBody>
      </p:sp>
      <p:sp>
        <p:nvSpPr>
          <p:cNvPr id="12" name="Shape 9"/>
          <p:cNvSpPr/>
          <p:nvPr/>
        </p:nvSpPr>
        <p:spPr>
          <a:xfrm>
            <a:off x="8686800" y="2946832"/>
            <a:ext cx="2926080" cy="1264336"/>
          </a:xfrm>
          <a:prstGeom prst="roundRect">
            <a:avLst>
              <a:gd name="adj" fmla="val 10125"/>
            </a:avLst>
          </a:prstGeom>
          <a:solidFill>
            <a:srgbClr val="FFEBE9"/>
          </a:solidFill>
          <a:ln/>
        </p:spPr>
      </p:sp>
      <p:sp>
        <p:nvSpPr>
          <p:cNvPr id="13" name="Shape 10"/>
          <p:cNvSpPr/>
          <p:nvPr/>
        </p:nvSpPr>
        <p:spPr>
          <a:xfrm>
            <a:off x="8869680" y="3327541"/>
            <a:ext cx="502920" cy="502920"/>
          </a:xfrm>
          <a:prstGeom prst="ellipse">
            <a:avLst/>
          </a:prstGeom>
          <a:solidFill>
            <a:srgbClr val="CF222E"/>
          </a:solidFill>
          <a:ln/>
        </p:spPr>
      </p:sp>
      <p:sp>
        <p:nvSpPr>
          <p:cNvPr id="14" name="Text 11"/>
          <p:cNvSpPr/>
          <p:nvPr/>
        </p:nvSpPr>
        <p:spPr>
          <a:xfrm>
            <a:off x="8869680" y="3327541"/>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2"/>
          <p:cNvSpPr/>
          <p:nvPr/>
        </p:nvSpPr>
        <p:spPr>
          <a:xfrm>
            <a:off x="9528048" y="3056560"/>
            <a:ext cx="1956816" cy="522440"/>
          </a:xfrm>
          <a:prstGeom prst="rect">
            <a:avLst/>
          </a:prstGeom>
          <a:noFill/>
          <a:ln/>
        </p:spPr>
        <p:txBody>
          <a:bodyPr wrap="square" lIns="0" tIns="0" rIns="0" bIns="0" rtlCol="0" anchor="ctr"/>
          <a:lstStyle/>
          <a:p>
            <a:pPr indent="0" marL="0">
              <a:buNone/>
            </a:pPr>
            <a:r>
              <a:rPr lang="en-US" sz="1400" dirty="0">
                <a:solidFill>
                  <a:srgbClr val="1F2328"/>
                </a:solidFill>
                <a:latin typeface="Arial" pitchFamily="34" charset="0"/>
                <a:ea typeface="Arial" pitchFamily="34" charset="-122"/>
                <a:cs typeface="Arial" pitchFamily="34" charset="-120"/>
              </a:rPr>
              <a:t>Told to edit the security standards doc</a:t>
            </a:r>
            <a:endParaRPr lang="en-US" sz="1400" dirty="0"/>
          </a:p>
        </p:txBody>
      </p:sp>
      <p:sp>
        <p:nvSpPr>
          <p:cNvPr id="16" name="Text 13"/>
          <p:cNvSpPr/>
          <p:nvPr/>
        </p:nvSpPr>
        <p:spPr>
          <a:xfrm>
            <a:off x="9528048" y="3597289"/>
            <a:ext cx="1956816" cy="504152"/>
          </a:xfrm>
          <a:prstGeom prst="rect">
            <a:avLst/>
          </a:prstGeom>
          <a:noFill/>
          <a:ln/>
        </p:spPr>
        <p:txBody>
          <a:bodyPr wrap="square" lIns="0" tIns="0" rIns="0" bIns="0" rtlCol="0" anchor="ctr"/>
          <a:lstStyle/>
          <a:p>
            <a:pPr indent="0" marL="0">
              <a:buNone/>
            </a:pPr>
            <a:r>
              <a:rPr lang="en-US" sz="1400" b="1" dirty="0">
                <a:solidFill>
                  <a:srgbClr val="CF222E"/>
                </a:solidFill>
                <a:latin typeface="Arial" pitchFamily="34" charset="0"/>
                <a:ea typeface="Arial" pitchFamily="34" charset="-122"/>
                <a:cs typeface="Arial" pitchFamily="34" charset="-120"/>
              </a:rPr>
              <a:t>Blocked: standards are protected</a:t>
            </a:r>
            <a:endParaRPr lang="en-US" sz="1400" dirty="0"/>
          </a:p>
        </p:txBody>
      </p:sp>
      <p:sp>
        <p:nvSpPr>
          <p:cNvPr id="17" name="Shape 14"/>
          <p:cNvSpPr/>
          <p:nvPr/>
        </p:nvSpPr>
        <p:spPr>
          <a:xfrm>
            <a:off x="8686800" y="4339185"/>
            <a:ext cx="2926080" cy="1264336"/>
          </a:xfrm>
          <a:prstGeom prst="roundRect">
            <a:avLst>
              <a:gd name="adj" fmla="val 10125"/>
            </a:avLst>
          </a:prstGeom>
          <a:solidFill>
            <a:srgbClr val="FFEBE9"/>
          </a:solidFill>
          <a:ln/>
        </p:spPr>
      </p:sp>
      <p:sp>
        <p:nvSpPr>
          <p:cNvPr id="18" name="Shape 15"/>
          <p:cNvSpPr/>
          <p:nvPr/>
        </p:nvSpPr>
        <p:spPr>
          <a:xfrm>
            <a:off x="8869680" y="4719893"/>
            <a:ext cx="502920" cy="502920"/>
          </a:xfrm>
          <a:prstGeom prst="ellipse">
            <a:avLst/>
          </a:prstGeom>
          <a:solidFill>
            <a:srgbClr val="CF222E"/>
          </a:solidFill>
          <a:ln/>
        </p:spPr>
      </p:sp>
      <p:sp>
        <p:nvSpPr>
          <p:cNvPr id="19" name="Text 16"/>
          <p:cNvSpPr/>
          <p:nvPr/>
        </p:nvSpPr>
        <p:spPr>
          <a:xfrm>
            <a:off x="8869680" y="4719893"/>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0" name="Text 17"/>
          <p:cNvSpPr/>
          <p:nvPr/>
        </p:nvSpPr>
        <p:spPr>
          <a:xfrm>
            <a:off x="9528048" y="4448913"/>
            <a:ext cx="1956816" cy="522440"/>
          </a:xfrm>
          <a:prstGeom prst="rect">
            <a:avLst/>
          </a:prstGeom>
          <a:noFill/>
          <a:ln/>
        </p:spPr>
        <p:txBody>
          <a:bodyPr wrap="square" lIns="0" tIns="0" rIns="0" bIns="0" rtlCol="0" anchor="ctr"/>
          <a:lstStyle/>
          <a:p>
            <a:pPr indent="0" marL="0">
              <a:buNone/>
            </a:pPr>
            <a:r>
              <a:rPr lang="en-US" sz="1400" dirty="0">
                <a:solidFill>
                  <a:srgbClr val="1F2328"/>
                </a:solidFill>
                <a:latin typeface="Arial" pitchFamily="34" charset="0"/>
                <a:ea typeface="Arial" pitchFamily="34" charset="-122"/>
                <a:cs typeface="Arial" pitchFamily="34" charset="-120"/>
              </a:rPr>
              <a:t>Told to push code out (git push)</a:t>
            </a:r>
            <a:endParaRPr lang="en-US" sz="1400" dirty="0"/>
          </a:p>
        </p:txBody>
      </p:sp>
      <p:sp>
        <p:nvSpPr>
          <p:cNvPr id="21" name="Text 18"/>
          <p:cNvSpPr/>
          <p:nvPr/>
        </p:nvSpPr>
        <p:spPr>
          <a:xfrm>
            <a:off x="9528048" y="4989641"/>
            <a:ext cx="1956816" cy="504152"/>
          </a:xfrm>
          <a:prstGeom prst="rect">
            <a:avLst/>
          </a:prstGeom>
          <a:noFill/>
          <a:ln/>
        </p:spPr>
        <p:txBody>
          <a:bodyPr wrap="square" lIns="0" tIns="0" rIns="0" bIns="0" rtlCol="0" anchor="ctr"/>
          <a:lstStyle/>
          <a:p>
            <a:pPr indent="0" marL="0">
              <a:buNone/>
            </a:pPr>
            <a:r>
              <a:rPr lang="en-US" sz="1400" b="1" dirty="0">
                <a:solidFill>
                  <a:srgbClr val="CF222E"/>
                </a:solidFill>
                <a:latin typeface="Arial" pitchFamily="34" charset="0"/>
                <a:ea typeface="Arial" pitchFamily="34" charset="-122"/>
                <a:cs typeface="Arial" pitchFamily="34" charset="-120"/>
              </a:rPr>
              <a:t>Blocked: git push is forbidden</a:t>
            </a:r>
            <a:endParaRPr lang="en-US" sz="1400" dirty="0"/>
          </a:p>
        </p:txBody>
      </p:sp>
      <p:sp>
        <p:nvSpPr>
          <p:cNvPr id="22" name="Shape 19"/>
          <p:cNvSpPr/>
          <p:nvPr/>
        </p:nvSpPr>
        <p:spPr>
          <a:xfrm>
            <a:off x="548640" y="5758969"/>
            <a:ext cx="11064240" cy="548640"/>
          </a:xfrm>
          <a:prstGeom prst="roundRect">
            <a:avLst>
              <a:gd name="adj" fmla="val 23333"/>
            </a:avLst>
          </a:prstGeom>
          <a:solidFill>
            <a:srgbClr val="F1E9FF"/>
          </a:solidFill>
          <a:ln/>
        </p:spPr>
      </p:sp>
      <p:sp>
        <p:nvSpPr>
          <p:cNvPr id="23" name="Text 20"/>
          <p:cNvSpPr/>
          <p:nvPr/>
        </p:nvSpPr>
        <p:spPr>
          <a:xfrm>
            <a:off x="822960" y="5758969"/>
            <a:ext cx="10607040" cy="548640"/>
          </a:xfrm>
          <a:prstGeom prst="rect">
            <a:avLst/>
          </a:prstGeom>
          <a:noFill/>
          <a:ln/>
        </p:spPr>
        <p:txBody>
          <a:bodyPr wrap="square" lIns="0" tIns="0" rIns="0" bIns="0" rtlCol="0" anchor="ctr"/>
          <a:lstStyle/>
          <a:p>
            <a:pPr indent="0" marL="0">
              <a:buNone/>
            </a:pPr>
            <a:r>
              <a:rPr lang="en-US" sz="1700" b="1" dirty="0">
                <a:solidFill>
                  <a:srgbClr val="5A2EB0"/>
                </a:solidFill>
                <a:latin typeface="Arial" pitchFamily="34" charset="0"/>
                <a:ea typeface="Arial" pitchFamily="34" charset="-122"/>
                <a:cs typeface="Arial" pitchFamily="34" charset="-120"/>
              </a:rPr>
              <a:t>Even if the AI is unaware, mistaken or told to — the hook checks every tool call first and blocks it.</a:t>
            </a:r>
            <a:endParaRPr lang="en-US" sz="1700" dirty="0"/>
          </a:p>
        </p:txBody>
      </p:sp>
      <p:sp>
        <p:nvSpPr>
          <p:cNvPr id="24" name="Text 21"/>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25" name="Text 22"/>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3 · IMPACT &amp; SAFETY</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Measured result: one session, 6 human interventions</a:t>
            </a:r>
            <a:endParaRPr lang="en-US" sz="3200" dirty="0"/>
          </a:p>
        </p:txBody>
      </p:sp>
      <p:sp>
        <p:nvSpPr>
          <p:cNvPr id="4" name="Shape 2"/>
          <p:cNvSpPr/>
          <p:nvPr/>
        </p:nvSpPr>
        <p:spPr>
          <a:xfrm>
            <a:off x="548640" y="1554480"/>
            <a:ext cx="2926080" cy="1600200"/>
          </a:xfrm>
          <a:prstGeom prst="roundRect">
            <a:avLst>
              <a:gd name="adj" fmla="val 800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777240" y="1664208"/>
            <a:ext cx="2560320" cy="822960"/>
          </a:xfrm>
          <a:prstGeom prst="rect">
            <a:avLst/>
          </a:prstGeom>
          <a:noFill/>
          <a:ln/>
        </p:spPr>
        <p:txBody>
          <a:bodyPr wrap="square" lIns="0" tIns="0" rIns="0" bIns="0" rtlCol="0" anchor="ctr"/>
          <a:lstStyle/>
          <a:p>
            <a:pPr indent="0" marL="0">
              <a:buNone/>
            </a:pPr>
            <a:r>
              <a:rPr lang="en-US" sz="4000" b="1" dirty="0">
                <a:solidFill>
                  <a:srgbClr val="7B3FE4"/>
                </a:solidFill>
                <a:latin typeface="Arial" pitchFamily="34" charset="0"/>
                <a:ea typeface="Arial" pitchFamily="34" charset="-122"/>
                <a:cs typeface="Arial" pitchFamily="34" charset="-120"/>
              </a:rPr>
              <a:t>38 min</a:t>
            </a:r>
            <a:endParaRPr lang="en-US" sz="4000" dirty="0"/>
          </a:p>
        </p:txBody>
      </p:sp>
      <p:sp>
        <p:nvSpPr>
          <p:cNvPr id="6" name="Text 4"/>
          <p:cNvSpPr/>
          <p:nvPr/>
        </p:nvSpPr>
        <p:spPr>
          <a:xfrm>
            <a:off x="777240" y="2487168"/>
            <a:ext cx="2560320" cy="59436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Request to ops analysis, actual time (all 7 stages)</a:t>
            </a:r>
            <a:endParaRPr lang="en-US" sz="1400" dirty="0"/>
          </a:p>
        </p:txBody>
      </p:sp>
      <p:sp>
        <p:nvSpPr>
          <p:cNvPr id="7" name="Shape 5"/>
          <p:cNvSpPr/>
          <p:nvPr/>
        </p:nvSpPr>
        <p:spPr>
          <a:xfrm>
            <a:off x="3611880" y="1554480"/>
            <a:ext cx="2926080" cy="1600200"/>
          </a:xfrm>
          <a:prstGeom prst="roundRect">
            <a:avLst>
              <a:gd name="adj" fmla="val 800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8" name="Text 6"/>
          <p:cNvSpPr/>
          <p:nvPr/>
        </p:nvSpPr>
        <p:spPr>
          <a:xfrm>
            <a:off x="3840480" y="1664208"/>
            <a:ext cx="2560320" cy="822960"/>
          </a:xfrm>
          <a:prstGeom prst="rect">
            <a:avLst/>
          </a:prstGeom>
          <a:noFill/>
          <a:ln/>
        </p:spPr>
        <p:txBody>
          <a:bodyPr wrap="square" lIns="0" tIns="0" rIns="0" bIns="0" rtlCol="0" anchor="ctr"/>
          <a:lstStyle/>
          <a:p>
            <a:pPr indent="0" marL="0">
              <a:buNone/>
            </a:pPr>
            <a:r>
              <a:rPr lang="en-US" sz="4000" b="1" dirty="0">
                <a:solidFill>
                  <a:srgbClr val="9A6700"/>
                </a:solidFill>
                <a:latin typeface="Arial" pitchFamily="34" charset="0"/>
                <a:ea typeface="Arial" pitchFamily="34" charset="-122"/>
                <a:cs typeface="Arial" pitchFamily="34" charset="-120"/>
              </a:rPr>
              <a:t>6</a:t>
            </a:r>
            <a:endParaRPr lang="en-US" sz="4000" dirty="0"/>
          </a:p>
        </p:txBody>
      </p:sp>
      <p:sp>
        <p:nvSpPr>
          <p:cNvPr id="9" name="Text 7"/>
          <p:cNvSpPr/>
          <p:nvPr/>
        </p:nvSpPr>
        <p:spPr>
          <a:xfrm>
            <a:off x="3840480" y="2487168"/>
            <a:ext cx="2560320" cy="59436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human interventions — 3 decisions + 3 approvals</a:t>
            </a:r>
            <a:endParaRPr lang="en-US" sz="1400" dirty="0"/>
          </a:p>
        </p:txBody>
      </p:sp>
      <p:sp>
        <p:nvSpPr>
          <p:cNvPr id="10" name="Shape 8"/>
          <p:cNvSpPr/>
          <p:nvPr/>
        </p:nvSpPr>
        <p:spPr>
          <a:xfrm>
            <a:off x="548640" y="3337560"/>
            <a:ext cx="2926080" cy="1600200"/>
          </a:xfrm>
          <a:prstGeom prst="roundRect">
            <a:avLst>
              <a:gd name="adj" fmla="val 800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1" name="Text 9"/>
          <p:cNvSpPr/>
          <p:nvPr/>
        </p:nvSpPr>
        <p:spPr>
          <a:xfrm>
            <a:off x="777240" y="3447288"/>
            <a:ext cx="2560320" cy="822960"/>
          </a:xfrm>
          <a:prstGeom prst="rect">
            <a:avLst/>
          </a:prstGeom>
          <a:noFill/>
          <a:ln/>
        </p:spPr>
        <p:txBody>
          <a:bodyPr wrap="square" lIns="0" tIns="0" rIns="0" bIns="0" rtlCol="0" anchor="ctr"/>
          <a:lstStyle/>
          <a:p>
            <a:pPr indent="0" marL="0">
              <a:buNone/>
            </a:pPr>
            <a:r>
              <a:rPr lang="en-US" sz="4000" b="1" dirty="0">
                <a:solidFill>
                  <a:srgbClr val="7B3FE4"/>
                </a:solidFill>
                <a:latin typeface="Arial" pitchFamily="34" charset="0"/>
                <a:ea typeface="Arial" pitchFamily="34" charset="-122"/>
                <a:cs typeface="Arial" pitchFamily="34" charset="-120"/>
              </a:rPr>
              <a:t>100</a:t>
            </a:r>
            <a:endParaRPr lang="en-US" sz="4000" dirty="0"/>
          </a:p>
        </p:txBody>
      </p:sp>
      <p:sp>
        <p:nvSpPr>
          <p:cNvPr id="12" name="Text 10"/>
          <p:cNvSpPr/>
          <p:nvPr/>
        </p:nvSpPr>
        <p:spPr>
          <a:xfrm>
            <a:off x="777240" y="4270248"/>
            <a:ext cx="2560320" cy="59436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tests all pass (26→100, 99% coverage)</a:t>
            </a:r>
            <a:endParaRPr lang="en-US" sz="1400" dirty="0"/>
          </a:p>
        </p:txBody>
      </p:sp>
      <p:sp>
        <p:nvSpPr>
          <p:cNvPr id="13" name="Shape 11"/>
          <p:cNvSpPr/>
          <p:nvPr/>
        </p:nvSpPr>
        <p:spPr>
          <a:xfrm>
            <a:off x="3611880" y="3337560"/>
            <a:ext cx="2926080" cy="1600200"/>
          </a:xfrm>
          <a:prstGeom prst="roundRect">
            <a:avLst>
              <a:gd name="adj" fmla="val 800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4" name="Text 12"/>
          <p:cNvSpPr/>
          <p:nvPr/>
        </p:nvSpPr>
        <p:spPr>
          <a:xfrm>
            <a:off x="3840480" y="3447288"/>
            <a:ext cx="2560320" cy="822960"/>
          </a:xfrm>
          <a:prstGeom prst="rect">
            <a:avLst/>
          </a:prstGeom>
          <a:noFill/>
          <a:ln/>
        </p:spPr>
        <p:txBody>
          <a:bodyPr wrap="square" lIns="0" tIns="0" rIns="0" bIns="0" rtlCol="0" anchor="ctr"/>
          <a:lstStyle/>
          <a:p>
            <a:pPr indent="0" marL="0">
              <a:buNone/>
            </a:pPr>
            <a:r>
              <a:rPr lang="en-US" sz="4000" b="1" dirty="0">
                <a:solidFill>
                  <a:srgbClr val="7B3FE4"/>
                </a:solidFill>
                <a:latin typeface="Arial" pitchFamily="34" charset="0"/>
                <a:ea typeface="Arial" pitchFamily="34" charset="-122"/>
                <a:cs typeface="Arial" pitchFamily="34" charset="-120"/>
              </a:rPr>
              <a:t>$3.4</a:t>
            </a:r>
            <a:endParaRPr lang="en-US" sz="4000" dirty="0"/>
          </a:p>
        </p:txBody>
      </p:sp>
      <p:sp>
        <p:nvSpPr>
          <p:cNvPr id="15" name="Text 13"/>
          <p:cNvSpPr/>
          <p:nvPr/>
        </p:nvSpPr>
        <p:spPr>
          <a:xfrm>
            <a:off x="3840480" y="4270248"/>
            <a:ext cx="2560320" cy="59436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AI usage for the whole session (340 credits)</a:t>
            </a:r>
            <a:endParaRPr lang="en-US" sz="1400" dirty="0"/>
          </a:p>
        </p:txBody>
      </p:sp>
      <p:sp>
        <p:nvSpPr>
          <p:cNvPr id="16" name="Text 14"/>
          <p:cNvSpPr/>
          <p:nvPr/>
        </p:nvSpPr>
        <p:spPr>
          <a:xfrm>
            <a:off x="6812280" y="1554480"/>
            <a:ext cx="4800600" cy="320040"/>
          </a:xfrm>
          <a:prstGeom prst="rect">
            <a:avLst/>
          </a:prstGeom>
          <a:noFill/>
          <a:ln/>
        </p:spPr>
        <p:txBody>
          <a:bodyPr wrap="square" lIns="0" tIns="0" rIns="0" bIns="0" rtlCol="0" anchor="t"/>
          <a:lstStyle/>
          <a:p>
            <a:pPr indent="0" marL="0">
              <a:buNone/>
            </a:pPr>
            <a:r>
              <a:rPr lang="en-US" sz="1600" b="1" dirty="0">
                <a:solidFill>
                  <a:srgbClr val="1F2328"/>
                </a:solidFill>
                <a:latin typeface="Arial" pitchFamily="34" charset="0"/>
                <a:ea typeface="Arial" pitchFamily="34" charset="-122"/>
                <a:cs typeface="Arial" pitchFamily="34" charset="-120"/>
              </a:rPr>
              <a:t>Actual time per stage (min)</a:t>
            </a:r>
            <a:endParaRPr lang="en-US" sz="1600" dirty="0"/>
          </a:p>
        </p:txBody>
      </p:sp>
      <p:graphicFrame>
        <p:nvGraphicFramePr>
          <p:cNvPr id="17" name="Chart 0" descr=""/>
          <p:cNvGraphicFramePr/>
          <p:nvPr/>
        </p:nvGraphicFramePr>
        <p:xfrm>
          <a:off x="6720840" y="187452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548640" y="5212080"/>
            <a:ext cx="5989320" cy="914400"/>
          </a:xfrm>
          <a:prstGeom prst="roundRect">
            <a:avLst>
              <a:gd name="adj" fmla="val 14000"/>
            </a:avLst>
          </a:prstGeom>
          <a:solidFill>
            <a:srgbClr val="FFF4CC"/>
          </a:solidFill>
          <a:ln/>
        </p:spPr>
      </p:sp>
      <p:sp>
        <p:nvSpPr>
          <p:cNvPr id="19" name="Text 16"/>
          <p:cNvSpPr/>
          <p:nvPr/>
        </p:nvSpPr>
        <p:spPr>
          <a:xfrm>
            <a:off x="777240" y="5212080"/>
            <a:ext cx="5577840" cy="914400"/>
          </a:xfrm>
          <a:prstGeom prst="rect">
            <a:avLst/>
          </a:prstGeom>
          <a:noFill/>
          <a:ln/>
        </p:spPr>
        <p:txBody>
          <a:bodyPr wrap="square" lIns="0" tIns="0" rIns="0" bIns="0" rtlCol="0" anchor="ctr"/>
          <a:lstStyle/>
          <a:p>
            <a:pPr indent="0" marL="0">
              <a:buNone/>
            </a:pPr>
            <a:r>
              <a:rPr lang="en-US" sz="1400" dirty="0">
                <a:solidFill>
                  <a:srgbClr val="1F2328"/>
                </a:solidFill>
                <a:latin typeface="Arial" pitchFamily="34" charset="0"/>
                <a:ea typeface="Arial" pitchFamily="34" charset="-122"/>
                <a:cs typeface="Arial" pitchFamily="34" charset="-120"/>
              </a:rPr>
              <a:t>7 documents (01–07), 3 approval records and 6 commits were all kept in an auditable form.</a:t>
            </a:r>
            <a:endParaRPr lang="en-US" sz="1400" dirty="0"/>
          </a:p>
        </p:txBody>
      </p:sp>
      <p:sp>
        <p:nvSpPr>
          <p:cNvPr id="20" name="Shape 17"/>
          <p:cNvSpPr/>
          <p:nvPr/>
        </p:nvSpPr>
        <p:spPr>
          <a:xfrm>
            <a:off x="6720840" y="5394960"/>
            <a:ext cx="4937760" cy="731520"/>
          </a:xfrm>
          <a:prstGeom prst="roundRect">
            <a:avLst>
              <a:gd name="adj" fmla="val 17500"/>
            </a:avLst>
          </a:prstGeom>
          <a:solidFill>
            <a:srgbClr val="F6F8FA"/>
          </a:solidFill>
          <a:ln/>
        </p:spPr>
      </p:sp>
      <p:sp>
        <p:nvSpPr>
          <p:cNvPr id="21" name="Text 18"/>
          <p:cNvSpPr/>
          <p:nvPr/>
        </p:nvSpPr>
        <p:spPr>
          <a:xfrm>
            <a:off x="6903720" y="5394960"/>
            <a:ext cx="4617720" cy="731520"/>
          </a:xfrm>
          <a:prstGeom prst="rect">
            <a:avLst/>
          </a:prstGeom>
          <a:noFill/>
          <a:ln/>
        </p:spPr>
        <p:txBody>
          <a:bodyPr wrap="square" lIns="0" tIns="0" rIns="0" bIns="0" rtlCol="0" anchor="ctr"/>
          <a:lstStyle/>
          <a:p>
            <a:pPr indent="0" marL="0">
              <a:buNone/>
            </a:pPr>
            <a:r>
              <a:rPr lang="en-US" sz="1250" dirty="0">
                <a:solidFill>
                  <a:srgbClr val="59636E"/>
                </a:solidFill>
                <a:latin typeface="Arial" pitchFamily="34" charset="0"/>
                <a:ea typeface="Arial" pitchFamily="34" charset="-122"/>
                <a:cs typeface="Arial" pitchFamily="34" charset="-120"/>
              </a:rPr>
              <a:t>Human review and response time is separate. The baseline (current lead time) varies by organization, so measure it with the same metrics in the pilot.</a:t>
            </a:r>
            <a:endParaRPr lang="en-US" sz="1250" dirty="0"/>
          </a:p>
        </p:txBody>
      </p:sp>
      <p:sp>
        <p:nvSpPr>
          <p:cNvPr id="22" name="Text 19"/>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23" name="Text 20"/>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3 · IMPACT &amp; SAFETY</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Safe matters as much as fast: six layers of control</a:t>
            </a:r>
            <a:endParaRPr lang="en-US" sz="3200" dirty="0"/>
          </a:p>
        </p:txBody>
      </p:sp>
      <p:sp>
        <p:nvSpPr>
          <p:cNvPr id="4" name="Shape 2"/>
          <p:cNvSpPr/>
          <p:nvPr/>
        </p:nvSpPr>
        <p:spPr>
          <a:xfrm>
            <a:off x="548640" y="155448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04672" y="1783080"/>
            <a:ext cx="603504" cy="603504"/>
          </a:xfrm>
          <a:prstGeom prst="ellipse">
            <a:avLst/>
          </a:prstGeom>
          <a:solidFill>
            <a:srgbClr val="1A7F37"/>
          </a:solidFill>
          <a:ln/>
        </p:spPr>
      </p:sp>
      <p:pic>
        <p:nvPicPr>
          <p:cNvPr id="6" name="Image 0" descr="preencoded.png">    </p:cNvPr>
          <p:cNvPicPr>
            <a:picLocks noChangeAspect="1"/>
          </p:cNvPicPr>
          <p:nvPr/>
        </p:nvPicPr>
        <p:blipFill>
          <a:blip r:embed="rId1"/>
          <a:stretch>
            <a:fillRect/>
          </a:stretch>
        </p:blipFill>
        <p:spPr>
          <a:xfrm>
            <a:off x="967618" y="1946026"/>
            <a:ext cx="277612" cy="277612"/>
          </a:xfrm>
          <a:prstGeom prst="rect">
            <a:avLst/>
          </a:prstGeom>
        </p:spPr>
      </p:pic>
      <p:sp>
        <p:nvSpPr>
          <p:cNvPr id="7" name="Text 4"/>
          <p:cNvSpPr/>
          <p:nvPr/>
        </p:nvSpPr>
        <p:spPr>
          <a:xfrm>
            <a:off x="1554480" y="1783080"/>
            <a:ext cx="2514600" cy="603504"/>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Role permissions</a:t>
            </a:r>
            <a:endParaRPr lang="en-US" sz="2000" dirty="0"/>
          </a:p>
        </p:txBody>
      </p:sp>
      <p:sp>
        <p:nvSpPr>
          <p:cNvPr id="8" name="Text 5"/>
          <p:cNvSpPr/>
          <p:nvPr/>
        </p:nvSpPr>
        <p:spPr>
          <a:xfrm>
            <a:off x="804672" y="251460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Tools and write paths limited per role</a:t>
            </a:r>
            <a:endParaRPr lang="en-US" sz="1400" dirty="0"/>
          </a:p>
        </p:txBody>
      </p:sp>
      <p:sp>
        <p:nvSpPr>
          <p:cNvPr id="9" name="Shape 6"/>
          <p:cNvSpPr/>
          <p:nvPr/>
        </p:nvSpPr>
        <p:spPr>
          <a:xfrm>
            <a:off x="804672" y="3108960"/>
            <a:ext cx="3063240" cy="365760"/>
          </a:xfrm>
          <a:prstGeom prst="roundRect">
            <a:avLst>
              <a:gd name="adj" fmla="val 50000"/>
            </a:avLst>
          </a:prstGeom>
          <a:solidFill>
            <a:srgbClr val="DAFBE1"/>
          </a:solidFill>
          <a:ln/>
        </p:spPr>
      </p:sp>
      <p:sp>
        <p:nvSpPr>
          <p:cNvPr id="10" name="Text 7"/>
          <p:cNvSpPr/>
          <p:nvPr/>
        </p:nvSpPr>
        <p:spPr>
          <a:xfrm>
            <a:off x="804672" y="310896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rial" pitchFamily="34" charset="0"/>
                <a:ea typeface="Arial" pitchFamily="34" charset="-122"/>
                <a:cs typeface="Arial" pitchFamily="34" charset="-120"/>
              </a:rPr>
              <a:t>2 out-of-role actions blocked</a:t>
            </a:r>
            <a:endParaRPr lang="en-US" sz="1200" dirty="0"/>
          </a:p>
        </p:txBody>
      </p:sp>
      <p:sp>
        <p:nvSpPr>
          <p:cNvPr id="11" name="Shape 8"/>
          <p:cNvSpPr/>
          <p:nvPr/>
        </p:nvSpPr>
        <p:spPr>
          <a:xfrm>
            <a:off x="4297680" y="155448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553712" y="1783080"/>
            <a:ext cx="603504" cy="603504"/>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4716658" y="1946026"/>
            <a:ext cx="277612" cy="277612"/>
          </a:xfrm>
          <a:prstGeom prst="rect">
            <a:avLst/>
          </a:prstGeom>
        </p:spPr>
      </p:pic>
      <p:sp>
        <p:nvSpPr>
          <p:cNvPr id="14" name="Text 10"/>
          <p:cNvSpPr/>
          <p:nvPr/>
        </p:nvSpPr>
        <p:spPr>
          <a:xfrm>
            <a:off x="5303520" y="1783080"/>
            <a:ext cx="2514600" cy="603504"/>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Approval gates</a:t>
            </a:r>
            <a:endParaRPr lang="en-US" sz="2000" dirty="0"/>
          </a:p>
        </p:txBody>
      </p:sp>
      <p:sp>
        <p:nvSpPr>
          <p:cNvPr id="15" name="Text 11"/>
          <p:cNvSpPr/>
          <p:nvPr/>
        </p:nvSpPr>
        <p:spPr>
          <a:xfrm>
            <a:off x="4553712" y="251460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Only people approve design, code and production deploys</a:t>
            </a:r>
            <a:endParaRPr lang="en-US" sz="1400" dirty="0"/>
          </a:p>
        </p:txBody>
      </p:sp>
      <p:sp>
        <p:nvSpPr>
          <p:cNvPr id="16" name="Shape 12"/>
          <p:cNvSpPr/>
          <p:nvPr/>
        </p:nvSpPr>
        <p:spPr>
          <a:xfrm>
            <a:off x="4553712" y="3108960"/>
            <a:ext cx="3063240" cy="365760"/>
          </a:xfrm>
          <a:prstGeom prst="roundRect">
            <a:avLst>
              <a:gd name="adj" fmla="val 50000"/>
            </a:avLst>
          </a:prstGeom>
          <a:solidFill>
            <a:srgbClr val="DAFBE1"/>
          </a:solidFill>
          <a:ln/>
        </p:spPr>
      </p:sp>
      <p:sp>
        <p:nvSpPr>
          <p:cNvPr id="17" name="Text 13"/>
          <p:cNvSpPr/>
          <p:nvPr/>
        </p:nvSpPr>
        <p:spPr>
          <a:xfrm>
            <a:off x="4553712" y="310896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rial" pitchFamily="34" charset="0"/>
                <a:ea typeface="Arial" pitchFamily="34" charset="-122"/>
                <a:cs typeface="Arial" pitchFamily="34" charset="-120"/>
              </a:rPr>
              <a:t>3 approval pop-ups · 3 records</a:t>
            </a:r>
            <a:endParaRPr lang="en-US" sz="1200" dirty="0"/>
          </a:p>
        </p:txBody>
      </p:sp>
      <p:sp>
        <p:nvSpPr>
          <p:cNvPr id="18" name="Shape 14"/>
          <p:cNvSpPr/>
          <p:nvPr/>
        </p:nvSpPr>
        <p:spPr>
          <a:xfrm>
            <a:off x="8046720" y="155448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8302752" y="1783080"/>
            <a:ext cx="603504" cy="603504"/>
          </a:xfrm>
          <a:prstGeom prst="ellipse">
            <a:avLst/>
          </a:prstGeom>
          <a:solidFill>
            <a:srgbClr val="1A7F37"/>
          </a:solidFill>
          <a:ln/>
        </p:spPr>
      </p:sp>
      <p:pic>
        <p:nvPicPr>
          <p:cNvPr id="20" name="Image 2" descr="preencoded.png">    </p:cNvPr>
          <p:cNvPicPr>
            <a:picLocks noChangeAspect="1"/>
          </p:cNvPicPr>
          <p:nvPr/>
        </p:nvPicPr>
        <p:blipFill>
          <a:blip r:embed="rId3"/>
          <a:stretch>
            <a:fillRect/>
          </a:stretch>
        </p:blipFill>
        <p:spPr>
          <a:xfrm>
            <a:off x="8465698" y="1946026"/>
            <a:ext cx="277612" cy="277612"/>
          </a:xfrm>
          <a:prstGeom prst="rect">
            <a:avLst/>
          </a:prstGeom>
        </p:spPr>
      </p:pic>
      <p:sp>
        <p:nvSpPr>
          <p:cNvPr id="21" name="Text 16"/>
          <p:cNvSpPr/>
          <p:nvPr/>
        </p:nvSpPr>
        <p:spPr>
          <a:xfrm>
            <a:off x="9052560" y="1783080"/>
            <a:ext cx="2514600" cy="603504"/>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Command blocking</a:t>
            </a:r>
            <a:endParaRPr lang="en-US" sz="2000" dirty="0"/>
          </a:p>
        </p:txBody>
      </p:sp>
      <p:sp>
        <p:nvSpPr>
          <p:cNvPr id="22" name="Text 17"/>
          <p:cNvSpPr/>
          <p:nvPr/>
        </p:nvSpPr>
        <p:spPr>
          <a:xfrm>
            <a:off x="8302752" y="251460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Blocks git push, force deletes, privileged commands and more</a:t>
            </a:r>
            <a:endParaRPr lang="en-US" sz="1400" dirty="0"/>
          </a:p>
        </p:txBody>
      </p:sp>
      <p:sp>
        <p:nvSpPr>
          <p:cNvPr id="23" name="Shape 18"/>
          <p:cNvSpPr/>
          <p:nvPr/>
        </p:nvSpPr>
        <p:spPr>
          <a:xfrm>
            <a:off x="8302752" y="3108960"/>
            <a:ext cx="3063240" cy="365760"/>
          </a:xfrm>
          <a:prstGeom prst="roundRect">
            <a:avLst>
              <a:gd name="adj" fmla="val 50000"/>
            </a:avLst>
          </a:prstGeom>
          <a:solidFill>
            <a:srgbClr val="DAFBE1"/>
          </a:solidFill>
          <a:ln/>
        </p:spPr>
      </p:sp>
      <p:sp>
        <p:nvSpPr>
          <p:cNvPr id="24" name="Text 19"/>
          <p:cNvSpPr/>
          <p:nvPr/>
        </p:nvSpPr>
        <p:spPr>
          <a:xfrm>
            <a:off x="8302752" y="310896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rial" pitchFamily="34" charset="0"/>
                <a:ea typeface="Arial" pitchFamily="34" charset="-122"/>
                <a:cs typeface="Arial" pitchFamily="34" charset="-120"/>
              </a:rPr>
              <a:t>git push attempt → blocked (demo)</a:t>
            </a:r>
            <a:endParaRPr lang="en-US" sz="1200" dirty="0"/>
          </a:p>
        </p:txBody>
      </p:sp>
      <p:sp>
        <p:nvSpPr>
          <p:cNvPr id="25" name="Shape 20"/>
          <p:cNvSpPr/>
          <p:nvPr/>
        </p:nvSpPr>
        <p:spPr>
          <a:xfrm>
            <a:off x="548640" y="374904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26" name="Shape 21"/>
          <p:cNvSpPr/>
          <p:nvPr/>
        </p:nvSpPr>
        <p:spPr>
          <a:xfrm>
            <a:off x="804672" y="3977640"/>
            <a:ext cx="603504" cy="603504"/>
          </a:xfrm>
          <a:prstGeom prst="ellipse">
            <a:avLst/>
          </a:prstGeom>
          <a:solidFill>
            <a:srgbClr val="1A7F37"/>
          </a:solidFill>
          <a:ln/>
        </p:spPr>
      </p:sp>
      <p:pic>
        <p:nvPicPr>
          <p:cNvPr id="27" name="Image 3" descr="preencoded.png">    </p:cNvPr>
          <p:cNvPicPr>
            <a:picLocks noChangeAspect="1"/>
          </p:cNvPicPr>
          <p:nvPr/>
        </p:nvPicPr>
        <p:blipFill>
          <a:blip r:embed="rId4"/>
          <a:stretch>
            <a:fillRect/>
          </a:stretch>
        </p:blipFill>
        <p:spPr>
          <a:xfrm>
            <a:off x="967618" y="4140586"/>
            <a:ext cx="277612" cy="277612"/>
          </a:xfrm>
          <a:prstGeom prst="rect">
            <a:avLst/>
          </a:prstGeom>
        </p:spPr>
      </p:pic>
      <p:sp>
        <p:nvSpPr>
          <p:cNvPr id="28" name="Text 22"/>
          <p:cNvSpPr/>
          <p:nvPr/>
        </p:nvSpPr>
        <p:spPr>
          <a:xfrm>
            <a:off x="1554480" y="3977640"/>
            <a:ext cx="2514600" cy="603504"/>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Protected paths</a:t>
            </a:r>
            <a:endParaRPr lang="en-US" sz="2000" dirty="0"/>
          </a:p>
        </p:txBody>
      </p:sp>
      <p:sp>
        <p:nvSpPr>
          <p:cNvPr id="29" name="Text 23"/>
          <p:cNvSpPr/>
          <p:nvPr/>
        </p:nvSpPr>
        <p:spPr>
          <a:xfrm>
            <a:off x="804672" y="470916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Agent settings, hooks, standards and approval records cannot be edited</a:t>
            </a:r>
            <a:endParaRPr lang="en-US" sz="1400" dirty="0"/>
          </a:p>
        </p:txBody>
      </p:sp>
      <p:sp>
        <p:nvSpPr>
          <p:cNvPr id="30" name="Shape 24"/>
          <p:cNvSpPr/>
          <p:nvPr/>
        </p:nvSpPr>
        <p:spPr>
          <a:xfrm>
            <a:off x="804672" y="5303520"/>
            <a:ext cx="3063240" cy="365760"/>
          </a:xfrm>
          <a:prstGeom prst="roundRect">
            <a:avLst>
              <a:gd name="adj" fmla="val 50000"/>
            </a:avLst>
          </a:prstGeom>
          <a:solidFill>
            <a:srgbClr val="DAFBE1"/>
          </a:solidFill>
          <a:ln/>
        </p:spPr>
      </p:sp>
      <p:sp>
        <p:nvSpPr>
          <p:cNvPr id="31" name="Text 25"/>
          <p:cNvSpPr/>
          <p:nvPr/>
        </p:nvSpPr>
        <p:spPr>
          <a:xfrm>
            <a:off x="804672" y="530352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rial" pitchFamily="34" charset="0"/>
                <a:ea typeface="Arial" pitchFamily="34" charset="-122"/>
                <a:cs typeface="Arial" pitchFamily="34" charset="-120"/>
              </a:rPr>
              <a:t>Standards edit → blocked (demo)</a:t>
            </a:r>
            <a:endParaRPr lang="en-US" sz="1200" dirty="0"/>
          </a:p>
        </p:txBody>
      </p:sp>
      <p:sp>
        <p:nvSpPr>
          <p:cNvPr id="32" name="Shape 26"/>
          <p:cNvSpPr/>
          <p:nvPr/>
        </p:nvSpPr>
        <p:spPr>
          <a:xfrm>
            <a:off x="4297680" y="374904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33" name="Shape 27"/>
          <p:cNvSpPr/>
          <p:nvPr/>
        </p:nvSpPr>
        <p:spPr>
          <a:xfrm>
            <a:off x="4553712" y="3977640"/>
            <a:ext cx="603504" cy="603504"/>
          </a:xfrm>
          <a:prstGeom prst="ellipse">
            <a:avLst/>
          </a:prstGeom>
          <a:solidFill>
            <a:srgbClr val="1A7F37"/>
          </a:solidFill>
          <a:ln/>
        </p:spPr>
      </p:sp>
      <p:pic>
        <p:nvPicPr>
          <p:cNvPr id="34" name="Image 4" descr="preencoded.png">    </p:cNvPr>
          <p:cNvPicPr>
            <a:picLocks noChangeAspect="1"/>
          </p:cNvPicPr>
          <p:nvPr/>
        </p:nvPicPr>
        <p:blipFill>
          <a:blip r:embed="rId5"/>
          <a:stretch>
            <a:fillRect/>
          </a:stretch>
        </p:blipFill>
        <p:spPr>
          <a:xfrm>
            <a:off x="4716658" y="4140586"/>
            <a:ext cx="277612" cy="277612"/>
          </a:xfrm>
          <a:prstGeom prst="rect">
            <a:avLst/>
          </a:prstGeom>
        </p:spPr>
      </p:pic>
      <p:sp>
        <p:nvSpPr>
          <p:cNvPr id="35" name="Text 28"/>
          <p:cNvSpPr/>
          <p:nvPr/>
        </p:nvSpPr>
        <p:spPr>
          <a:xfrm>
            <a:off x="5303520" y="3977640"/>
            <a:ext cx="2514600" cy="603504"/>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Audit log</a:t>
            </a:r>
            <a:endParaRPr lang="en-US" sz="2000" dirty="0"/>
          </a:p>
        </p:txBody>
      </p:sp>
      <p:sp>
        <p:nvSpPr>
          <p:cNvPr id="36" name="Text 29"/>
          <p:cNvSpPr/>
          <p:nvPr/>
        </p:nvSpPr>
        <p:spPr>
          <a:xfrm>
            <a:off x="4553712" y="470916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Every tool call, block and approval is recorded</a:t>
            </a:r>
            <a:endParaRPr lang="en-US" sz="1400" dirty="0"/>
          </a:p>
        </p:txBody>
      </p:sp>
      <p:sp>
        <p:nvSpPr>
          <p:cNvPr id="37" name="Shape 30"/>
          <p:cNvSpPr/>
          <p:nvPr/>
        </p:nvSpPr>
        <p:spPr>
          <a:xfrm>
            <a:off x="4553712" y="5303520"/>
            <a:ext cx="3063240" cy="365760"/>
          </a:xfrm>
          <a:prstGeom prst="roundRect">
            <a:avLst>
              <a:gd name="adj" fmla="val 50000"/>
            </a:avLst>
          </a:prstGeom>
          <a:solidFill>
            <a:srgbClr val="DAFBE1"/>
          </a:solidFill>
          <a:ln/>
        </p:spPr>
      </p:sp>
      <p:sp>
        <p:nvSpPr>
          <p:cNvPr id="38" name="Text 31"/>
          <p:cNvSpPr/>
          <p:nvPr/>
        </p:nvSpPr>
        <p:spPr>
          <a:xfrm>
            <a:off x="4553712" y="530352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rial" pitchFamily="34" charset="0"/>
                <a:ea typeface="Arial" pitchFamily="34" charset="-122"/>
                <a:cs typeface="Arial" pitchFamily="34" charset="-120"/>
              </a:rPr>
              <a:t>169 calls · 3 approvals · 2 blocked</a:t>
            </a:r>
            <a:endParaRPr lang="en-US" sz="1200" dirty="0"/>
          </a:p>
        </p:txBody>
      </p:sp>
      <p:sp>
        <p:nvSpPr>
          <p:cNvPr id="39" name="Shape 32"/>
          <p:cNvSpPr/>
          <p:nvPr/>
        </p:nvSpPr>
        <p:spPr>
          <a:xfrm>
            <a:off x="8046720" y="374904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40" name="Shape 33"/>
          <p:cNvSpPr/>
          <p:nvPr/>
        </p:nvSpPr>
        <p:spPr>
          <a:xfrm>
            <a:off x="8302752" y="3977640"/>
            <a:ext cx="603504" cy="603504"/>
          </a:xfrm>
          <a:prstGeom prst="ellipse">
            <a:avLst/>
          </a:prstGeom>
          <a:solidFill>
            <a:srgbClr val="1A7F37"/>
          </a:solidFill>
          <a:ln/>
        </p:spPr>
      </p:sp>
      <p:pic>
        <p:nvPicPr>
          <p:cNvPr id="41" name="Image 5" descr="preencoded.png">    </p:cNvPr>
          <p:cNvPicPr>
            <a:picLocks noChangeAspect="1"/>
          </p:cNvPicPr>
          <p:nvPr/>
        </p:nvPicPr>
        <p:blipFill>
          <a:blip r:embed="rId6"/>
          <a:stretch>
            <a:fillRect/>
          </a:stretch>
        </p:blipFill>
        <p:spPr>
          <a:xfrm>
            <a:off x="8465698" y="4140586"/>
            <a:ext cx="277612" cy="277612"/>
          </a:xfrm>
          <a:prstGeom prst="rect">
            <a:avLst/>
          </a:prstGeom>
        </p:spPr>
      </p:pic>
      <p:sp>
        <p:nvSpPr>
          <p:cNvPr id="42" name="Text 34"/>
          <p:cNvSpPr/>
          <p:nvPr/>
        </p:nvSpPr>
        <p:spPr>
          <a:xfrm>
            <a:off x="9052560" y="3977640"/>
            <a:ext cx="2514600" cy="603504"/>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Org policy</a:t>
            </a:r>
            <a:endParaRPr lang="en-US" sz="2000" dirty="0"/>
          </a:p>
        </p:txBody>
      </p:sp>
      <p:sp>
        <p:nvSpPr>
          <p:cNvPr id="43" name="Text 35"/>
          <p:cNvSpPr/>
          <p:nvPr/>
        </p:nvSpPr>
        <p:spPr>
          <a:xfrm>
            <a:off x="8302752" y="470916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Admins apply allow, confirm and deny rules company-wide</a:t>
            </a:r>
            <a:endParaRPr lang="en-US" sz="1400" dirty="0"/>
          </a:p>
        </p:txBody>
      </p:sp>
      <p:sp>
        <p:nvSpPr>
          <p:cNvPr id="44" name="Shape 36"/>
          <p:cNvSpPr/>
          <p:nvPr/>
        </p:nvSpPr>
        <p:spPr>
          <a:xfrm>
            <a:off x="8302752" y="5303520"/>
            <a:ext cx="3063240" cy="365760"/>
          </a:xfrm>
          <a:prstGeom prst="roundRect">
            <a:avLst>
              <a:gd name="adj" fmla="val 50000"/>
            </a:avLst>
          </a:prstGeom>
          <a:solidFill>
            <a:srgbClr val="F6F8FA"/>
          </a:solidFill>
          <a:ln/>
        </p:spPr>
      </p:sp>
      <p:sp>
        <p:nvSpPr>
          <p:cNvPr id="45" name="Text 37"/>
          <p:cNvSpPr/>
          <p:nvPr/>
        </p:nvSpPr>
        <p:spPr>
          <a:xfrm>
            <a:off x="8302752" y="5303520"/>
            <a:ext cx="3063240" cy="365760"/>
          </a:xfrm>
          <a:prstGeom prst="rect">
            <a:avLst/>
          </a:prstGeom>
          <a:noFill/>
          <a:ln/>
        </p:spPr>
        <p:txBody>
          <a:bodyPr wrap="square" lIns="0" tIns="0" rIns="0" bIns="0" rtlCol="0" anchor="ctr"/>
          <a:lstStyle/>
          <a:p>
            <a:pPr algn="ctr" indent="0" marL="0">
              <a:buNone/>
            </a:pPr>
            <a:r>
              <a:rPr lang="en-US" sz="1200" b="1" dirty="0">
                <a:solidFill>
                  <a:srgbClr val="59636E"/>
                </a:solidFill>
                <a:latin typeface="Arial" pitchFamily="34" charset="0"/>
                <a:ea typeface="Arial" pitchFamily="34" charset="-122"/>
                <a:cs typeface="Arial" pitchFamily="34" charset="-120"/>
              </a:rPr>
              <a:t>Admin-enforced (not in this demo)</a:t>
            </a:r>
            <a:endParaRPr lang="en-US" sz="1200" dirty="0"/>
          </a:p>
        </p:txBody>
      </p:sp>
      <p:sp>
        <p:nvSpPr>
          <p:cNvPr id="46" name="Text 38"/>
          <p:cNvSpPr/>
          <p:nvPr/>
        </p:nvSpPr>
        <p:spPr>
          <a:xfrm>
            <a:off x="548640" y="6016752"/>
            <a:ext cx="11064240" cy="256032"/>
          </a:xfrm>
          <a:prstGeom prst="rect">
            <a:avLst/>
          </a:prstGeom>
          <a:noFill/>
          <a:ln/>
        </p:spPr>
        <p:txBody>
          <a:bodyPr wrap="square" lIns="0" tIns="0" rIns="0" bIns="0" rtlCol="0" anchor="t"/>
          <a:lstStyle/>
          <a:p>
            <a:pPr indent="0" marL="0">
              <a:buNone/>
            </a:pPr>
            <a:r>
              <a:rPr lang="en-US" sz="1300" dirty="0">
                <a:solidFill>
                  <a:srgbClr val="59636E"/>
                </a:solidFill>
                <a:latin typeface="Arial" pitchFamily="34" charset="0"/>
                <a:ea typeface="Arial" pitchFamily="34" charset="-122"/>
                <a:cs typeface="Arial" pitchFamily="34" charset="-120"/>
              </a:rPr>
              <a:t>Green = verified directly in this demo  ·  A sandbox (isolated runtime) can narrow the execution scope even further</a:t>
            </a:r>
            <a:endParaRPr lang="en-US" sz="1300" dirty="0"/>
          </a:p>
        </p:txBody>
      </p:sp>
      <p:sp>
        <p:nvSpPr>
          <p:cNvPr id="47" name="Text 39"/>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48" name="Text 40"/>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3 · IMPACT &amp; SAFETY</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What changes for business, dev, security and ops</a:t>
            </a:r>
            <a:endParaRPr lang="en-US" sz="3200" dirty="0"/>
          </a:p>
        </p:txBody>
      </p:sp>
      <p:sp>
        <p:nvSpPr>
          <p:cNvPr id="4" name="Shape 2"/>
          <p:cNvSpPr/>
          <p:nvPr/>
        </p:nvSpPr>
        <p:spPr>
          <a:xfrm>
            <a:off x="548640" y="1554480"/>
            <a:ext cx="2651760" cy="4023360"/>
          </a:xfrm>
          <a:prstGeom prst="roundRect">
            <a:avLst>
              <a:gd name="adj" fmla="val 4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810512"/>
            <a:ext cx="713232" cy="713232"/>
          </a:xfrm>
          <a:prstGeom prst="ellipse">
            <a:avLst/>
          </a:prstGeom>
          <a:solidFill>
            <a:srgbClr val="0969DA"/>
          </a:solidFill>
          <a:ln/>
        </p:spPr>
      </p:sp>
      <p:pic>
        <p:nvPicPr>
          <p:cNvPr id="6" name="Image 0" descr="preencoded.png">    </p:cNvPr>
          <p:cNvPicPr>
            <a:picLocks noChangeAspect="1"/>
          </p:cNvPicPr>
          <p:nvPr/>
        </p:nvPicPr>
        <p:blipFill>
          <a:blip r:embed="rId1"/>
          <a:stretch>
            <a:fillRect/>
          </a:stretch>
        </p:blipFill>
        <p:spPr>
          <a:xfrm>
            <a:off x="1015533" y="2003085"/>
            <a:ext cx="328087" cy="328087"/>
          </a:xfrm>
          <a:prstGeom prst="rect">
            <a:avLst/>
          </a:prstGeom>
        </p:spPr>
      </p:pic>
      <p:sp>
        <p:nvSpPr>
          <p:cNvPr id="7" name="Text 4"/>
          <p:cNvSpPr/>
          <p:nvPr/>
        </p:nvSpPr>
        <p:spPr>
          <a:xfrm>
            <a:off x="1645920" y="1810512"/>
            <a:ext cx="1508760" cy="713232"/>
          </a:xfrm>
          <a:prstGeom prst="rect">
            <a:avLst/>
          </a:prstGeom>
          <a:noFill/>
          <a:ln/>
        </p:spPr>
        <p:txBody>
          <a:bodyPr wrap="square" lIns="0" tIns="0" rIns="0" bIns="0" rtlCol="0" anchor="ctr"/>
          <a:lstStyle/>
          <a:p>
            <a:pPr indent="0" marL="0">
              <a:buNone/>
            </a:pPr>
            <a:r>
              <a:rPr lang="en-US" sz="2000" b="1" dirty="0">
                <a:solidFill>
                  <a:srgbClr val="0969DA"/>
                </a:solidFill>
                <a:latin typeface="Arial" pitchFamily="34" charset="0"/>
                <a:ea typeface="Arial" pitchFamily="34" charset="-122"/>
                <a:cs typeface="Arial" pitchFamily="34" charset="-120"/>
              </a:rPr>
              <a:t>Business</a:t>
            </a:r>
            <a:endParaRPr lang="en-US" sz="2000" dirty="0"/>
          </a:p>
        </p:txBody>
      </p:sp>
      <p:sp>
        <p:nvSpPr>
          <p:cNvPr id="8" name="Text 5"/>
          <p:cNvSpPr/>
          <p:nvPr/>
        </p:nvSpPr>
        <p:spPr>
          <a:xfrm>
            <a:off x="822960" y="2834640"/>
            <a:ext cx="2194560" cy="30175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See how requirements are reflected, right in the documents</a:t>
            </a:r>
            <a:endParaRPr lang="en-US" sz="1600" dirty="0"/>
          </a:p>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Get impact, risks and decisions explained up front</a:t>
            </a:r>
            <a:endParaRPr lang="en-US" sz="1600" dirty="0"/>
          </a:p>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See the result screens yourself</a:t>
            </a:r>
            <a:endParaRPr lang="en-US" sz="1600" dirty="0"/>
          </a:p>
        </p:txBody>
      </p:sp>
      <p:sp>
        <p:nvSpPr>
          <p:cNvPr id="9" name="Shape 6"/>
          <p:cNvSpPr/>
          <p:nvPr/>
        </p:nvSpPr>
        <p:spPr>
          <a:xfrm>
            <a:off x="3355848" y="1554480"/>
            <a:ext cx="2651760" cy="4023360"/>
          </a:xfrm>
          <a:prstGeom prst="roundRect">
            <a:avLst>
              <a:gd name="adj" fmla="val 4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3630168" y="1810512"/>
            <a:ext cx="713232" cy="713232"/>
          </a:xfrm>
          <a:prstGeom prst="ellipse">
            <a:avLst/>
          </a:prstGeom>
          <a:solidFill>
            <a:srgbClr val="7B3FE4"/>
          </a:solidFill>
          <a:ln/>
        </p:spPr>
      </p:sp>
      <p:pic>
        <p:nvPicPr>
          <p:cNvPr id="11" name="Image 1" descr="preencoded.png">    </p:cNvPr>
          <p:cNvPicPr>
            <a:picLocks noChangeAspect="1"/>
          </p:cNvPicPr>
          <p:nvPr/>
        </p:nvPicPr>
        <p:blipFill>
          <a:blip r:embed="rId2"/>
          <a:stretch>
            <a:fillRect/>
          </a:stretch>
        </p:blipFill>
        <p:spPr>
          <a:xfrm>
            <a:off x="3822741" y="2003085"/>
            <a:ext cx="328087" cy="328087"/>
          </a:xfrm>
          <a:prstGeom prst="rect">
            <a:avLst/>
          </a:prstGeom>
        </p:spPr>
      </p:pic>
      <p:sp>
        <p:nvSpPr>
          <p:cNvPr id="12" name="Text 8"/>
          <p:cNvSpPr/>
          <p:nvPr/>
        </p:nvSpPr>
        <p:spPr>
          <a:xfrm>
            <a:off x="4453128" y="1810512"/>
            <a:ext cx="1508760" cy="713232"/>
          </a:xfrm>
          <a:prstGeom prst="rect">
            <a:avLst/>
          </a:prstGeom>
          <a:noFill/>
          <a:ln/>
        </p:spPr>
        <p:txBody>
          <a:bodyPr wrap="square" lIns="0" tIns="0" rIns="0" bIns="0" rtlCol="0" anchor="ctr"/>
          <a:lstStyle/>
          <a:p>
            <a:pPr indent="0" marL="0">
              <a:buNone/>
            </a:pPr>
            <a:r>
              <a:rPr lang="en-US" sz="2000" b="1" dirty="0">
                <a:solidFill>
                  <a:srgbClr val="7B3FE4"/>
                </a:solidFill>
                <a:latin typeface="Arial" pitchFamily="34" charset="0"/>
                <a:ea typeface="Arial" pitchFamily="34" charset="-122"/>
                <a:cs typeface="Arial" pitchFamily="34" charset="-120"/>
              </a:rPr>
              <a:t>Developers</a:t>
            </a:r>
            <a:endParaRPr lang="en-US" sz="2000" dirty="0"/>
          </a:p>
        </p:txBody>
      </p:sp>
      <p:sp>
        <p:nvSpPr>
          <p:cNvPr id="13" name="Text 9"/>
          <p:cNvSpPr/>
          <p:nvPr/>
        </p:nvSpPr>
        <p:spPr>
          <a:xfrm>
            <a:off x="3630168" y="2834640"/>
            <a:ext cx="2194560" cy="30175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Hand repetitive work (analysis, documents, tests) to the AI</a:t>
            </a:r>
            <a:endParaRPr lang="en-US" sz="1600" dirty="0"/>
          </a:p>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Focus on design and judgment</a:t>
            </a:r>
            <a:endParaRPr lang="en-US" sz="1600" dirty="0"/>
          </a:p>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Agents follow company standards every time</a:t>
            </a:r>
            <a:endParaRPr lang="en-US" sz="1600" dirty="0"/>
          </a:p>
        </p:txBody>
      </p:sp>
      <p:sp>
        <p:nvSpPr>
          <p:cNvPr id="14" name="Shape 10"/>
          <p:cNvSpPr/>
          <p:nvPr/>
        </p:nvSpPr>
        <p:spPr>
          <a:xfrm>
            <a:off x="6163056" y="1554480"/>
            <a:ext cx="2651760" cy="4023360"/>
          </a:xfrm>
          <a:prstGeom prst="roundRect">
            <a:avLst>
              <a:gd name="adj" fmla="val 4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6437376" y="1810512"/>
            <a:ext cx="713232" cy="713232"/>
          </a:xfrm>
          <a:prstGeom prst="ellipse">
            <a:avLst/>
          </a:prstGeom>
          <a:solidFill>
            <a:srgbClr val="1A7F37"/>
          </a:solidFill>
          <a:ln/>
        </p:spPr>
      </p:sp>
      <p:pic>
        <p:nvPicPr>
          <p:cNvPr id="16" name="Image 2" descr="preencoded.png">    </p:cNvPr>
          <p:cNvPicPr>
            <a:picLocks noChangeAspect="1"/>
          </p:cNvPicPr>
          <p:nvPr/>
        </p:nvPicPr>
        <p:blipFill>
          <a:blip r:embed="rId3"/>
          <a:stretch>
            <a:fillRect/>
          </a:stretch>
        </p:blipFill>
        <p:spPr>
          <a:xfrm>
            <a:off x="6629949" y="2003085"/>
            <a:ext cx="328087" cy="328087"/>
          </a:xfrm>
          <a:prstGeom prst="rect">
            <a:avLst/>
          </a:prstGeom>
        </p:spPr>
      </p:pic>
      <p:sp>
        <p:nvSpPr>
          <p:cNvPr id="17" name="Text 12"/>
          <p:cNvSpPr/>
          <p:nvPr/>
        </p:nvSpPr>
        <p:spPr>
          <a:xfrm>
            <a:off x="7260336" y="1810512"/>
            <a:ext cx="1508760" cy="713232"/>
          </a:xfrm>
          <a:prstGeom prst="rect">
            <a:avLst/>
          </a:prstGeom>
          <a:noFill/>
          <a:ln/>
        </p:spPr>
        <p:txBody>
          <a:bodyPr wrap="square" lIns="0" tIns="0" rIns="0" bIns="0" rtlCol="0" anchor="ctr"/>
          <a:lstStyle/>
          <a:p>
            <a:pPr indent="0" marL="0">
              <a:buNone/>
            </a:pPr>
            <a:r>
              <a:rPr lang="en-US" sz="2000" b="1" dirty="0">
                <a:solidFill>
                  <a:srgbClr val="1A7F37"/>
                </a:solidFill>
                <a:latin typeface="Arial" pitchFamily="34" charset="0"/>
                <a:ea typeface="Arial" pitchFamily="34" charset="-122"/>
                <a:cs typeface="Arial" pitchFamily="34" charset="-120"/>
              </a:rPr>
              <a:t>Security &amp; audit</a:t>
            </a:r>
            <a:endParaRPr lang="en-US" sz="2000" dirty="0"/>
          </a:p>
        </p:txBody>
      </p:sp>
      <p:sp>
        <p:nvSpPr>
          <p:cNvPr id="18" name="Text 13"/>
          <p:cNvSpPr/>
          <p:nvPr/>
        </p:nvSpPr>
        <p:spPr>
          <a:xfrm>
            <a:off x="6437376" y="2834640"/>
            <a:ext cx="2194560" cy="30175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Role-based permissions and risky-command blocking</a:t>
            </a:r>
            <a:endParaRPr lang="en-US" sz="1600" dirty="0"/>
          </a:p>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Every tool call and approval is on record</a:t>
            </a:r>
            <a:endParaRPr lang="en-US" sz="1600" dirty="0"/>
          </a:p>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Approved code = deployed code (tamper-proof)</a:t>
            </a:r>
            <a:endParaRPr lang="en-US" sz="1600" dirty="0"/>
          </a:p>
        </p:txBody>
      </p:sp>
      <p:sp>
        <p:nvSpPr>
          <p:cNvPr id="19" name="Shape 14"/>
          <p:cNvSpPr/>
          <p:nvPr/>
        </p:nvSpPr>
        <p:spPr>
          <a:xfrm>
            <a:off x="8970264" y="1554480"/>
            <a:ext cx="2651760" cy="4023360"/>
          </a:xfrm>
          <a:prstGeom prst="roundRect">
            <a:avLst>
              <a:gd name="adj" fmla="val 4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9244584" y="1810512"/>
            <a:ext cx="713232" cy="713232"/>
          </a:xfrm>
          <a:prstGeom prst="ellipse">
            <a:avLst/>
          </a:prstGeom>
          <a:solidFill>
            <a:srgbClr val="9A6700"/>
          </a:solidFill>
          <a:ln/>
        </p:spPr>
      </p:sp>
      <p:pic>
        <p:nvPicPr>
          <p:cNvPr id="21" name="Image 3" descr="preencoded.png">    </p:cNvPr>
          <p:cNvPicPr>
            <a:picLocks noChangeAspect="1"/>
          </p:cNvPicPr>
          <p:nvPr/>
        </p:nvPicPr>
        <p:blipFill>
          <a:blip r:embed="rId4"/>
          <a:stretch>
            <a:fillRect/>
          </a:stretch>
        </p:blipFill>
        <p:spPr>
          <a:xfrm>
            <a:off x="9437157" y="2003085"/>
            <a:ext cx="328087" cy="328087"/>
          </a:xfrm>
          <a:prstGeom prst="rect">
            <a:avLst/>
          </a:prstGeom>
        </p:spPr>
      </p:pic>
      <p:sp>
        <p:nvSpPr>
          <p:cNvPr id="22" name="Text 16"/>
          <p:cNvSpPr/>
          <p:nvPr/>
        </p:nvSpPr>
        <p:spPr>
          <a:xfrm>
            <a:off x="10067544" y="1810512"/>
            <a:ext cx="1508760" cy="713232"/>
          </a:xfrm>
          <a:prstGeom prst="rect">
            <a:avLst/>
          </a:prstGeom>
          <a:noFill/>
          <a:ln/>
        </p:spPr>
        <p:txBody>
          <a:bodyPr wrap="square" lIns="0" tIns="0" rIns="0" bIns="0" rtlCol="0" anchor="ctr"/>
          <a:lstStyle/>
          <a:p>
            <a:pPr indent="0" marL="0">
              <a:buNone/>
            </a:pPr>
            <a:r>
              <a:rPr lang="en-US" sz="2000" b="1" dirty="0">
                <a:solidFill>
                  <a:srgbClr val="9A6700"/>
                </a:solidFill>
                <a:latin typeface="Arial" pitchFamily="34" charset="0"/>
                <a:ea typeface="Arial" pitchFamily="34" charset="-122"/>
                <a:cs typeface="Arial" pitchFamily="34" charset="-120"/>
              </a:rPr>
              <a:t>Operations</a:t>
            </a:r>
            <a:endParaRPr lang="en-US" sz="2000" dirty="0"/>
          </a:p>
        </p:txBody>
      </p:sp>
      <p:sp>
        <p:nvSpPr>
          <p:cNvPr id="23" name="Text 17"/>
          <p:cNvSpPr/>
          <p:nvPr/>
        </p:nvSpPr>
        <p:spPr>
          <a:xfrm>
            <a:off x="9244584" y="2834640"/>
            <a:ext cx="2194560" cy="30175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Standardized deployment and rollback procedures</a:t>
            </a:r>
            <a:endParaRPr lang="en-US" sz="1600" dirty="0"/>
          </a:p>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Log analysis right after deployment</a:t>
            </a:r>
            <a:endParaRPr lang="en-US" sz="1600" dirty="0"/>
          </a:p>
          <a:p>
            <a:pPr marL="203200" indent="-203200">
              <a:spcAft>
                <a:spcPts val="1400"/>
              </a:spcAft>
              <a:buSzPct val="100000"/>
              <a:buChar char="•"/>
            </a:pPr>
            <a:r>
              <a:rPr lang="en-US" sz="1600" dirty="0">
                <a:solidFill>
                  <a:srgbClr val="1F2328"/>
                </a:solidFill>
                <a:latin typeface="Arial" pitchFamily="34" charset="0"/>
                <a:ea typeface="Arial" pitchFamily="34" charset="-122"/>
                <a:cs typeface="Arial" pitchFamily="34" charset="-120"/>
              </a:rPr>
              <a:t>Read-only analysis protects production data</a:t>
            </a:r>
            <a:endParaRPr lang="en-US" sz="1600" dirty="0"/>
          </a:p>
        </p:txBody>
      </p:sp>
      <p:sp>
        <p:nvSpPr>
          <p:cNvPr id="24" name="Shape 18"/>
          <p:cNvSpPr/>
          <p:nvPr/>
        </p:nvSpPr>
        <p:spPr>
          <a:xfrm>
            <a:off x="548640" y="5760720"/>
            <a:ext cx="11064240" cy="566928"/>
          </a:xfrm>
          <a:prstGeom prst="roundRect">
            <a:avLst>
              <a:gd name="adj" fmla="val 22581"/>
            </a:avLst>
          </a:prstGeom>
          <a:solidFill>
            <a:srgbClr val="F1E9FF"/>
          </a:solidFill>
          <a:ln/>
        </p:spPr>
      </p:sp>
      <p:sp>
        <p:nvSpPr>
          <p:cNvPr id="25" name="Text 19"/>
          <p:cNvSpPr/>
          <p:nvPr/>
        </p:nvSpPr>
        <p:spPr>
          <a:xfrm>
            <a:off x="777240" y="5760720"/>
            <a:ext cx="10607040" cy="566928"/>
          </a:xfrm>
          <a:prstGeom prst="rect">
            <a:avLst/>
          </a:prstGeom>
          <a:noFill/>
          <a:ln/>
        </p:spPr>
        <p:txBody>
          <a:bodyPr wrap="square" lIns="0" tIns="0" rIns="0" bIns="0" rtlCol="0" anchor="ctr"/>
          <a:lstStyle/>
          <a:p>
            <a:pPr indent="0" marL="0">
              <a:buNone/>
            </a:pPr>
            <a:r>
              <a:rPr lang="en-US" sz="1600" b="1" dirty="0">
                <a:solidFill>
                  <a:srgbClr val="5A2EB0"/>
                </a:solidFill>
                <a:latin typeface="Arial" pitchFamily="34" charset="0"/>
                <a:ea typeface="Arial" pitchFamily="34" charset="-122"/>
                <a:cs typeface="Arial" pitchFamily="34" charset="-120"/>
              </a:rPr>
              <a:t>Same workflow: transparency for business, focus for developers, control for security, standards for ops</a:t>
            </a:r>
            <a:endParaRPr lang="en-US" sz="1600" dirty="0"/>
          </a:p>
        </p:txBody>
      </p:sp>
      <p:sp>
        <p:nvSpPr>
          <p:cNvPr id="26" name="Text 2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27" name="Text 2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rial" pitchFamily="34" charset="0"/>
                <a:ea typeface="Arial" pitchFamily="34" charset="-122"/>
                <a:cs typeface="Arial" pitchFamily="34" charset="-120"/>
              </a:rPr>
              <a:t>PART 3 · IMPACT &amp; SAFETY</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rial" pitchFamily="34" charset="0"/>
                <a:ea typeface="Arial" pitchFamily="34" charset="-122"/>
                <a:cs typeface="Arial" pitchFamily="34" charset="-120"/>
              </a:rPr>
              <a:t>How to start: pilot → standardize → scale</a:t>
            </a:r>
            <a:endParaRPr lang="en-US" sz="3200" dirty="0"/>
          </a:p>
        </p:txBody>
      </p:sp>
      <p:sp>
        <p:nvSpPr>
          <p:cNvPr id="4" name="Shape 2"/>
          <p:cNvSpPr/>
          <p:nvPr/>
        </p:nvSpPr>
        <p:spPr>
          <a:xfrm>
            <a:off x="548640" y="1600200"/>
            <a:ext cx="3474720" cy="3337560"/>
          </a:xfrm>
          <a:prstGeom prst="roundRect">
            <a:avLst>
              <a:gd name="adj" fmla="val 3836"/>
            </a:avLst>
          </a:prstGeom>
          <a:solidFill>
            <a:srgbClr val="FFFFFF"/>
          </a:solidFill>
          <a:ln w="25400">
            <a:solidFill>
              <a:srgbClr val="7B3FE4"/>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828800"/>
            <a:ext cx="640080" cy="640080"/>
          </a:xfrm>
          <a:prstGeom prst="ellipse">
            <a:avLst/>
          </a:prstGeom>
          <a:solidFill>
            <a:srgbClr val="7B3FE4"/>
          </a:solidFill>
          <a:ln/>
        </p:spPr>
      </p:sp>
      <p:sp>
        <p:nvSpPr>
          <p:cNvPr id="6" name="Text 4"/>
          <p:cNvSpPr/>
          <p:nvPr/>
        </p:nvSpPr>
        <p:spPr>
          <a:xfrm>
            <a:off x="822960" y="18288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7" name="Text 5"/>
          <p:cNvSpPr/>
          <p:nvPr/>
        </p:nvSpPr>
        <p:spPr>
          <a:xfrm>
            <a:off x="1645920" y="1810512"/>
            <a:ext cx="2194560" cy="384048"/>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Pilot</a:t>
            </a:r>
            <a:endParaRPr lang="en-US" sz="2400" dirty="0"/>
          </a:p>
        </p:txBody>
      </p:sp>
      <p:sp>
        <p:nvSpPr>
          <p:cNvPr id="8" name="Text 6"/>
          <p:cNvSpPr/>
          <p:nvPr/>
        </p:nvSpPr>
        <p:spPr>
          <a:xfrm>
            <a:off x="1645920" y="2194560"/>
            <a:ext cx="2194560" cy="27432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2–4 weeks</a:t>
            </a:r>
            <a:endParaRPr lang="en-US" sz="1400" dirty="0"/>
          </a:p>
        </p:txBody>
      </p:sp>
      <p:sp>
        <p:nvSpPr>
          <p:cNvPr id="9" name="Text 7"/>
          <p:cNvSpPr/>
          <p:nvPr/>
        </p:nvSpPr>
        <p:spPr>
          <a:xfrm>
            <a:off x="822960" y="2743200"/>
            <a:ext cx="2971800" cy="21031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One team, 1–2 low-risk change requests</a:t>
            </a:r>
            <a:endParaRPr lang="en-US" sz="1600" dirty="0"/>
          </a:p>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Start with 3 agents: analysis, development, review</a:t>
            </a:r>
            <a:endParaRPr lang="en-US" sz="1600" dirty="0"/>
          </a:p>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Set success criteria first (lead time, rework)</a:t>
            </a:r>
            <a:endParaRPr lang="en-US" sz="1600" dirty="0"/>
          </a:p>
        </p:txBody>
      </p:sp>
      <p:sp>
        <p:nvSpPr>
          <p:cNvPr id="10" name="Shape 8"/>
          <p:cNvSpPr/>
          <p:nvPr/>
        </p:nvSpPr>
        <p:spPr>
          <a:xfrm>
            <a:off x="4041648" y="3246120"/>
            <a:ext cx="283464" cy="0"/>
          </a:xfrm>
          <a:prstGeom prst="line">
            <a:avLst/>
          </a:prstGeom>
          <a:noFill/>
          <a:ln w="31750">
            <a:solidFill>
              <a:srgbClr val="8C959F"/>
            </a:solidFill>
            <a:prstDash val="solid"/>
            <a:tailEnd type="triangle"/>
          </a:ln>
        </p:spPr>
      </p:sp>
      <p:sp>
        <p:nvSpPr>
          <p:cNvPr id="11" name="Shape 9"/>
          <p:cNvSpPr/>
          <p:nvPr/>
        </p:nvSpPr>
        <p:spPr>
          <a:xfrm>
            <a:off x="4343400" y="1600200"/>
            <a:ext cx="3474720" cy="3337560"/>
          </a:xfrm>
          <a:prstGeom prst="roundRect">
            <a:avLst>
              <a:gd name="adj" fmla="val 3836"/>
            </a:avLst>
          </a:prstGeom>
          <a:solidFill>
            <a:srgbClr val="FFFFFF"/>
          </a:solidFill>
          <a:ln w="25400">
            <a:solidFill>
              <a:srgbClr val="0969DA"/>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4617720" y="1828800"/>
            <a:ext cx="640080" cy="640080"/>
          </a:xfrm>
          <a:prstGeom prst="ellipse">
            <a:avLst/>
          </a:prstGeom>
          <a:solidFill>
            <a:srgbClr val="0969DA"/>
          </a:solidFill>
          <a:ln/>
        </p:spPr>
      </p:sp>
      <p:sp>
        <p:nvSpPr>
          <p:cNvPr id="13" name="Text 11"/>
          <p:cNvSpPr/>
          <p:nvPr/>
        </p:nvSpPr>
        <p:spPr>
          <a:xfrm>
            <a:off x="4617720" y="18288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4" name="Text 12"/>
          <p:cNvSpPr/>
          <p:nvPr/>
        </p:nvSpPr>
        <p:spPr>
          <a:xfrm>
            <a:off x="5440680" y="1810512"/>
            <a:ext cx="2194560" cy="384048"/>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Standardize</a:t>
            </a:r>
            <a:endParaRPr lang="en-US" sz="2400" dirty="0"/>
          </a:p>
        </p:txBody>
      </p:sp>
      <p:sp>
        <p:nvSpPr>
          <p:cNvPr id="15" name="Text 13"/>
          <p:cNvSpPr/>
          <p:nvPr/>
        </p:nvSpPr>
        <p:spPr>
          <a:xfrm>
            <a:off x="5440680" y="2194560"/>
            <a:ext cx="2194560" cy="27432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4–8 weeks</a:t>
            </a:r>
            <a:endParaRPr lang="en-US" sz="1400" dirty="0"/>
          </a:p>
        </p:txBody>
      </p:sp>
      <p:sp>
        <p:nvSpPr>
          <p:cNvPr id="16" name="Text 14"/>
          <p:cNvSpPr/>
          <p:nvPr/>
        </p:nvSpPr>
        <p:spPr>
          <a:xfrm>
            <a:off x="4617720" y="2743200"/>
            <a:ext cx="2971800" cy="21031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Keep team agents and instructions in the repository</a:t>
            </a:r>
            <a:endParaRPr lang="en-US" sz="1600" dirty="0"/>
          </a:p>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Enforce permissions and approval gates with hooks</a:t>
            </a:r>
            <a:endParaRPr lang="en-US" sz="1600" dirty="0"/>
          </a:p>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Set organization policies (approve and block rules)</a:t>
            </a:r>
            <a:endParaRPr lang="en-US" sz="1600" dirty="0"/>
          </a:p>
        </p:txBody>
      </p:sp>
      <p:sp>
        <p:nvSpPr>
          <p:cNvPr id="17" name="Shape 15"/>
          <p:cNvSpPr/>
          <p:nvPr/>
        </p:nvSpPr>
        <p:spPr>
          <a:xfrm>
            <a:off x="7836408" y="3246120"/>
            <a:ext cx="283464" cy="0"/>
          </a:xfrm>
          <a:prstGeom prst="line">
            <a:avLst/>
          </a:prstGeom>
          <a:noFill/>
          <a:ln w="31750">
            <a:solidFill>
              <a:srgbClr val="8C959F"/>
            </a:solidFill>
            <a:prstDash val="solid"/>
            <a:tailEnd type="triangle"/>
          </a:ln>
        </p:spPr>
      </p:sp>
      <p:sp>
        <p:nvSpPr>
          <p:cNvPr id="18" name="Shape 16"/>
          <p:cNvSpPr/>
          <p:nvPr/>
        </p:nvSpPr>
        <p:spPr>
          <a:xfrm>
            <a:off x="8138160" y="1600200"/>
            <a:ext cx="3474720" cy="3337560"/>
          </a:xfrm>
          <a:prstGeom prst="roundRect">
            <a:avLst>
              <a:gd name="adj" fmla="val 3836"/>
            </a:avLst>
          </a:prstGeom>
          <a:solidFill>
            <a:srgbClr val="FFFFFF"/>
          </a:solidFill>
          <a:ln w="25400">
            <a:solidFill>
              <a:srgbClr val="1A7F37"/>
            </a:solidFill>
            <a:prstDash val="solid"/>
          </a:ln>
          <a:effectLst>
            <a:outerShdw sx="100000" sy="100000" kx="0" ky="0" algn="bl" rotWithShape="0" blurRad="101600" dist="25400" dir="5400000">
              <a:srgbClr val="000000">
                <a:alpha val="12000"/>
              </a:srgbClr>
            </a:outerShdw>
          </a:effectLst>
        </p:spPr>
      </p:sp>
      <p:sp>
        <p:nvSpPr>
          <p:cNvPr id="19" name="Shape 17"/>
          <p:cNvSpPr/>
          <p:nvPr/>
        </p:nvSpPr>
        <p:spPr>
          <a:xfrm>
            <a:off x="8412480" y="1828800"/>
            <a:ext cx="640080" cy="640080"/>
          </a:xfrm>
          <a:prstGeom prst="ellipse">
            <a:avLst/>
          </a:prstGeom>
          <a:solidFill>
            <a:srgbClr val="1A7F37"/>
          </a:solidFill>
          <a:ln/>
        </p:spPr>
      </p:sp>
      <p:sp>
        <p:nvSpPr>
          <p:cNvPr id="20" name="Text 18"/>
          <p:cNvSpPr/>
          <p:nvPr/>
        </p:nvSpPr>
        <p:spPr>
          <a:xfrm>
            <a:off x="8412480" y="18288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21" name="Text 19"/>
          <p:cNvSpPr/>
          <p:nvPr/>
        </p:nvSpPr>
        <p:spPr>
          <a:xfrm>
            <a:off x="9235440" y="1810512"/>
            <a:ext cx="2194560" cy="384048"/>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Scale</a:t>
            </a:r>
            <a:endParaRPr lang="en-US" sz="2400" dirty="0"/>
          </a:p>
        </p:txBody>
      </p:sp>
      <p:sp>
        <p:nvSpPr>
          <p:cNvPr id="22" name="Text 20"/>
          <p:cNvSpPr/>
          <p:nvPr/>
        </p:nvSpPr>
        <p:spPr>
          <a:xfrm>
            <a:off x="9235440" y="2194560"/>
            <a:ext cx="2194560" cy="274320"/>
          </a:xfrm>
          <a:prstGeom prst="rect">
            <a:avLst/>
          </a:prstGeom>
          <a:noFill/>
          <a:ln/>
        </p:spPr>
        <p:txBody>
          <a:bodyPr wrap="square" lIns="0" tIns="0" rIns="0" bIns="0" rtlCol="0" anchor="t"/>
          <a:lstStyle/>
          <a:p>
            <a:pPr indent="0" marL="0">
              <a:buNone/>
            </a:pPr>
            <a:r>
              <a:rPr lang="en-US" sz="1400" dirty="0">
                <a:solidFill>
                  <a:srgbClr val="59636E"/>
                </a:solidFill>
                <a:latin typeface="Arial" pitchFamily="34" charset="0"/>
                <a:ea typeface="Arial" pitchFamily="34" charset="-122"/>
                <a:cs typeface="Arial" pitchFamily="34" charset="-120"/>
              </a:rPr>
              <a:t>Per quarter</a:t>
            </a:r>
            <a:endParaRPr lang="en-US" sz="1400" dirty="0"/>
          </a:p>
        </p:txBody>
      </p:sp>
      <p:sp>
        <p:nvSpPr>
          <p:cNvPr id="23" name="Text 21"/>
          <p:cNvSpPr/>
          <p:nvPr/>
        </p:nvSpPr>
        <p:spPr>
          <a:xfrm>
            <a:off x="8412480" y="2743200"/>
            <a:ext cx="2971800" cy="21031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Roll out agents org-wide from a shared repository</a:t>
            </a:r>
            <a:endParaRPr lang="en-US" sz="1600" dirty="0"/>
          </a:p>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Tie in GitHub Environments and Actions approvals</a:t>
            </a:r>
            <a:endParaRPr lang="en-US" sz="1600" dirty="0"/>
          </a:p>
          <a:p>
            <a:pPr marL="203200" indent="-203200">
              <a:spcAft>
                <a:spcPts val="900"/>
              </a:spcAft>
              <a:buSzPct val="100000"/>
              <a:buChar char="•"/>
            </a:pPr>
            <a:r>
              <a:rPr lang="en-US" sz="1600" dirty="0">
                <a:solidFill>
                  <a:srgbClr val="1F2328"/>
                </a:solidFill>
                <a:latin typeface="Arial" pitchFamily="34" charset="0"/>
                <a:ea typeface="Arial" pitchFamily="34" charset="-122"/>
                <a:cs typeface="Arial" pitchFamily="34" charset="-120"/>
              </a:rPr>
              <a:t>Extend to cloud agents and parallel work</a:t>
            </a:r>
            <a:endParaRPr lang="en-US" sz="1600" dirty="0"/>
          </a:p>
        </p:txBody>
      </p:sp>
      <p:sp>
        <p:nvSpPr>
          <p:cNvPr id="24" name="Shape 22"/>
          <p:cNvSpPr/>
          <p:nvPr/>
        </p:nvSpPr>
        <p:spPr>
          <a:xfrm>
            <a:off x="548640" y="5166360"/>
            <a:ext cx="11064240" cy="914400"/>
          </a:xfrm>
          <a:prstGeom prst="roundRect">
            <a:avLst>
              <a:gd name="adj" fmla="val 14000"/>
            </a:avLst>
          </a:prstGeom>
          <a:solidFill>
            <a:srgbClr val="F6F8FA"/>
          </a:solidFill>
          <a:ln/>
        </p:spPr>
      </p:sp>
      <p:sp>
        <p:nvSpPr>
          <p:cNvPr id="25" name="Text 23"/>
          <p:cNvSpPr/>
          <p:nvPr/>
        </p:nvSpPr>
        <p:spPr>
          <a:xfrm>
            <a:off x="777240" y="5230368"/>
            <a:ext cx="1828800" cy="274320"/>
          </a:xfrm>
          <a:prstGeom prst="rect">
            <a:avLst/>
          </a:prstGeom>
          <a:noFill/>
          <a:ln/>
        </p:spPr>
        <p:txBody>
          <a:bodyPr wrap="square" lIns="0" tIns="0" rIns="0" bIns="0" rtlCol="0" anchor="t"/>
          <a:lstStyle/>
          <a:p>
            <a:pPr indent="0" marL="0">
              <a:buNone/>
            </a:pPr>
            <a:r>
              <a:rPr lang="en-US" sz="1300" b="1" dirty="0">
                <a:solidFill>
                  <a:srgbClr val="7B3FE4"/>
                </a:solidFill>
                <a:latin typeface="Arial" pitchFamily="34" charset="0"/>
                <a:ea typeface="Arial" pitchFamily="34" charset="-122"/>
                <a:cs typeface="Arial" pitchFamily="34" charset="-120"/>
              </a:rPr>
              <a:t>Metrics to track</a:t>
            </a:r>
            <a:endParaRPr lang="en-US" sz="1300" dirty="0"/>
          </a:p>
        </p:txBody>
      </p:sp>
      <p:sp>
        <p:nvSpPr>
          <p:cNvPr id="26" name="Text 24"/>
          <p:cNvSpPr/>
          <p:nvPr/>
        </p:nvSpPr>
        <p:spPr>
          <a:xfrm>
            <a:off x="777240" y="5532120"/>
            <a:ext cx="10607040" cy="411480"/>
          </a:xfrm>
          <a:prstGeom prst="rect">
            <a:avLst/>
          </a:prstGeom>
          <a:noFill/>
          <a:ln/>
        </p:spPr>
        <p:txBody>
          <a:bodyPr wrap="square" lIns="0" tIns="0" rIns="0" bIns="0" rtlCol="0" anchor="t"/>
          <a:lstStyle/>
          <a:p>
            <a:pPr indent="0" marL="0">
              <a:buNone/>
            </a:pPr>
            <a:r>
              <a:rPr lang="en-US" sz="1600" b="1" dirty="0">
                <a:solidFill>
                  <a:srgbClr val="1F2328"/>
                </a:solidFill>
                <a:latin typeface="Arial" pitchFamily="34" charset="0"/>
                <a:ea typeface="Arial" pitchFamily="34" charset="-122"/>
                <a:cs typeface="Arial" pitchFamily="34" charset="-120"/>
              </a:rPr>
              <a:t>Request-to-deploy lead time   ·   Rework rate   ·   Defect leakage   ·   Approval wait time   ·   AI credit usage</a:t>
            </a:r>
            <a:endParaRPr lang="en-US" sz="1600" dirty="0"/>
          </a:p>
        </p:txBody>
      </p:sp>
      <p:sp>
        <p:nvSpPr>
          <p:cNvPr id="27" name="Text 25"/>
          <p:cNvSpPr/>
          <p:nvPr/>
        </p:nvSpPr>
        <p:spPr>
          <a:xfrm>
            <a:off x="548640" y="6172200"/>
            <a:ext cx="11064240" cy="256032"/>
          </a:xfrm>
          <a:prstGeom prst="rect">
            <a:avLst/>
          </a:prstGeom>
          <a:noFill/>
          <a:ln/>
        </p:spPr>
        <p:txBody>
          <a:bodyPr wrap="square" lIns="0" tIns="0" rIns="0" bIns="0" rtlCol="0" anchor="t"/>
          <a:lstStyle/>
          <a:p>
            <a:pPr indent="0" marL="0">
              <a:buNone/>
            </a:pPr>
            <a:r>
              <a:rPr lang="en-US" sz="1200" dirty="0">
                <a:solidFill>
                  <a:srgbClr val="59636E"/>
                </a:solidFill>
                <a:latin typeface="Arial" pitchFamily="34" charset="0"/>
                <a:ea typeface="Arial" pitchFamily="34" charset="-122"/>
                <a:cs typeface="Arial" pitchFamily="34" charset="-120"/>
              </a:rPr>
              <a:t>Timeframes are suggestions for getting started; adjust them to your organization's size and policies.</a:t>
            </a:r>
            <a:endParaRPr lang="en-US" sz="1200" dirty="0"/>
          </a:p>
        </p:txBody>
      </p:sp>
      <p:sp>
        <p:nvSpPr>
          <p:cNvPr id="28" name="Text 26"/>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rial" pitchFamily="34" charset="0"/>
                <a:ea typeface="Arial" pitchFamily="34" charset="-122"/>
                <a:cs typeface="Arial" pitchFamily="34" charset="-120"/>
              </a:rPr>
              <a:t>GitHub Copilot CLI × Custom Agent</a:t>
            </a:r>
            <a:endParaRPr lang="en-US" sz="1000" dirty="0"/>
          </a:p>
        </p:txBody>
      </p:sp>
      <p:sp>
        <p:nvSpPr>
          <p:cNvPr id="29" name="Text 27"/>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rial" pitchFamily="34" charset="0"/>
                <a:ea typeface="Arial" pitchFamily="34" charset="-122"/>
                <a:cs typeface="Arial"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731520"/>
            <a:ext cx="10058400" cy="73152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You can start right now</a:t>
            </a:r>
            <a:endParaRPr lang="en-US" sz="3800" dirty="0"/>
          </a:p>
        </p:txBody>
      </p:sp>
      <p:sp>
        <p:nvSpPr>
          <p:cNvPr id="3" name="Shape 1"/>
          <p:cNvSpPr/>
          <p:nvPr/>
        </p:nvSpPr>
        <p:spPr>
          <a:xfrm>
            <a:off x="731520" y="1828800"/>
            <a:ext cx="3474720" cy="2514600"/>
          </a:xfrm>
          <a:prstGeom prst="roundRect">
            <a:avLst>
              <a:gd name="adj" fmla="val 5818"/>
            </a:avLst>
          </a:prstGeom>
          <a:solidFill>
            <a:srgbClr val="161B22"/>
          </a:solidFill>
          <a:ln w="12700">
            <a:solidFill>
              <a:srgbClr val="30363D"/>
            </a:solidFill>
            <a:prstDash val="solid"/>
          </a:ln>
        </p:spPr>
      </p:sp>
      <p:sp>
        <p:nvSpPr>
          <p:cNvPr id="4" name="Shape 2"/>
          <p:cNvSpPr/>
          <p:nvPr/>
        </p:nvSpPr>
        <p:spPr>
          <a:xfrm>
            <a:off x="1005840" y="2057400"/>
            <a:ext cx="502920" cy="502920"/>
          </a:xfrm>
          <a:prstGeom prst="ellipse">
            <a:avLst/>
          </a:prstGeom>
          <a:solidFill>
            <a:srgbClr val="A371F7"/>
          </a:solidFill>
          <a:ln/>
        </p:spPr>
      </p:sp>
      <p:sp>
        <p:nvSpPr>
          <p:cNvPr id="5" name="Text 3"/>
          <p:cNvSpPr/>
          <p:nvPr/>
        </p:nvSpPr>
        <p:spPr>
          <a:xfrm>
            <a:off x="1005840" y="2057400"/>
            <a:ext cx="502920" cy="502920"/>
          </a:xfrm>
          <a:prstGeom prst="rect">
            <a:avLst/>
          </a:prstGeom>
          <a:noFill/>
          <a:ln/>
        </p:spPr>
        <p:txBody>
          <a:bodyPr wrap="square" lIns="0" tIns="0" rIns="0" bIns="0" rtlCol="0" anchor="ctr"/>
          <a:lstStyle/>
          <a:p>
            <a:pPr algn="ctr" indent="0" marL="0">
              <a:buNone/>
            </a:pPr>
            <a:r>
              <a:rPr lang="en-US" sz="2000" b="1" dirty="0">
                <a:solidFill>
                  <a:srgbClr val="0D1117"/>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691640" y="2075688"/>
            <a:ext cx="23774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Install</a:t>
            </a:r>
            <a:endParaRPr lang="en-US" sz="2200" dirty="0"/>
          </a:p>
        </p:txBody>
      </p:sp>
      <p:sp>
        <p:nvSpPr>
          <p:cNvPr id="7" name="Text 5"/>
          <p:cNvSpPr/>
          <p:nvPr/>
        </p:nvSpPr>
        <p:spPr>
          <a:xfrm>
            <a:off x="1005840" y="2788920"/>
            <a:ext cx="3063240" cy="1417320"/>
          </a:xfrm>
          <a:prstGeom prst="rect">
            <a:avLst/>
          </a:prstGeom>
          <a:noFill/>
          <a:ln/>
        </p:spPr>
        <p:txBody>
          <a:bodyPr wrap="square" lIns="0" tIns="0" rIns="0" bIns="0" rtlCol="0" anchor="t"/>
          <a:lstStyle/>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npm install -g @github/copilot</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brew install --cask copilot-cli</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winget install GitHub.Copilot</a:t>
            </a:r>
            <a:endParaRPr lang="en-US" sz="1200" dirty="0"/>
          </a:p>
        </p:txBody>
      </p:sp>
      <p:sp>
        <p:nvSpPr>
          <p:cNvPr id="8" name="Shape 6"/>
          <p:cNvSpPr/>
          <p:nvPr/>
        </p:nvSpPr>
        <p:spPr>
          <a:xfrm>
            <a:off x="4389120" y="1828800"/>
            <a:ext cx="3474720" cy="2514600"/>
          </a:xfrm>
          <a:prstGeom prst="roundRect">
            <a:avLst>
              <a:gd name="adj" fmla="val 5818"/>
            </a:avLst>
          </a:prstGeom>
          <a:solidFill>
            <a:srgbClr val="161B22"/>
          </a:solidFill>
          <a:ln w="12700">
            <a:solidFill>
              <a:srgbClr val="30363D"/>
            </a:solidFill>
            <a:prstDash val="solid"/>
          </a:ln>
        </p:spPr>
      </p:sp>
      <p:sp>
        <p:nvSpPr>
          <p:cNvPr id="9" name="Shape 7"/>
          <p:cNvSpPr/>
          <p:nvPr/>
        </p:nvSpPr>
        <p:spPr>
          <a:xfrm>
            <a:off x="4663440" y="2057400"/>
            <a:ext cx="502920" cy="502920"/>
          </a:xfrm>
          <a:prstGeom prst="ellipse">
            <a:avLst/>
          </a:prstGeom>
          <a:solidFill>
            <a:srgbClr val="A371F7"/>
          </a:solidFill>
          <a:ln/>
        </p:spPr>
      </p:sp>
      <p:sp>
        <p:nvSpPr>
          <p:cNvPr id="10" name="Text 8"/>
          <p:cNvSpPr/>
          <p:nvPr/>
        </p:nvSpPr>
        <p:spPr>
          <a:xfrm>
            <a:off x="4663440" y="2057400"/>
            <a:ext cx="502920" cy="502920"/>
          </a:xfrm>
          <a:prstGeom prst="rect">
            <a:avLst/>
          </a:prstGeom>
          <a:noFill/>
          <a:ln/>
        </p:spPr>
        <p:txBody>
          <a:bodyPr wrap="square" lIns="0" tIns="0" rIns="0" bIns="0" rtlCol="0" anchor="ctr"/>
          <a:lstStyle/>
          <a:p>
            <a:pPr algn="ctr" indent="0" marL="0">
              <a:buNone/>
            </a:pPr>
            <a:r>
              <a:rPr lang="en-US" sz="2000" b="1" dirty="0">
                <a:solidFill>
                  <a:srgbClr val="0D1117"/>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5349240" y="2075688"/>
            <a:ext cx="23774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Run</a:t>
            </a:r>
            <a:endParaRPr lang="en-US" sz="2200" dirty="0"/>
          </a:p>
        </p:txBody>
      </p:sp>
      <p:sp>
        <p:nvSpPr>
          <p:cNvPr id="12" name="Text 10"/>
          <p:cNvSpPr/>
          <p:nvPr/>
        </p:nvSpPr>
        <p:spPr>
          <a:xfrm>
            <a:off x="4663440" y="2788920"/>
            <a:ext cx="3063240" cy="1417320"/>
          </a:xfrm>
          <a:prstGeom prst="rect">
            <a:avLst/>
          </a:prstGeom>
          <a:noFill/>
          <a:ln/>
        </p:spPr>
        <p:txBody>
          <a:bodyPr wrap="square" lIns="0" tIns="0" rIns="0" bIns="0" rtlCol="0" anchor="t"/>
          <a:lstStyle/>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copilot          # interactive</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/agent           # pick an agent</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copilot -p "..." # run once</a:t>
            </a:r>
            <a:endParaRPr lang="en-US" sz="1200" dirty="0"/>
          </a:p>
        </p:txBody>
      </p:sp>
      <p:sp>
        <p:nvSpPr>
          <p:cNvPr id="13" name="Shape 11"/>
          <p:cNvSpPr/>
          <p:nvPr/>
        </p:nvSpPr>
        <p:spPr>
          <a:xfrm>
            <a:off x="8046720" y="1828800"/>
            <a:ext cx="3474720" cy="2514600"/>
          </a:xfrm>
          <a:prstGeom prst="roundRect">
            <a:avLst>
              <a:gd name="adj" fmla="val 5818"/>
            </a:avLst>
          </a:prstGeom>
          <a:solidFill>
            <a:srgbClr val="161B22"/>
          </a:solidFill>
          <a:ln w="12700">
            <a:solidFill>
              <a:srgbClr val="30363D"/>
            </a:solidFill>
            <a:prstDash val="solid"/>
          </a:ln>
        </p:spPr>
      </p:sp>
      <p:sp>
        <p:nvSpPr>
          <p:cNvPr id="14" name="Shape 12"/>
          <p:cNvSpPr/>
          <p:nvPr/>
        </p:nvSpPr>
        <p:spPr>
          <a:xfrm>
            <a:off x="8321040" y="2057400"/>
            <a:ext cx="502920" cy="502920"/>
          </a:xfrm>
          <a:prstGeom prst="ellipse">
            <a:avLst/>
          </a:prstGeom>
          <a:solidFill>
            <a:srgbClr val="A371F7"/>
          </a:solidFill>
          <a:ln/>
        </p:spPr>
      </p:sp>
      <p:sp>
        <p:nvSpPr>
          <p:cNvPr id="15" name="Text 13"/>
          <p:cNvSpPr/>
          <p:nvPr/>
        </p:nvSpPr>
        <p:spPr>
          <a:xfrm>
            <a:off x="8321040" y="2057400"/>
            <a:ext cx="502920" cy="502920"/>
          </a:xfrm>
          <a:prstGeom prst="rect">
            <a:avLst/>
          </a:prstGeom>
          <a:noFill/>
          <a:ln/>
        </p:spPr>
        <p:txBody>
          <a:bodyPr wrap="square" lIns="0" tIns="0" rIns="0" bIns="0" rtlCol="0" anchor="ctr"/>
          <a:lstStyle/>
          <a:p>
            <a:pPr algn="ctr" indent="0" marL="0">
              <a:buNone/>
            </a:pPr>
            <a:r>
              <a:rPr lang="en-US" sz="2000" b="1" dirty="0">
                <a:solidFill>
                  <a:srgbClr val="0D1117"/>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9006840" y="2075688"/>
            <a:ext cx="23774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Follow along</a:t>
            </a:r>
            <a:endParaRPr lang="en-US" sz="2200" dirty="0"/>
          </a:p>
        </p:txBody>
      </p:sp>
      <p:sp>
        <p:nvSpPr>
          <p:cNvPr id="17" name="Text 15"/>
          <p:cNvSpPr/>
          <p:nvPr/>
        </p:nvSpPr>
        <p:spPr>
          <a:xfrm>
            <a:off x="8321040" y="2788920"/>
            <a:ext cx="3063240" cy="1417320"/>
          </a:xfrm>
          <a:prstGeom prst="rect">
            <a:avLst/>
          </a:prstGeom>
          <a:noFill/>
          <a:ln/>
        </p:spPr>
        <p:txBody>
          <a:bodyPr wrap="square" lIns="0" tIns="0" rIns="0" bIns="0" rtlCol="0" anchor="t"/>
          <a:lstStyle/>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Demo repo: shopflow-orders</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Use the demo script in its README</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to replay today's flow as is</a:t>
            </a:r>
            <a:endParaRPr lang="en-US" sz="1200" dirty="0"/>
          </a:p>
        </p:txBody>
      </p:sp>
      <p:sp>
        <p:nvSpPr>
          <p:cNvPr id="18" name="Shape 16"/>
          <p:cNvSpPr/>
          <p:nvPr/>
        </p:nvSpPr>
        <p:spPr>
          <a:xfrm>
            <a:off x="731520" y="4572000"/>
            <a:ext cx="10789920" cy="1051560"/>
          </a:xfrm>
          <a:prstGeom prst="roundRect">
            <a:avLst>
              <a:gd name="adj" fmla="val 13913"/>
            </a:avLst>
          </a:prstGeom>
          <a:solidFill>
            <a:srgbClr val="7B3FE4"/>
          </a:solidFill>
          <a:ln/>
        </p:spPr>
      </p:sp>
      <p:sp>
        <p:nvSpPr>
          <p:cNvPr id="19" name="Text 17"/>
          <p:cNvSpPr/>
          <p:nvPr/>
        </p:nvSpPr>
        <p:spPr>
          <a:xfrm>
            <a:off x="1005840" y="4681728"/>
            <a:ext cx="2743200" cy="274320"/>
          </a:xfrm>
          <a:prstGeom prst="rect">
            <a:avLst/>
          </a:prstGeom>
          <a:noFill/>
          <a:ln/>
        </p:spPr>
        <p:txBody>
          <a:bodyPr wrap="square" lIns="0" tIns="0" rIns="0" bIns="0" rtlCol="0" anchor="t"/>
          <a:lstStyle/>
          <a:p>
            <a:pPr indent="0" marL="0">
              <a:buNone/>
            </a:pPr>
            <a:r>
              <a:rPr lang="en-US" sz="1300" b="1" dirty="0">
                <a:solidFill>
                  <a:srgbClr val="EADCFF"/>
                </a:solidFill>
                <a:latin typeface="Arial" pitchFamily="34" charset="0"/>
                <a:ea typeface="Arial" pitchFamily="34" charset="-122"/>
                <a:cs typeface="Arial" pitchFamily="34" charset="-120"/>
              </a:rPr>
              <a:t>Suggested next step</a:t>
            </a:r>
            <a:endParaRPr lang="en-US" sz="1300" dirty="0"/>
          </a:p>
        </p:txBody>
      </p:sp>
      <p:sp>
        <p:nvSpPr>
          <p:cNvPr id="20" name="Text 18"/>
          <p:cNvSpPr/>
          <p:nvPr/>
        </p:nvSpPr>
        <p:spPr>
          <a:xfrm>
            <a:off x="1005840" y="5047488"/>
            <a:ext cx="10241280" cy="45720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Pilot one real change request  →  3 agents + approval gates  →  review results and metrics</a:t>
            </a:r>
            <a:endParaRPr lang="en-US" sz="1800" dirty="0"/>
          </a:p>
        </p:txBody>
      </p:sp>
      <p:sp>
        <p:nvSpPr>
          <p:cNvPr id="21" name="Text 19"/>
          <p:cNvSpPr/>
          <p:nvPr/>
        </p:nvSpPr>
        <p:spPr>
          <a:xfrm>
            <a:off x="731520" y="5852160"/>
            <a:ext cx="2743200" cy="548640"/>
          </a:xfrm>
          <a:prstGeom prst="rect">
            <a:avLst/>
          </a:prstGeom>
          <a:noFill/>
          <a:ln/>
        </p:spPr>
        <p:txBody>
          <a:bodyPr wrap="square" lIns="0" tIns="0" rIns="0" bIns="0" rtlCol="0" anchor="t"/>
          <a:lstStyle/>
          <a:p>
            <a:pPr indent="0" marL="0">
              <a:buNone/>
            </a:pPr>
            <a:r>
              <a:rPr lang="en-US" sz="3000" b="1" dirty="0">
                <a:solidFill>
                  <a:srgbClr val="A371F7"/>
                </a:solidFill>
                <a:latin typeface="Arial" pitchFamily="34" charset="0"/>
                <a:ea typeface="Arial" pitchFamily="34" charset="-122"/>
                <a:cs typeface="Arial" pitchFamily="34" charset="-120"/>
              </a:rPr>
              <a:t>Q &amp; A</a:t>
            </a:r>
            <a:endParaRPr lang="en-US" sz="3000" dirty="0"/>
          </a:p>
        </p:txBody>
      </p:sp>
      <p:sp>
        <p:nvSpPr>
          <p:cNvPr id="22" name="Text 20"/>
          <p:cNvSpPr/>
          <p:nvPr/>
        </p:nvSpPr>
        <p:spPr>
          <a:xfrm>
            <a:off x="2926080" y="5989320"/>
            <a:ext cx="8595360" cy="274320"/>
          </a:xfrm>
          <a:prstGeom prst="rect">
            <a:avLst/>
          </a:prstGeom>
          <a:noFill/>
          <a:ln/>
        </p:spPr>
        <p:txBody>
          <a:bodyPr wrap="square" lIns="0" tIns="0" rIns="0" bIns="0" rtlCol="0" anchor="t"/>
          <a:lstStyle/>
          <a:p>
            <a:pPr indent="0" marL="0">
              <a:buNone/>
            </a:pPr>
            <a:r>
              <a:rPr lang="en-US" sz="1200" dirty="0">
                <a:solidFill>
                  <a:srgbClr val="8B949E"/>
                </a:solidFill>
                <a:latin typeface="Arial" pitchFamily="34" charset="0"/>
                <a:ea typeface="Arial" pitchFamily="34" charset="-122"/>
                <a:cs typeface="Arial" pitchFamily="34" charset="-120"/>
              </a:rPr>
              <a:t>Docs: docs.github.com/copilot  ·  Copilot CLI: docs.github.com/copilot/concepts/copilot-surfaces/copilot-cli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CLI × Custom Agent Demo</dc:title>
  <dc:subject>GitHub Copilot CLI × Custom Agent Demo</dc:subject>
  <dc:creator>Microsoft Scout</dc:creator>
  <cp:lastModifiedBy>Microsoft Scout</cp:lastModifiedBy>
  <cp:revision>1</cp:revision>
  <dcterms:created xsi:type="dcterms:W3CDTF">2026-10-20T02:36:56Z</dcterms:created>
  <dcterms:modified xsi:type="dcterms:W3CDTF">2026-10-20T02:36:56Z</dcterms:modified>
</cp:coreProperties>
</file>